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rchivo Black" charset="1" panose="020B0A03020202020B04"/>
      <p:regular r:id="rId28"/>
    </p:embeddedFont>
    <p:embeddedFont>
      <p:font typeface="Montserrat" charset="1" panose="00000500000000000000"/>
      <p:regular r:id="rId29"/>
    </p:embeddedFont>
    <p:embeddedFont>
      <p:font typeface="Montserrat Bold" charset="1" panose="00000800000000000000"/>
      <p:regular r:id="rId30"/>
    </p:embeddedFont>
    <p:embeddedFont>
      <p:font typeface="Barlow Condensed Bold" charset="1" panose="00000806000000000000"/>
      <p:regular r:id="rId31"/>
    </p:embeddedFont>
    <p:embeddedFont>
      <p:font typeface="Arimo Bold" charset="1" panose="020B0704020202020204"/>
      <p:regular r:id="rId32"/>
    </p:embeddedFont>
    <p:embeddedFont>
      <p:font typeface="Arimo" charset="1" panose="020B0604020202020204"/>
      <p:regular r:id="rId33"/>
    </p:embeddedFont>
    <p:embeddedFont>
      <p:font typeface="IBM Plex Mono" charset="1" panose="020B0509050203000203"/>
      <p:regular r:id="rId34"/>
    </p:embeddedFont>
    <p:embeddedFont>
      <p:font typeface="IBM Plex Sans" charset="1" panose="020B0503050203000203"/>
      <p:regular r:id="rId35"/>
    </p:embeddedFont>
    <p:embeddedFont>
      <p:font typeface="Open Sans" charset="1" panose="00000000000000000000"/>
      <p:regular r:id="rId36"/>
    </p:embeddedFont>
    <p:embeddedFont>
      <p:font typeface="Open Sans Bold" charset="1" panose="00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HYNwwIrGg.mp4" Type="http://schemas.microsoft.com/office/2007/relationships/media"/><Relationship Id="rId2" Target="../media/image4.jpeg" Type="http://schemas.openxmlformats.org/officeDocument/2006/relationships/image"/><Relationship Id="rId3" Target="../media/VAHYN6kuG7Q.mp4" Type="http://schemas.openxmlformats.org/officeDocument/2006/relationships/video"/><Relationship Id="rId4" Target="../media/VAHYN6kuG7Q.mp4" Type="http://schemas.microsoft.com/office/2007/relationships/media"/><Relationship Id="rId5" Target="../media/image5.jpeg" Type="http://schemas.openxmlformats.org/officeDocument/2006/relationships/image"/><Relationship Id="rId6" Target="../media/VAHYNxHQjj4.mp4" Type="http://schemas.openxmlformats.org/officeDocument/2006/relationships/video"/><Relationship Id="rId7" Target="../media/VAHYNxHQjj4.mp4" Type="http://schemas.microsoft.com/office/2007/relationships/media"/><Relationship Id="rId8" Target="../media/image6.jpeg" Type="http://schemas.openxmlformats.org/officeDocument/2006/relationships/image"/><Relationship Id="rId9" Target="../media/VAHYNwwIrGg.mp4" Type="http://schemas.openxmlformats.org/officeDocument/2006/relationships/video"/></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100F">
                <a:alpha val="47843"/>
              </a:srgbClr>
            </a:solidFill>
            <a:ln cap="sq">
              <a:noFill/>
              <a:prstDash val="solid"/>
              <a:miter/>
            </a:ln>
          </p:spPr>
        </p:sp>
        <p:sp>
          <p:nvSpPr>
            <p:cNvPr name="TextBox 4" id="4"/>
            <p:cNvSpPr txBox="true"/>
            <p:nvPr/>
          </p:nvSpPr>
          <p:spPr>
            <a:xfrm>
              <a:off x="0" y="-38100"/>
              <a:ext cx="24384000" cy="137541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a:ln cap="sq">
            <a:noFill/>
            <a:prstDash val="solid"/>
            <a:miter/>
          </a:ln>
        </p:spPr>
      </p:sp>
      <p:grpSp>
        <p:nvGrpSpPr>
          <p:cNvPr name="Group 6" id="6"/>
          <p:cNvGrpSpPr/>
          <p:nvPr/>
        </p:nvGrpSpPr>
        <p:grpSpPr>
          <a:xfrm rot="0">
            <a:off x="666750" y="1619250"/>
            <a:ext cx="171450" cy="3143250"/>
            <a:chOff x="0" y="0"/>
            <a:chExt cx="228600" cy="4191000"/>
          </a:xfrm>
        </p:grpSpPr>
        <p:sp>
          <p:nvSpPr>
            <p:cNvPr name="Freeform 7" id="7"/>
            <p:cNvSpPr/>
            <p:nvPr/>
          </p:nvSpPr>
          <p:spPr>
            <a:xfrm flipH="false" flipV="false" rot="0">
              <a:off x="0" y="0"/>
              <a:ext cx="228600" cy="4191000"/>
            </a:xfrm>
            <a:custGeom>
              <a:avLst/>
              <a:gdLst/>
              <a:ahLst/>
              <a:cxnLst/>
              <a:rect r="r" b="b" t="t" l="l"/>
              <a:pathLst>
                <a:path h="4191000" w="228600">
                  <a:moveTo>
                    <a:pt x="0" y="0"/>
                  </a:moveTo>
                  <a:lnTo>
                    <a:pt x="228600" y="0"/>
                  </a:lnTo>
                  <a:lnTo>
                    <a:pt x="228600" y="4191000"/>
                  </a:lnTo>
                  <a:lnTo>
                    <a:pt x="0" y="4191000"/>
                  </a:lnTo>
                  <a:close/>
                </a:path>
              </a:pathLst>
            </a:custGeom>
            <a:solidFill>
              <a:srgbClr val="FF5A1F"/>
            </a:solidFill>
            <a:ln cap="sq">
              <a:noFill/>
              <a:prstDash val="solid"/>
              <a:miter/>
            </a:ln>
          </p:spPr>
        </p:sp>
        <p:sp>
          <p:nvSpPr>
            <p:cNvPr name="TextBox 8" id="8"/>
            <p:cNvSpPr txBox="true"/>
            <p:nvPr/>
          </p:nvSpPr>
          <p:spPr>
            <a:xfrm>
              <a:off x="0" y="-38100"/>
              <a:ext cx="228600" cy="4229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028700" y="2873154"/>
            <a:ext cx="9627324" cy="749742"/>
          </a:xfrm>
          <a:prstGeom prst="rect">
            <a:avLst/>
          </a:prstGeom>
        </p:spPr>
        <p:txBody>
          <a:bodyPr anchor="t" rtlCol="false" tIns="0" lIns="0" bIns="0" rIns="0">
            <a:spAutoFit/>
          </a:bodyPr>
          <a:lstStyle/>
          <a:p>
            <a:pPr algn="l">
              <a:lnSpc>
                <a:spcPts val="5586"/>
              </a:lnSpc>
            </a:pPr>
            <a:r>
              <a:rPr lang="en-US" sz="5700" spc="-171">
                <a:solidFill>
                  <a:srgbClr val="FFF3DF"/>
                </a:solidFill>
                <a:latin typeface="Archivo Black"/>
                <a:ea typeface="Archivo Black"/>
                <a:cs typeface="Archivo Black"/>
                <a:sym typeface="Archivo Black"/>
              </a:rPr>
              <a:t>FIREWATCH</a:t>
            </a:r>
          </a:p>
        </p:txBody>
      </p:sp>
      <p:sp>
        <p:nvSpPr>
          <p:cNvPr name="TextBox 10" id="10"/>
          <p:cNvSpPr txBox="true"/>
          <p:nvPr/>
        </p:nvSpPr>
        <p:spPr>
          <a:xfrm rot="0">
            <a:off x="1123950" y="5314950"/>
            <a:ext cx="8763000" cy="678180"/>
          </a:xfrm>
          <a:prstGeom prst="rect">
            <a:avLst/>
          </a:prstGeom>
        </p:spPr>
        <p:txBody>
          <a:bodyPr anchor="t" rtlCol="false" tIns="0" lIns="0" bIns="0" rIns="0">
            <a:spAutoFit/>
          </a:bodyPr>
          <a:lstStyle/>
          <a:p>
            <a:pPr algn="l">
              <a:lnSpc>
                <a:spcPts val="2730"/>
              </a:lnSpc>
            </a:pPr>
            <a:r>
              <a:rPr lang="en-US" sz="2100">
                <a:solidFill>
                  <a:srgbClr val="FFF3DF"/>
                </a:solidFill>
                <a:latin typeface="Montserrat"/>
                <a:ea typeface="Montserrat"/>
                <a:cs typeface="Montserrat"/>
                <a:sym typeface="Montserrat"/>
              </a:rPr>
              <a:t>Detección temprana de incendios en ciudades y zonas pobladas con cámaras IP</a:t>
            </a:r>
          </a:p>
        </p:txBody>
      </p:sp>
      <p:sp>
        <p:nvSpPr>
          <p:cNvPr name="TextBox 11" id="11"/>
          <p:cNvSpPr txBox="true"/>
          <p:nvPr/>
        </p:nvSpPr>
        <p:spPr>
          <a:xfrm rot="0">
            <a:off x="1123950" y="8248650"/>
            <a:ext cx="9525000" cy="281940"/>
          </a:xfrm>
          <a:prstGeom prst="rect">
            <a:avLst/>
          </a:prstGeom>
        </p:spPr>
        <p:txBody>
          <a:bodyPr anchor="t" rtlCol="false" tIns="0" lIns="0" bIns="0" rIns="0">
            <a:spAutoFit/>
          </a:bodyPr>
          <a:lstStyle/>
          <a:p>
            <a:pPr algn="l">
              <a:lnSpc>
                <a:spcPts val="2310"/>
              </a:lnSpc>
            </a:pPr>
            <a:r>
              <a:rPr lang="en-US" sz="1650" spc="132" b="true">
                <a:solidFill>
                  <a:srgbClr val="FFB000"/>
                </a:solidFill>
                <a:latin typeface="Montserrat Bold"/>
                <a:ea typeface="Montserrat Bold"/>
                <a:cs typeface="Montserrat Bold"/>
                <a:sym typeface="Montserrat Bold"/>
              </a:rPr>
              <a:t>NICOLÁS NAVARRO  ×  BENJAMÍN MORALES</a:t>
            </a:r>
          </a:p>
        </p:txBody>
      </p:sp>
      <p:sp>
        <p:nvSpPr>
          <p:cNvPr name="TextBox 12" id="12"/>
          <p:cNvSpPr txBox="true"/>
          <p:nvPr/>
        </p:nvSpPr>
        <p:spPr>
          <a:xfrm rot="0">
            <a:off x="1123950" y="8743950"/>
            <a:ext cx="7620000" cy="357188"/>
          </a:xfrm>
          <a:prstGeom prst="rect">
            <a:avLst/>
          </a:prstGeom>
        </p:spPr>
        <p:txBody>
          <a:bodyPr anchor="t" rtlCol="false" tIns="0" lIns="0" bIns="0" rIns="0">
            <a:spAutoFit/>
          </a:bodyPr>
          <a:lstStyle/>
          <a:p>
            <a:pPr algn="l">
              <a:lnSpc>
                <a:spcPts val="2812"/>
              </a:lnSpc>
            </a:pPr>
            <a:r>
              <a:rPr lang="en-US" sz="2250">
                <a:solidFill>
                  <a:srgbClr val="CBBBAD"/>
                </a:solidFill>
                <a:latin typeface="Montserrat"/>
                <a:ea typeface="Montserrat"/>
                <a:cs typeface="Montserrat"/>
                <a:sym typeface="Montserrat"/>
              </a:rPr>
              <a:t>CAPSTONE DUOC UC · 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grpSp>
        <p:nvGrpSpPr>
          <p:cNvPr name="Group 2" id="2"/>
          <p:cNvGrpSpPr/>
          <p:nvPr/>
        </p:nvGrpSpPr>
        <p:grpSpPr>
          <a:xfrm rot="0">
            <a:off x="552450" y="666750"/>
            <a:ext cx="133350" cy="1123950"/>
            <a:chOff x="0" y="0"/>
            <a:chExt cx="177800" cy="1498600"/>
          </a:xfrm>
        </p:grpSpPr>
        <p:sp>
          <p:nvSpPr>
            <p:cNvPr name="Freeform 3" id="3"/>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p:spPr>
        </p:sp>
        <p:sp>
          <p:nvSpPr>
            <p:cNvPr name="TextBox 4" id="4"/>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906846"/>
            <a:ext cx="14287500" cy="645729"/>
          </a:xfrm>
          <a:prstGeom prst="rect">
            <a:avLst/>
          </a:prstGeom>
        </p:spPr>
        <p:txBody>
          <a:bodyPr anchor="t" rtlCol="false" tIns="0" lIns="0" bIns="0" rIns="0">
            <a:spAutoFit/>
          </a:bodyPr>
          <a:lstStyle/>
          <a:p>
            <a:pPr algn="l">
              <a:lnSpc>
                <a:spcPts val="4800"/>
              </a:lnSpc>
            </a:pPr>
            <a:r>
              <a:rPr lang="en-US" sz="4800" b="true">
                <a:solidFill>
                  <a:srgbClr val="FFF4DF"/>
                </a:solidFill>
                <a:latin typeface="Barlow Condensed Bold"/>
                <a:ea typeface="Barlow Condensed Bold"/>
                <a:cs typeface="Barlow Condensed Bold"/>
                <a:sym typeface="Barlow Condensed Bold"/>
              </a:rPr>
              <a:t>ÍNDICE</a:t>
            </a:r>
          </a:p>
        </p:txBody>
      </p:sp>
      <p:grpSp>
        <p:nvGrpSpPr>
          <p:cNvPr name="Group 6" id="6"/>
          <p:cNvGrpSpPr/>
          <p:nvPr/>
        </p:nvGrpSpPr>
        <p:grpSpPr>
          <a:xfrm rot="0">
            <a:off x="952500" y="2476500"/>
            <a:ext cx="8048625" cy="1428750"/>
            <a:chOff x="0" y="0"/>
            <a:chExt cx="10731500" cy="1905000"/>
          </a:xfrm>
        </p:grpSpPr>
        <p:sp>
          <p:nvSpPr>
            <p:cNvPr name="Freeform 7" id="7"/>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8" id="8"/>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9286875" y="2476500"/>
            <a:ext cx="8048625" cy="1428750"/>
            <a:chOff x="0" y="0"/>
            <a:chExt cx="10731500" cy="1905000"/>
          </a:xfrm>
        </p:grpSpPr>
        <p:sp>
          <p:nvSpPr>
            <p:cNvPr name="Freeform 10" id="10"/>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11" id="11"/>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952500" y="4114800"/>
            <a:ext cx="8048625" cy="1428750"/>
            <a:chOff x="0" y="0"/>
            <a:chExt cx="10731500" cy="1905000"/>
          </a:xfrm>
        </p:grpSpPr>
        <p:sp>
          <p:nvSpPr>
            <p:cNvPr name="Freeform 13" id="13"/>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14" id="14"/>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9286875" y="4114800"/>
            <a:ext cx="8048625" cy="1428750"/>
            <a:chOff x="0" y="0"/>
            <a:chExt cx="10731500" cy="1905000"/>
          </a:xfrm>
        </p:grpSpPr>
        <p:sp>
          <p:nvSpPr>
            <p:cNvPr name="Freeform 16" id="16"/>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17" id="17"/>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952500" y="5753100"/>
            <a:ext cx="8048625" cy="1428750"/>
            <a:chOff x="0" y="0"/>
            <a:chExt cx="10731500" cy="1905000"/>
          </a:xfrm>
        </p:grpSpPr>
        <p:sp>
          <p:nvSpPr>
            <p:cNvPr name="Freeform 19" id="19"/>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20" id="20"/>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9286875" y="5753100"/>
            <a:ext cx="8048625" cy="1428750"/>
            <a:chOff x="0" y="0"/>
            <a:chExt cx="10731500" cy="1905000"/>
          </a:xfrm>
        </p:grpSpPr>
        <p:sp>
          <p:nvSpPr>
            <p:cNvPr name="Freeform 22" id="22"/>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23" id="23"/>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952500" y="7391400"/>
            <a:ext cx="8048625" cy="1428750"/>
            <a:chOff x="0" y="0"/>
            <a:chExt cx="10731500" cy="1905000"/>
          </a:xfrm>
        </p:grpSpPr>
        <p:sp>
          <p:nvSpPr>
            <p:cNvPr name="Freeform 25" id="25"/>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26" id="26"/>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9286875" y="7391400"/>
            <a:ext cx="8048625" cy="1428750"/>
            <a:chOff x="0" y="0"/>
            <a:chExt cx="10731500" cy="1905000"/>
          </a:xfrm>
        </p:grpSpPr>
        <p:sp>
          <p:nvSpPr>
            <p:cNvPr name="Freeform 28" id="28"/>
            <p:cNvSpPr/>
            <p:nvPr/>
          </p:nvSpPr>
          <p:spPr>
            <a:xfrm flipH="false" flipV="false" rot="0">
              <a:off x="0" y="0"/>
              <a:ext cx="10731500" cy="1905000"/>
            </a:xfrm>
            <a:custGeom>
              <a:avLst/>
              <a:gdLst/>
              <a:ahLst/>
              <a:cxnLst/>
              <a:rect r="r" b="b" t="t" l="l"/>
              <a:pathLst>
                <a:path h="1905000" w="10731500">
                  <a:moveTo>
                    <a:pt x="0" y="0"/>
                  </a:moveTo>
                  <a:lnTo>
                    <a:pt x="10731500" y="0"/>
                  </a:lnTo>
                  <a:lnTo>
                    <a:pt x="10731500" y="1905000"/>
                  </a:lnTo>
                  <a:lnTo>
                    <a:pt x="0" y="1905000"/>
                  </a:lnTo>
                  <a:close/>
                </a:path>
              </a:pathLst>
            </a:custGeom>
            <a:solidFill>
              <a:srgbClr val="1E1815"/>
            </a:solidFill>
          </p:spPr>
        </p:sp>
        <p:sp>
          <p:nvSpPr>
            <p:cNvPr name="TextBox 29" id="29"/>
            <p:cNvSpPr txBox="true"/>
            <p:nvPr/>
          </p:nvSpPr>
          <p:spPr>
            <a:xfrm>
              <a:off x="0" y="-38100"/>
              <a:ext cx="10731500" cy="19431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952500" y="2476500"/>
            <a:ext cx="95250" cy="1428750"/>
            <a:chOff x="0" y="0"/>
            <a:chExt cx="127000" cy="1905000"/>
          </a:xfrm>
        </p:grpSpPr>
        <p:sp>
          <p:nvSpPr>
            <p:cNvPr name="Freeform 31" id="31"/>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32" id="32"/>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9286875" y="2476500"/>
            <a:ext cx="95250" cy="1428750"/>
            <a:chOff x="0" y="0"/>
            <a:chExt cx="127000" cy="1905000"/>
          </a:xfrm>
        </p:grpSpPr>
        <p:sp>
          <p:nvSpPr>
            <p:cNvPr name="Freeform 34" id="34"/>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35" id="35"/>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952500" y="4114800"/>
            <a:ext cx="95250" cy="1428750"/>
            <a:chOff x="0" y="0"/>
            <a:chExt cx="127000" cy="1905000"/>
          </a:xfrm>
        </p:grpSpPr>
        <p:sp>
          <p:nvSpPr>
            <p:cNvPr name="Freeform 37" id="37"/>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38" id="38"/>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9286875" y="4114800"/>
            <a:ext cx="95250" cy="1428750"/>
            <a:chOff x="0" y="0"/>
            <a:chExt cx="127000" cy="1905000"/>
          </a:xfrm>
        </p:grpSpPr>
        <p:sp>
          <p:nvSpPr>
            <p:cNvPr name="Freeform 40" id="40"/>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41" id="41"/>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952500" y="5753100"/>
            <a:ext cx="95250" cy="1428750"/>
            <a:chOff x="0" y="0"/>
            <a:chExt cx="127000" cy="1905000"/>
          </a:xfrm>
        </p:grpSpPr>
        <p:sp>
          <p:nvSpPr>
            <p:cNvPr name="Freeform 43" id="43"/>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44" id="44"/>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grpSp>
        <p:nvGrpSpPr>
          <p:cNvPr name="Group 45" id="45"/>
          <p:cNvGrpSpPr/>
          <p:nvPr/>
        </p:nvGrpSpPr>
        <p:grpSpPr>
          <a:xfrm rot="0">
            <a:off x="9286875" y="5753100"/>
            <a:ext cx="95250" cy="1428750"/>
            <a:chOff x="0" y="0"/>
            <a:chExt cx="127000" cy="1905000"/>
          </a:xfrm>
        </p:grpSpPr>
        <p:sp>
          <p:nvSpPr>
            <p:cNvPr name="Freeform 46" id="46"/>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47" id="47"/>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grpSp>
        <p:nvGrpSpPr>
          <p:cNvPr name="Group 48" id="48"/>
          <p:cNvGrpSpPr/>
          <p:nvPr/>
        </p:nvGrpSpPr>
        <p:grpSpPr>
          <a:xfrm rot="0">
            <a:off x="952500" y="7391400"/>
            <a:ext cx="95250" cy="1428750"/>
            <a:chOff x="0" y="0"/>
            <a:chExt cx="127000" cy="1905000"/>
          </a:xfrm>
        </p:grpSpPr>
        <p:sp>
          <p:nvSpPr>
            <p:cNvPr name="Freeform 49" id="49"/>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50" id="50"/>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9286875" y="7391400"/>
            <a:ext cx="95250" cy="1428750"/>
            <a:chOff x="0" y="0"/>
            <a:chExt cx="127000" cy="1905000"/>
          </a:xfrm>
        </p:grpSpPr>
        <p:sp>
          <p:nvSpPr>
            <p:cNvPr name="Freeform 52" id="52"/>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FF5A1F"/>
            </a:solidFill>
          </p:spPr>
        </p:sp>
        <p:sp>
          <p:nvSpPr>
            <p:cNvPr name="TextBox 53" id="53"/>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1333500" y="28765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01</a:t>
            </a:r>
          </a:p>
        </p:txBody>
      </p:sp>
      <p:sp>
        <p:nvSpPr>
          <p:cNvPr name="TextBox 55" id="55"/>
          <p:cNvSpPr txBox="true"/>
          <p:nvPr/>
        </p:nvSpPr>
        <p:spPr>
          <a:xfrm rot="0">
            <a:off x="9667875" y="28765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02</a:t>
            </a:r>
          </a:p>
        </p:txBody>
      </p:sp>
      <p:sp>
        <p:nvSpPr>
          <p:cNvPr name="TextBox 56" id="56"/>
          <p:cNvSpPr txBox="true"/>
          <p:nvPr/>
        </p:nvSpPr>
        <p:spPr>
          <a:xfrm rot="0">
            <a:off x="1333500" y="45148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03</a:t>
            </a:r>
          </a:p>
        </p:txBody>
      </p:sp>
      <p:sp>
        <p:nvSpPr>
          <p:cNvPr name="TextBox 57" id="57"/>
          <p:cNvSpPr txBox="true"/>
          <p:nvPr/>
        </p:nvSpPr>
        <p:spPr>
          <a:xfrm rot="0">
            <a:off x="9667875" y="45148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04</a:t>
            </a:r>
          </a:p>
        </p:txBody>
      </p:sp>
      <p:sp>
        <p:nvSpPr>
          <p:cNvPr name="TextBox 58" id="58"/>
          <p:cNvSpPr txBox="true"/>
          <p:nvPr/>
        </p:nvSpPr>
        <p:spPr>
          <a:xfrm rot="0">
            <a:off x="1333500" y="61531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05</a:t>
            </a:r>
          </a:p>
        </p:txBody>
      </p:sp>
      <p:sp>
        <p:nvSpPr>
          <p:cNvPr name="TextBox 59" id="59"/>
          <p:cNvSpPr txBox="true"/>
          <p:nvPr/>
        </p:nvSpPr>
        <p:spPr>
          <a:xfrm rot="0">
            <a:off x="9667875" y="61531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06</a:t>
            </a:r>
          </a:p>
        </p:txBody>
      </p:sp>
      <p:sp>
        <p:nvSpPr>
          <p:cNvPr name="TextBox 60" id="60"/>
          <p:cNvSpPr txBox="true"/>
          <p:nvPr/>
        </p:nvSpPr>
        <p:spPr>
          <a:xfrm rot="0">
            <a:off x="1333500" y="77914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07</a:t>
            </a:r>
          </a:p>
        </p:txBody>
      </p:sp>
      <p:sp>
        <p:nvSpPr>
          <p:cNvPr name="TextBox 61" id="61"/>
          <p:cNvSpPr txBox="true"/>
          <p:nvPr/>
        </p:nvSpPr>
        <p:spPr>
          <a:xfrm rot="0">
            <a:off x="9667875" y="7791450"/>
            <a:ext cx="1047750" cy="664845"/>
          </a:xfrm>
          <a:prstGeom prst="rect">
            <a:avLst/>
          </a:prstGeom>
        </p:spPr>
        <p:txBody>
          <a:bodyPr anchor="t" rtlCol="false" tIns="0" lIns="0" bIns="0" rIns="0">
            <a:spAutoFit/>
          </a:bodyPr>
          <a:lstStyle/>
          <a:p>
            <a:pPr algn="l">
              <a:lnSpc>
                <a:spcPts val="4800"/>
              </a:lnSpc>
            </a:pPr>
            <a:r>
              <a:rPr lang="en-US" sz="4800" b="true">
                <a:solidFill>
                  <a:srgbClr val="FF5A1F"/>
                </a:solidFill>
                <a:latin typeface="Arimo Bold"/>
                <a:ea typeface="Arimo Bold"/>
                <a:cs typeface="Arimo Bold"/>
                <a:sym typeface="Arimo Bold"/>
              </a:rPr>
              <a:t>08</a:t>
            </a:r>
          </a:p>
        </p:txBody>
      </p:sp>
      <p:sp>
        <p:nvSpPr>
          <p:cNvPr name="TextBox 62" id="62"/>
          <p:cNvSpPr txBox="true"/>
          <p:nvPr/>
        </p:nvSpPr>
        <p:spPr>
          <a:xfrm rot="0">
            <a:off x="2571750" y="2724150"/>
            <a:ext cx="6191250" cy="468630"/>
          </a:xfrm>
          <a:prstGeom prst="rect">
            <a:avLst/>
          </a:prstGeom>
        </p:spPr>
        <p:txBody>
          <a:bodyPr anchor="t" rtlCol="false" tIns="0" lIns="0" bIns="0" rIns="0">
            <a:spAutoFit/>
          </a:bodyPr>
          <a:lstStyle/>
          <a:p>
            <a:pPr algn="l">
              <a:lnSpc>
                <a:spcPts val="3465"/>
              </a:lnSpc>
            </a:pPr>
            <a:r>
              <a:rPr lang="en-US" sz="3150" b="true">
                <a:solidFill>
                  <a:srgbClr val="FFF4DF"/>
                </a:solidFill>
                <a:latin typeface="Arimo Bold"/>
                <a:ea typeface="Arimo Bold"/>
                <a:cs typeface="Arimo Bold"/>
                <a:sym typeface="Arimo Bold"/>
              </a:rPr>
              <a:t>El problema</a:t>
            </a:r>
          </a:p>
        </p:txBody>
      </p:sp>
      <p:sp>
        <p:nvSpPr>
          <p:cNvPr name="TextBox 63" id="63"/>
          <p:cNvSpPr txBox="true"/>
          <p:nvPr/>
        </p:nvSpPr>
        <p:spPr>
          <a:xfrm rot="0">
            <a:off x="10906125" y="2724150"/>
            <a:ext cx="6191250" cy="468630"/>
          </a:xfrm>
          <a:prstGeom prst="rect">
            <a:avLst/>
          </a:prstGeom>
        </p:spPr>
        <p:txBody>
          <a:bodyPr anchor="t" rtlCol="false" tIns="0" lIns="0" bIns="0" rIns="0">
            <a:spAutoFit/>
          </a:bodyPr>
          <a:lstStyle/>
          <a:p>
            <a:pPr algn="l">
              <a:lnSpc>
                <a:spcPts val="3465"/>
              </a:lnSpc>
            </a:pPr>
            <a:r>
              <a:rPr lang="en-US" sz="3150" b="true">
                <a:solidFill>
                  <a:srgbClr val="FFF4DF"/>
                </a:solidFill>
                <a:latin typeface="Arimo Bold"/>
                <a:ea typeface="Arimo Bold"/>
                <a:cs typeface="Arimo Bold"/>
                <a:sym typeface="Arimo Bold"/>
              </a:rPr>
              <a:t>Objetivos</a:t>
            </a:r>
          </a:p>
        </p:txBody>
      </p:sp>
      <p:sp>
        <p:nvSpPr>
          <p:cNvPr name="TextBox 64" id="64"/>
          <p:cNvSpPr txBox="true"/>
          <p:nvPr/>
        </p:nvSpPr>
        <p:spPr>
          <a:xfrm rot="0">
            <a:off x="2571750" y="4362450"/>
            <a:ext cx="6191250" cy="468630"/>
          </a:xfrm>
          <a:prstGeom prst="rect">
            <a:avLst/>
          </a:prstGeom>
        </p:spPr>
        <p:txBody>
          <a:bodyPr anchor="t" rtlCol="false" tIns="0" lIns="0" bIns="0" rIns="0">
            <a:spAutoFit/>
          </a:bodyPr>
          <a:lstStyle/>
          <a:p>
            <a:pPr algn="l">
              <a:lnSpc>
                <a:spcPts val="3465"/>
              </a:lnSpc>
            </a:pPr>
            <a:r>
              <a:rPr lang="en-US" sz="3150" b="true">
                <a:solidFill>
                  <a:srgbClr val="FFF4DF"/>
                </a:solidFill>
                <a:latin typeface="Arimo Bold"/>
                <a:ea typeface="Arimo Bold"/>
                <a:cs typeface="Arimo Bold"/>
                <a:sym typeface="Arimo Bold"/>
              </a:rPr>
              <a:t>La solución: FireWatch</a:t>
            </a:r>
          </a:p>
        </p:txBody>
      </p:sp>
      <p:sp>
        <p:nvSpPr>
          <p:cNvPr name="TextBox 65" id="65"/>
          <p:cNvSpPr txBox="true"/>
          <p:nvPr/>
        </p:nvSpPr>
        <p:spPr>
          <a:xfrm rot="0">
            <a:off x="10906125" y="4362450"/>
            <a:ext cx="6191250" cy="468630"/>
          </a:xfrm>
          <a:prstGeom prst="rect">
            <a:avLst/>
          </a:prstGeom>
        </p:spPr>
        <p:txBody>
          <a:bodyPr anchor="t" rtlCol="false" tIns="0" lIns="0" bIns="0" rIns="0">
            <a:spAutoFit/>
          </a:bodyPr>
          <a:lstStyle/>
          <a:p>
            <a:pPr algn="l">
              <a:lnSpc>
                <a:spcPts val="3465"/>
              </a:lnSpc>
            </a:pPr>
            <a:r>
              <a:rPr lang="en-US" sz="3150" b="true">
                <a:solidFill>
                  <a:srgbClr val="FFF4DF"/>
                </a:solidFill>
                <a:latin typeface="Arimo Bold"/>
                <a:ea typeface="Arimo Bold"/>
                <a:cs typeface="Arimo Bold"/>
                <a:sym typeface="Arimo Bold"/>
              </a:rPr>
              <a:t>Metodología y cronograma</a:t>
            </a:r>
          </a:p>
        </p:txBody>
      </p:sp>
      <p:sp>
        <p:nvSpPr>
          <p:cNvPr name="TextBox 66" id="66"/>
          <p:cNvSpPr txBox="true"/>
          <p:nvPr/>
        </p:nvSpPr>
        <p:spPr>
          <a:xfrm rot="0">
            <a:off x="2571750" y="6000750"/>
            <a:ext cx="6191250" cy="468630"/>
          </a:xfrm>
          <a:prstGeom prst="rect">
            <a:avLst/>
          </a:prstGeom>
        </p:spPr>
        <p:txBody>
          <a:bodyPr anchor="t" rtlCol="false" tIns="0" lIns="0" bIns="0" rIns="0">
            <a:spAutoFit/>
          </a:bodyPr>
          <a:lstStyle/>
          <a:p>
            <a:pPr algn="l">
              <a:lnSpc>
                <a:spcPts val="3465"/>
              </a:lnSpc>
            </a:pPr>
            <a:r>
              <a:rPr lang="en-US" sz="3150" b="true">
                <a:solidFill>
                  <a:srgbClr val="FFF4DF"/>
                </a:solidFill>
                <a:latin typeface="Arimo Bold"/>
                <a:ea typeface="Arimo Bold"/>
                <a:cs typeface="Arimo Bold"/>
                <a:sym typeface="Arimo Bold"/>
              </a:rPr>
              <a:t>Tecnologías y arquitectura</a:t>
            </a:r>
          </a:p>
        </p:txBody>
      </p:sp>
      <p:sp>
        <p:nvSpPr>
          <p:cNvPr name="TextBox 67" id="67"/>
          <p:cNvSpPr txBox="true"/>
          <p:nvPr/>
        </p:nvSpPr>
        <p:spPr>
          <a:xfrm rot="0">
            <a:off x="10906125" y="6000750"/>
            <a:ext cx="6191250" cy="468630"/>
          </a:xfrm>
          <a:prstGeom prst="rect">
            <a:avLst/>
          </a:prstGeom>
        </p:spPr>
        <p:txBody>
          <a:bodyPr anchor="t" rtlCol="false" tIns="0" lIns="0" bIns="0" rIns="0">
            <a:spAutoFit/>
          </a:bodyPr>
          <a:lstStyle/>
          <a:p>
            <a:pPr algn="l">
              <a:lnSpc>
                <a:spcPts val="3465"/>
              </a:lnSpc>
            </a:pPr>
            <a:r>
              <a:rPr lang="en-US" sz="3150" b="true">
                <a:solidFill>
                  <a:srgbClr val="FFF4DF"/>
                </a:solidFill>
                <a:latin typeface="Arimo Bold"/>
                <a:ea typeface="Arimo Bold"/>
                <a:cs typeface="Arimo Bold"/>
                <a:sym typeface="Arimo Bold"/>
              </a:rPr>
              <a:t>Modelos de IA</a:t>
            </a:r>
          </a:p>
        </p:txBody>
      </p:sp>
      <p:sp>
        <p:nvSpPr>
          <p:cNvPr name="TextBox 68" id="68"/>
          <p:cNvSpPr txBox="true"/>
          <p:nvPr/>
        </p:nvSpPr>
        <p:spPr>
          <a:xfrm rot="0">
            <a:off x="2571750" y="7639050"/>
            <a:ext cx="6191250" cy="468630"/>
          </a:xfrm>
          <a:prstGeom prst="rect">
            <a:avLst/>
          </a:prstGeom>
        </p:spPr>
        <p:txBody>
          <a:bodyPr anchor="t" rtlCol="false" tIns="0" lIns="0" bIns="0" rIns="0">
            <a:spAutoFit/>
          </a:bodyPr>
          <a:lstStyle/>
          <a:p>
            <a:pPr algn="l">
              <a:lnSpc>
                <a:spcPts val="3465"/>
              </a:lnSpc>
            </a:pPr>
            <a:r>
              <a:rPr lang="en-US" sz="3150" b="true">
                <a:solidFill>
                  <a:srgbClr val="FFF4DF"/>
                </a:solidFill>
                <a:latin typeface="Arimo Bold"/>
                <a:ea typeface="Arimo Bold"/>
                <a:cs typeface="Arimo Bold"/>
                <a:sym typeface="Arimo Bold"/>
              </a:rPr>
              <a:t>Calidad, riesgos y requisitos</a:t>
            </a:r>
          </a:p>
        </p:txBody>
      </p:sp>
      <p:sp>
        <p:nvSpPr>
          <p:cNvPr name="TextBox 69" id="69"/>
          <p:cNvSpPr txBox="true"/>
          <p:nvPr/>
        </p:nvSpPr>
        <p:spPr>
          <a:xfrm rot="0">
            <a:off x="10906125" y="7639050"/>
            <a:ext cx="6191250" cy="468630"/>
          </a:xfrm>
          <a:prstGeom prst="rect">
            <a:avLst/>
          </a:prstGeom>
        </p:spPr>
        <p:txBody>
          <a:bodyPr anchor="t" rtlCol="false" tIns="0" lIns="0" bIns="0" rIns="0">
            <a:spAutoFit/>
          </a:bodyPr>
          <a:lstStyle/>
          <a:p>
            <a:pPr algn="l" marL="0" indent="0" lvl="0">
              <a:lnSpc>
                <a:spcPts val="3465"/>
              </a:lnSpc>
              <a:spcBef>
                <a:spcPct val="0"/>
              </a:spcBef>
            </a:pPr>
            <a:r>
              <a:rPr lang="en-US" b="true" sz="3150" strike="noStrike" u="none">
                <a:solidFill>
                  <a:srgbClr val="FFF4DF"/>
                </a:solidFill>
                <a:latin typeface="Arimo Bold"/>
                <a:ea typeface="Arimo Bold"/>
                <a:cs typeface="Arimo Bold"/>
                <a:sym typeface="Arimo Bold"/>
              </a:rPr>
              <a:t>Seguridad y mejoras futuras</a:t>
            </a:r>
          </a:p>
        </p:txBody>
      </p:sp>
      <p:sp>
        <p:nvSpPr>
          <p:cNvPr name="TextBox 70" id="70"/>
          <p:cNvSpPr txBox="true"/>
          <p:nvPr/>
        </p:nvSpPr>
        <p:spPr>
          <a:xfrm rot="0">
            <a:off x="2571750" y="3286125"/>
            <a:ext cx="6191250" cy="365760"/>
          </a:xfrm>
          <a:prstGeom prst="rect">
            <a:avLst/>
          </a:prstGeom>
        </p:spPr>
        <p:txBody>
          <a:bodyPr anchor="t" rtlCol="false" tIns="0" lIns="0" bIns="0" rIns="0">
            <a:spAutoFit/>
          </a:bodyPr>
          <a:lstStyle/>
          <a:p>
            <a:pPr algn="l">
              <a:lnSpc>
                <a:spcPts val="2940"/>
              </a:lnSpc>
            </a:pPr>
            <a:r>
              <a:rPr lang="en-US" sz="2100">
                <a:solidFill>
                  <a:srgbClr val="FFB000"/>
                </a:solidFill>
                <a:latin typeface="Arimo"/>
                <a:ea typeface="Arimo"/>
                <a:cs typeface="Arimo"/>
                <a:sym typeface="Arimo"/>
              </a:rPr>
              <a:t>Láminas 3 y 4</a:t>
            </a:r>
          </a:p>
        </p:txBody>
      </p:sp>
      <p:sp>
        <p:nvSpPr>
          <p:cNvPr name="TextBox 71" id="71"/>
          <p:cNvSpPr txBox="true"/>
          <p:nvPr/>
        </p:nvSpPr>
        <p:spPr>
          <a:xfrm rot="0">
            <a:off x="10906125" y="3286125"/>
            <a:ext cx="6191250" cy="365760"/>
          </a:xfrm>
          <a:prstGeom prst="rect">
            <a:avLst/>
          </a:prstGeom>
        </p:spPr>
        <p:txBody>
          <a:bodyPr anchor="t" rtlCol="false" tIns="0" lIns="0" bIns="0" rIns="0">
            <a:spAutoFit/>
          </a:bodyPr>
          <a:lstStyle/>
          <a:p>
            <a:pPr algn="l">
              <a:lnSpc>
                <a:spcPts val="2940"/>
              </a:lnSpc>
            </a:pPr>
            <a:r>
              <a:rPr lang="en-US" sz="2100">
                <a:solidFill>
                  <a:srgbClr val="FFB000"/>
                </a:solidFill>
                <a:latin typeface="Arimo"/>
                <a:ea typeface="Arimo"/>
                <a:cs typeface="Arimo"/>
                <a:sym typeface="Arimo"/>
              </a:rPr>
              <a:t>Láminas 5 a 7</a:t>
            </a:r>
          </a:p>
        </p:txBody>
      </p:sp>
      <p:sp>
        <p:nvSpPr>
          <p:cNvPr name="TextBox 72" id="72"/>
          <p:cNvSpPr txBox="true"/>
          <p:nvPr/>
        </p:nvSpPr>
        <p:spPr>
          <a:xfrm rot="0">
            <a:off x="2571750" y="4924425"/>
            <a:ext cx="6191250" cy="365760"/>
          </a:xfrm>
          <a:prstGeom prst="rect">
            <a:avLst/>
          </a:prstGeom>
        </p:spPr>
        <p:txBody>
          <a:bodyPr anchor="t" rtlCol="false" tIns="0" lIns="0" bIns="0" rIns="0">
            <a:spAutoFit/>
          </a:bodyPr>
          <a:lstStyle/>
          <a:p>
            <a:pPr algn="l">
              <a:lnSpc>
                <a:spcPts val="2940"/>
              </a:lnSpc>
            </a:pPr>
            <a:r>
              <a:rPr lang="en-US" sz="2100">
                <a:solidFill>
                  <a:srgbClr val="FFB000"/>
                </a:solidFill>
                <a:latin typeface="Arimo"/>
                <a:ea typeface="Arimo"/>
                <a:cs typeface="Arimo"/>
                <a:sym typeface="Arimo"/>
              </a:rPr>
              <a:t>Láminas 8 y 9</a:t>
            </a:r>
          </a:p>
        </p:txBody>
      </p:sp>
      <p:sp>
        <p:nvSpPr>
          <p:cNvPr name="TextBox 73" id="73"/>
          <p:cNvSpPr txBox="true"/>
          <p:nvPr/>
        </p:nvSpPr>
        <p:spPr>
          <a:xfrm rot="0">
            <a:off x="10906125" y="4924425"/>
            <a:ext cx="6191250" cy="365760"/>
          </a:xfrm>
          <a:prstGeom prst="rect">
            <a:avLst/>
          </a:prstGeom>
        </p:spPr>
        <p:txBody>
          <a:bodyPr anchor="t" rtlCol="false" tIns="0" lIns="0" bIns="0" rIns="0">
            <a:spAutoFit/>
          </a:bodyPr>
          <a:lstStyle/>
          <a:p>
            <a:pPr algn="l">
              <a:lnSpc>
                <a:spcPts val="2940"/>
              </a:lnSpc>
            </a:pPr>
            <a:r>
              <a:rPr lang="en-US" sz="2100">
                <a:solidFill>
                  <a:srgbClr val="FFB000"/>
                </a:solidFill>
                <a:latin typeface="Arimo"/>
                <a:ea typeface="Arimo"/>
                <a:cs typeface="Arimo"/>
                <a:sym typeface="Arimo"/>
              </a:rPr>
              <a:t>Láminas 10 y 11</a:t>
            </a:r>
          </a:p>
        </p:txBody>
      </p:sp>
      <p:sp>
        <p:nvSpPr>
          <p:cNvPr name="TextBox 74" id="74"/>
          <p:cNvSpPr txBox="true"/>
          <p:nvPr/>
        </p:nvSpPr>
        <p:spPr>
          <a:xfrm rot="0">
            <a:off x="2571750" y="6562725"/>
            <a:ext cx="6191250" cy="365760"/>
          </a:xfrm>
          <a:prstGeom prst="rect">
            <a:avLst/>
          </a:prstGeom>
        </p:spPr>
        <p:txBody>
          <a:bodyPr anchor="t" rtlCol="false" tIns="0" lIns="0" bIns="0" rIns="0">
            <a:spAutoFit/>
          </a:bodyPr>
          <a:lstStyle/>
          <a:p>
            <a:pPr algn="l">
              <a:lnSpc>
                <a:spcPts val="2940"/>
              </a:lnSpc>
            </a:pPr>
            <a:r>
              <a:rPr lang="en-US" sz="2100">
                <a:solidFill>
                  <a:srgbClr val="FFB000"/>
                </a:solidFill>
                <a:latin typeface="Arimo"/>
                <a:ea typeface="Arimo"/>
                <a:cs typeface="Arimo"/>
                <a:sym typeface="Arimo"/>
              </a:rPr>
              <a:t>Láminas 12 a 14</a:t>
            </a:r>
          </a:p>
        </p:txBody>
      </p:sp>
      <p:sp>
        <p:nvSpPr>
          <p:cNvPr name="TextBox 75" id="75"/>
          <p:cNvSpPr txBox="true"/>
          <p:nvPr/>
        </p:nvSpPr>
        <p:spPr>
          <a:xfrm rot="0">
            <a:off x="10906125" y="6562725"/>
            <a:ext cx="6191250" cy="365760"/>
          </a:xfrm>
          <a:prstGeom prst="rect">
            <a:avLst/>
          </a:prstGeom>
        </p:spPr>
        <p:txBody>
          <a:bodyPr anchor="t" rtlCol="false" tIns="0" lIns="0" bIns="0" rIns="0">
            <a:spAutoFit/>
          </a:bodyPr>
          <a:lstStyle/>
          <a:p>
            <a:pPr algn="l">
              <a:lnSpc>
                <a:spcPts val="2940"/>
              </a:lnSpc>
            </a:pPr>
            <a:r>
              <a:rPr lang="en-US" sz="2100">
                <a:solidFill>
                  <a:srgbClr val="FFB000"/>
                </a:solidFill>
                <a:latin typeface="Arimo"/>
                <a:ea typeface="Arimo"/>
                <a:cs typeface="Arimo"/>
                <a:sym typeface="Arimo"/>
              </a:rPr>
              <a:t>Láminas 15 y 16</a:t>
            </a:r>
          </a:p>
        </p:txBody>
      </p:sp>
      <p:sp>
        <p:nvSpPr>
          <p:cNvPr name="TextBox 76" id="76"/>
          <p:cNvSpPr txBox="true"/>
          <p:nvPr/>
        </p:nvSpPr>
        <p:spPr>
          <a:xfrm rot="0">
            <a:off x="2571750" y="8201025"/>
            <a:ext cx="6191250" cy="365760"/>
          </a:xfrm>
          <a:prstGeom prst="rect">
            <a:avLst/>
          </a:prstGeom>
        </p:spPr>
        <p:txBody>
          <a:bodyPr anchor="t" rtlCol="false" tIns="0" lIns="0" bIns="0" rIns="0">
            <a:spAutoFit/>
          </a:bodyPr>
          <a:lstStyle/>
          <a:p>
            <a:pPr algn="l">
              <a:lnSpc>
                <a:spcPts val="2940"/>
              </a:lnSpc>
            </a:pPr>
            <a:r>
              <a:rPr lang="en-US" sz="2100">
                <a:solidFill>
                  <a:srgbClr val="FFB000"/>
                </a:solidFill>
                <a:latin typeface="Arimo"/>
                <a:ea typeface="Arimo"/>
                <a:cs typeface="Arimo"/>
                <a:sym typeface="Arimo"/>
              </a:rPr>
              <a:t>Láminas 17 a 19</a:t>
            </a:r>
          </a:p>
        </p:txBody>
      </p:sp>
      <p:sp>
        <p:nvSpPr>
          <p:cNvPr name="TextBox 77" id="77"/>
          <p:cNvSpPr txBox="true"/>
          <p:nvPr/>
        </p:nvSpPr>
        <p:spPr>
          <a:xfrm rot="0">
            <a:off x="10906125" y="8201025"/>
            <a:ext cx="6191250" cy="3657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B000"/>
                </a:solidFill>
                <a:latin typeface="Arimo"/>
                <a:ea typeface="Arimo"/>
                <a:cs typeface="Arimo"/>
                <a:sym typeface="Arimo"/>
              </a:rPr>
              <a:t>Láminas 20 y 21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1047750" y="771525"/>
            <a:ext cx="14287500" cy="643128"/>
          </a:xfrm>
          <a:prstGeom prst="rect">
            <a:avLst/>
          </a:prstGeom>
        </p:spPr>
        <p:txBody>
          <a:bodyPr anchor="t" rtlCol="false" tIns="0" lIns="0" bIns="0" rIns="0">
            <a:spAutoFit/>
          </a:bodyPr>
          <a:lstStyle/>
          <a:p>
            <a:pPr algn="l">
              <a:lnSpc>
                <a:spcPts val="4896"/>
              </a:lnSpc>
            </a:pPr>
            <a:r>
              <a:rPr lang="en-US" sz="4800" b="true">
                <a:solidFill>
                  <a:srgbClr val="E8F4F8"/>
                </a:solidFill>
                <a:latin typeface="Barlow Condensed Bold"/>
                <a:ea typeface="Barlow Condensed Bold"/>
                <a:cs typeface="Barlow Condensed Bold"/>
                <a:sym typeface="Barlow Condensed Bold"/>
              </a:rPr>
              <a:t>El fuego esta en todos lados</a:t>
            </a:r>
          </a:p>
        </p:txBody>
      </p:sp>
      <p:grpSp>
        <p:nvGrpSpPr>
          <p:cNvPr name="Group 3" id="3"/>
          <p:cNvGrpSpPr/>
          <p:nvPr/>
        </p:nvGrpSpPr>
        <p:grpSpPr>
          <a:xfrm rot="0">
            <a:off x="781050" y="628650"/>
            <a:ext cx="76200" cy="895350"/>
            <a:chOff x="0" y="0"/>
            <a:chExt cx="101600" cy="1193800"/>
          </a:xfrm>
        </p:grpSpPr>
        <p:sp>
          <p:nvSpPr>
            <p:cNvPr name="Freeform 4" id="4"/>
            <p:cNvSpPr/>
            <p:nvPr/>
          </p:nvSpPr>
          <p:spPr>
            <a:xfrm flipH="false" flipV="false" rot="0">
              <a:off x="0" y="0"/>
              <a:ext cx="101600" cy="1193800"/>
            </a:xfrm>
            <a:custGeom>
              <a:avLst/>
              <a:gdLst/>
              <a:ahLst/>
              <a:cxnLst/>
              <a:rect r="r" b="b" t="t" l="l"/>
              <a:pathLst>
                <a:path h="1193800" w="101600">
                  <a:moveTo>
                    <a:pt x="0" y="0"/>
                  </a:moveTo>
                  <a:lnTo>
                    <a:pt x="101600" y="0"/>
                  </a:lnTo>
                  <a:lnTo>
                    <a:pt x="101600" y="1193800"/>
                  </a:lnTo>
                  <a:lnTo>
                    <a:pt x="0" y="1193800"/>
                  </a:lnTo>
                  <a:close/>
                </a:path>
              </a:pathLst>
            </a:custGeom>
            <a:solidFill>
              <a:srgbClr val="FF3B3F"/>
            </a:solidFill>
            <a:ln cap="sq">
              <a:noFill/>
              <a:prstDash val="solid"/>
              <a:miter/>
            </a:ln>
          </p:spPr>
        </p:sp>
        <p:sp>
          <p:nvSpPr>
            <p:cNvPr name="TextBox 5" id="5"/>
            <p:cNvSpPr txBox="true"/>
            <p:nvPr/>
          </p:nvSpPr>
          <p:spPr>
            <a:xfrm>
              <a:off x="0" y="-38100"/>
              <a:ext cx="101600" cy="1231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447800"/>
            <a:ext cx="8763000" cy="687837"/>
          </a:xfrm>
          <a:prstGeom prst="rect">
            <a:avLst/>
          </a:prstGeom>
        </p:spPr>
        <p:txBody>
          <a:bodyPr anchor="t" rtlCol="false" tIns="0" lIns="0" bIns="0" rIns="0">
            <a:spAutoFit/>
          </a:bodyPr>
          <a:lstStyle/>
          <a:p>
            <a:pPr algn="l">
              <a:lnSpc>
                <a:spcPts val="2730"/>
              </a:lnSpc>
            </a:pPr>
            <a:r>
              <a:rPr lang="en-US" sz="2100">
                <a:solidFill>
                  <a:srgbClr val="FFB000"/>
                </a:solidFill>
                <a:latin typeface="IBM Plex Mono"/>
                <a:ea typeface="IBM Plex Mono"/>
                <a:cs typeface="IBM Plex Mono"/>
                <a:sym typeface="IBM Plex Mono"/>
              </a:rPr>
              <a:t>Los incendios amenazan a las ciudades y zonas forestales</a:t>
            </a:r>
          </a:p>
        </p:txBody>
      </p:sp>
      <p:sp>
        <p:nvSpPr>
          <p:cNvPr name="Freeform 7" id="7"/>
          <p:cNvSpPr/>
          <p:nvPr/>
        </p:nvSpPr>
        <p:spPr>
          <a:xfrm flipH="false" flipV="false" rot="0">
            <a:off x="9810750" y="0"/>
            <a:ext cx="8477250" cy="10287000"/>
          </a:xfrm>
          <a:custGeom>
            <a:avLst/>
            <a:gdLst/>
            <a:ahLst/>
            <a:cxnLst/>
            <a:rect r="r" b="b" t="t" l="l"/>
            <a:pathLst>
              <a:path h="10287000" w="8477250">
                <a:moveTo>
                  <a:pt x="0" y="0"/>
                </a:moveTo>
                <a:lnTo>
                  <a:pt x="8477250" y="0"/>
                </a:lnTo>
                <a:lnTo>
                  <a:pt x="8477250" y="10287000"/>
                </a:lnTo>
                <a:lnTo>
                  <a:pt x="0" y="10287000"/>
                </a:lnTo>
                <a:lnTo>
                  <a:pt x="0" y="0"/>
                </a:lnTo>
                <a:close/>
              </a:path>
            </a:pathLst>
          </a:custGeom>
          <a:blipFill>
            <a:blip r:embed="rId2"/>
            <a:stretch>
              <a:fillRect l="0" t="-19" r="0" b="-19"/>
            </a:stretch>
          </a:blipFill>
          <a:ln cap="sq">
            <a:noFill/>
            <a:prstDash val="solid"/>
            <a:miter/>
          </a:ln>
        </p:spPr>
      </p:sp>
      <p:sp>
        <p:nvSpPr>
          <p:cNvPr name="TextBox 8" id="8"/>
          <p:cNvSpPr txBox="true"/>
          <p:nvPr/>
        </p:nvSpPr>
        <p:spPr>
          <a:xfrm rot="0">
            <a:off x="1047750" y="3238500"/>
            <a:ext cx="6953250" cy="1986915"/>
          </a:xfrm>
          <a:prstGeom prst="rect">
            <a:avLst/>
          </a:prstGeom>
        </p:spPr>
        <p:txBody>
          <a:bodyPr anchor="t" rtlCol="false" tIns="0" lIns="0" bIns="0" rIns="0">
            <a:spAutoFit/>
          </a:bodyPr>
          <a:lstStyle/>
          <a:p>
            <a:pPr algn="l">
              <a:lnSpc>
                <a:spcPts val="7560"/>
              </a:lnSpc>
            </a:pPr>
            <a:r>
              <a:rPr lang="en-US" sz="8400" b="true">
                <a:solidFill>
                  <a:srgbClr val="FF7A1A"/>
                </a:solidFill>
                <a:latin typeface="Barlow Condensed Bold"/>
                <a:ea typeface="Barlow Condensed Bold"/>
                <a:cs typeface="Barlow Condensed Bold"/>
                <a:sym typeface="Barlow Condensed Bold"/>
              </a:rPr>
              <a:t>MINUTOS</a:t>
            </a:r>
          </a:p>
          <a:p>
            <a:pPr algn="l">
              <a:lnSpc>
                <a:spcPts val="7560"/>
              </a:lnSpc>
            </a:pPr>
            <a:r>
              <a:rPr lang="en-US" sz="8400" b="true">
                <a:solidFill>
                  <a:srgbClr val="FF7A1A"/>
                </a:solidFill>
                <a:latin typeface="Barlow Condensed Bold"/>
                <a:ea typeface="Barlow Condensed Bold"/>
                <a:cs typeface="Barlow Condensed Bold"/>
                <a:sym typeface="Barlow Condensed Bold"/>
              </a:rPr>
              <a:t>IMPORTAN</a:t>
            </a:r>
          </a:p>
        </p:txBody>
      </p:sp>
      <p:sp>
        <p:nvSpPr>
          <p:cNvPr name="TextBox 9" id="9"/>
          <p:cNvSpPr txBox="true"/>
          <p:nvPr/>
        </p:nvSpPr>
        <p:spPr>
          <a:xfrm rot="0">
            <a:off x="1028700" y="5263515"/>
            <a:ext cx="7524750" cy="2393143"/>
          </a:xfrm>
          <a:prstGeom prst="rect">
            <a:avLst/>
          </a:prstGeom>
        </p:spPr>
        <p:txBody>
          <a:bodyPr anchor="t" rtlCol="false" tIns="0" lIns="0" bIns="0" rIns="0">
            <a:spAutoFit/>
          </a:bodyPr>
          <a:lstStyle/>
          <a:p>
            <a:pPr algn="l">
              <a:lnSpc>
                <a:spcPts val="2730"/>
              </a:lnSpc>
            </a:pPr>
            <a:r>
              <a:rPr lang="en-US" sz="2100">
                <a:solidFill>
                  <a:srgbClr val="FFF3DF"/>
                </a:solidFill>
                <a:latin typeface="Montserrat"/>
                <a:ea typeface="Montserrat"/>
                <a:cs typeface="Montserrat"/>
                <a:sym typeface="Montserrat"/>
              </a:rPr>
              <a:t>Los incendios amenazan a las ciudades, borde urbano-forestal y zonas forestales. Humo, viento y vegetacion seca pueden convertir un foco pequeño en una emergencia mucho mayor.</a:t>
            </a:r>
          </a:p>
          <a:p>
            <a:pPr algn="l">
              <a:lnSpc>
                <a:spcPts val="2730"/>
              </a:lnSpc>
            </a:pPr>
            <a:r>
              <a:rPr lang="en-US" sz="2100">
                <a:solidFill>
                  <a:srgbClr val="FFF3DF"/>
                </a:solidFill>
                <a:latin typeface="Montserrat"/>
                <a:ea typeface="Montserrat"/>
                <a:cs typeface="Montserrat"/>
                <a:sym typeface="Montserrat"/>
              </a:rPr>
              <a:t>La cercanía entre vegetación, viviendas e infraestructura convierte cada minuto de demora en mayor riesgo.</a:t>
            </a:r>
          </a:p>
        </p:txBody>
      </p:sp>
      <p:sp>
        <p:nvSpPr>
          <p:cNvPr name="TextBox 10" id="10"/>
          <p:cNvSpPr txBox="true"/>
          <p:nvPr/>
        </p:nvSpPr>
        <p:spPr>
          <a:xfrm rot="0">
            <a:off x="1028700" y="7839075"/>
            <a:ext cx="7239000" cy="331470"/>
          </a:xfrm>
          <a:prstGeom prst="rect">
            <a:avLst/>
          </a:prstGeom>
        </p:spPr>
        <p:txBody>
          <a:bodyPr anchor="t" rtlCol="false" tIns="0" lIns="0" bIns="0" rIns="0">
            <a:spAutoFit/>
          </a:bodyPr>
          <a:lstStyle/>
          <a:p>
            <a:pPr algn="l">
              <a:lnSpc>
                <a:spcPts val="2520"/>
              </a:lnSpc>
            </a:pPr>
            <a:r>
              <a:rPr lang="en-US" sz="2400">
                <a:solidFill>
                  <a:srgbClr val="FFB000"/>
                </a:solidFill>
                <a:latin typeface="Archivo Black"/>
                <a:ea typeface="Archivo Black"/>
                <a:cs typeface="Archivo Black"/>
                <a:sym typeface="Archivo Black"/>
              </a:rPr>
              <a:t>DETECTAR ANTES CAMBIA LA RESPUESTA</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1047750" y="771525"/>
            <a:ext cx="14287500" cy="643128"/>
          </a:xfrm>
          <a:prstGeom prst="rect">
            <a:avLst/>
          </a:prstGeom>
        </p:spPr>
        <p:txBody>
          <a:bodyPr anchor="t" rtlCol="false" tIns="0" lIns="0" bIns="0" rIns="0">
            <a:spAutoFit/>
          </a:bodyPr>
          <a:lstStyle/>
          <a:p>
            <a:pPr algn="l">
              <a:lnSpc>
                <a:spcPts val="4896"/>
              </a:lnSpc>
            </a:pPr>
            <a:r>
              <a:rPr lang="en-US" sz="4800" b="true">
                <a:solidFill>
                  <a:srgbClr val="E8F4F8"/>
                </a:solidFill>
                <a:latin typeface="Barlow Condensed Bold"/>
                <a:ea typeface="Barlow Condensed Bold"/>
                <a:cs typeface="Barlow Condensed Bold"/>
                <a:sym typeface="Barlow Condensed Bold"/>
              </a:rPr>
              <a:t>La brecha no es ver: es decidir</a:t>
            </a:r>
          </a:p>
        </p:txBody>
      </p:sp>
      <p:sp>
        <p:nvSpPr>
          <p:cNvPr name="TextBox 3" id="3"/>
          <p:cNvSpPr txBox="true"/>
          <p:nvPr/>
        </p:nvSpPr>
        <p:spPr>
          <a:xfrm rot="0">
            <a:off x="1047750" y="1447800"/>
            <a:ext cx="12382500" cy="344871"/>
          </a:xfrm>
          <a:prstGeom prst="rect">
            <a:avLst/>
          </a:prstGeom>
        </p:spPr>
        <p:txBody>
          <a:bodyPr anchor="t" rtlCol="false" tIns="0" lIns="0" bIns="0" rIns="0">
            <a:spAutoFit/>
          </a:bodyPr>
          <a:lstStyle/>
          <a:p>
            <a:pPr algn="l">
              <a:lnSpc>
                <a:spcPts val="2730"/>
              </a:lnSpc>
            </a:pPr>
            <a:r>
              <a:rPr lang="en-US" sz="2100">
                <a:solidFill>
                  <a:srgbClr val="FFB000"/>
                </a:solidFill>
                <a:latin typeface="IBM Plex Mono"/>
                <a:ea typeface="IBM Plex Mono"/>
                <a:cs typeface="IBM Plex Mono"/>
                <a:sym typeface="IBM Plex Mono"/>
              </a:rPr>
              <a:t>Qué falta hoy</a:t>
            </a:r>
          </a:p>
        </p:txBody>
      </p:sp>
      <p:grpSp>
        <p:nvGrpSpPr>
          <p:cNvPr name="Group 4" id="4"/>
          <p:cNvGrpSpPr/>
          <p:nvPr/>
        </p:nvGrpSpPr>
        <p:grpSpPr>
          <a:xfrm rot="0">
            <a:off x="752506" y="628650"/>
            <a:ext cx="104744" cy="895350"/>
            <a:chOff x="0" y="0"/>
            <a:chExt cx="139659" cy="1193800"/>
          </a:xfrm>
        </p:grpSpPr>
        <p:sp>
          <p:nvSpPr>
            <p:cNvPr name="Freeform 5" id="5"/>
            <p:cNvSpPr/>
            <p:nvPr/>
          </p:nvSpPr>
          <p:spPr>
            <a:xfrm flipH="false" flipV="false" rot="0">
              <a:off x="0" y="0"/>
              <a:ext cx="139659" cy="1193800"/>
            </a:xfrm>
            <a:custGeom>
              <a:avLst/>
              <a:gdLst/>
              <a:ahLst/>
              <a:cxnLst/>
              <a:rect r="r" b="b" t="t" l="l"/>
              <a:pathLst>
                <a:path h="1193800" w="139659">
                  <a:moveTo>
                    <a:pt x="0" y="0"/>
                  </a:moveTo>
                  <a:lnTo>
                    <a:pt x="139659" y="0"/>
                  </a:lnTo>
                  <a:lnTo>
                    <a:pt x="139659" y="1193800"/>
                  </a:lnTo>
                  <a:lnTo>
                    <a:pt x="0" y="1193800"/>
                  </a:lnTo>
                  <a:close/>
                </a:path>
              </a:pathLst>
            </a:custGeom>
            <a:solidFill>
              <a:srgbClr val="FF5A1F"/>
            </a:solidFill>
            <a:ln cap="sq">
              <a:noFill/>
              <a:prstDash val="solid"/>
              <a:miter/>
            </a:ln>
          </p:spPr>
        </p:sp>
        <p:sp>
          <p:nvSpPr>
            <p:cNvPr name="TextBox 6" id="6"/>
            <p:cNvSpPr txBox="true"/>
            <p:nvPr/>
          </p:nvSpPr>
          <p:spPr>
            <a:xfrm>
              <a:off x="0" y="-38100"/>
              <a:ext cx="139659" cy="12319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1047750" y="3048000"/>
            <a:ext cx="4953000" cy="4476816"/>
            <a:chOff x="0" y="0"/>
            <a:chExt cx="6604000" cy="5969088"/>
          </a:xfrm>
        </p:grpSpPr>
        <p:sp>
          <p:nvSpPr>
            <p:cNvPr name="Freeform 8" id="8"/>
            <p:cNvSpPr/>
            <p:nvPr/>
          </p:nvSpPr>
          <p:spPr>
            <a:xfrm flipH="false" flipV="false" rot="0">
              <a:off x="0" y="0"/>
              <a:ext cx="6604000" cy="5969088"/>
            </a:xfrm>
            <a:custGeom>
              <a:avLst/>
              <a:gdLst/>
              <a:ahLst/>
              <a:cxnLst/>
              <a:rect r="r" b="b" t="t" l="l"/>
              <a:pathLst>
                <a:path h="5969088" w="6604000">
                  <a:moveTo>
                    <a:pt x="0" y="0"/>
                  </a:moveTo>
                  <a:lnTo>
                    <a:pt x="6604000" y="0"/>
                  </a:lnTo>
                  <a:lnTo>
                    <a:pt x="6604000" y="5969088"/>
                  </a:lnTo>
                  <a:lnTo>
                    <a:pt x="0" y="5969088"/>
                  </a:lnTo>
                  <a:close/>
                </a:path>
              </a:pathLst>
            </a:custGeom>
            <a:solidFill>
              <a:srgbClr val="E96D21">
                <a:alpha val="53725"/>
              </a:srgbClr>
            </a:solidFill>
            <a:ln w="9525" cap="sq">
              <a:solidFill>
                <a:srgbClr val="FF7A1A">
                  <a:alpha val="53725"/>
                </a:srgbClr>
              </a:solidFill>
              <a:prstDash val="solid"/>
              <a:miter/>
            </a:ln>
          </p:spPr>
        </p:sp>
        <p:sp>
          <p:nvSpPr>
            <p:cNvPr name="TextBox 9" id="9"/>
            <p:cNvSpPr txBox="true"/>
            <p:nvPr/>
          </p:nvSpPr>
          <p:spPr>
            <a:xfrm>
              <a:off x="0" y="-38100"/>
              <a:ext cx="6604000" cy="6007188"/>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428750" y="3552825"/>
            <a:ext cx="4191000" cy="353253"/>
          </a:xfrm>
          <a:prstGeom prst="rect">
            <a:avLst/>
          </a:prstGeom>
        </p:spPr>
        <p:txBody>
          <a:bodyPr anchor="t" rtlCol="false" tIns="0" lIns="0" bIns="0" rIns="0">
            <a:spAutoFit/>
          </a:bodyPr>
          <a:lstStyle/>
          <a:p>
            <a:pPr algn="l">
              <a:lnSpc>
                <a:spcPts val="2754"/>
              </a:lnSpc>
            </a:pPr>
            <a:r>
              <a:rPr lang="en-US" sz="2550" b="true">
                <a:solidFill>
                  <a:srgbClr val="FFB000"/>
                </a:solidFill>
                <a:latin typeface="Barlow Condensed Bold"/>
                <a:ea typeface="Barlow Condensed Bold"/>
                <a:cs typeface="Barlow Condensed Bold"/>
                <a:sym typeface="Barlow Condensed Bold"/>
              </a:rPr>
              <a:t>CÁMARAS</a:t>
            </a:r>
          </a:p>
        </p:txBody>
      </p:sp>
      <p:sp>
        <p:nvSpPr>
          <p:cNvPr name="TextBox 11" id="11"/>
          <p:cNvSpPr txBox="true"/>
          <p:nvPr/>
        </p:nvSpPr>
        <p:spPr>
          <a:xfrm rot="0">
            <a:off x="1428750" y="4733991"/>
            <a:ext cx="4095750" cy="747713"/>
          </a:xfrm>
          <a:prstGeom prst="rect">
            <a:avLst/>
          </a:prstGeom>
        </p:spPr>
        <p:txBody>
          <a:bodyPr anchor="t" rtlCol="false" tIns="0" lIns="0" bIns="0" rIns="0">
            <a:spAutoFit/>
          </a:bodyPr>
          <a:lstStyle/>
          <a:p>
            <a:pPr algn="l">
              <a:lnSpc>
                <a:spcPts val="3037"/>
              </a:lnSpc>
            </a:pPr>
            <a:r>
              <a:rPr lang="en-US" sz="2250">
                <a:solidFill>
                  <a:srgbClr val="E8F4F8"/>
                </a:solidFill>
                <a:latin typeface="IBM Plex Sans"/>
                <a:ea typeface="IBM Plex Sans"/>
                <a:cs typeface="IBM Plex Sans"/>
                <a:sym typeface="IBM Plex Sans"/>
              </a:rPr>
              <a:t>Observan, pero no interpretan el humo en tiempo real.</a:t>
            </a:r>
          </a:p>
        </p:txBody>
      </p:sp>
      <p:grpSp>
        <p:nvGrpSpPr>
          <p:cNvPr name="Group 12" id="12"/>
          <p:cNvGrpSpPr/>
          <p:nvPr/>
        </p:nvGrpSpPr>
        <p:grpSpPr>
          <a:xfrm rot="0">
            <a:off x="6667500" y="3048000"/>
            <a:ext cx="4953000" cy="4476750"/>
            <a:chOff x="0" y="0"/>
            <a:chExt cx="6604000" cy="5969000"/>
          </a:xfrm>
        </p:grpSpPr>
        <p:sp>
          <p:nvSpPr>
            <p:cNvPr name="Freeform 13" id="13"/>
            <p:cNvSpPr/>
            <p:nvPr/>
          </p:nvSpPr>
          <p:spPr>
            <a:xfrm flipH="false" flipV="false" rot="0">
              <a:off x="0" y="0"/>
              <a:ext cx="6604000" cy="5969000"/>
            </a:xfrm>
            <a:custGeom>
              <a:avLst/>
              <a:gdLst/>
              <a:ahLst/>
              <a:cxnLst/>
              <a:rect r="r" b="b" t="t" l="l"/>
              <a:pathLst>
                <a:path h="5969000" w="6604000">
                  <a:moveTo>
                    <a:pt x="0" y="0"/>
                  </a:moveTo>
                  <a:lnTo>
                    <a:pt x="6604000" y="0"/>
                  </a:lnTo>
                  <a:lnTo>
                    <a:pt x="6604000" y="5969000"/>
                  </a:lnTo>
                  <a:lnTo>
                    <a:pt x="0" y="5969000"/>
                  </a:lnTo>
                  <a:close/>
                </a:path>
              </a:pathLst>
            </a:custGeom>
            <a:solidFill>
              <a:srgbClr val="E96D21">
                <a:alpha val="53725"/>
              </a:srgbClr>
            </a:solidFill>
            <a:ln w="9525" cap="sq">
              <a:solidFill>
                <a:srgbClr val="FF7A1A">
                  <a:alpha val="53725"/>
                </a:srgbClr>
              </a:solidFill>
              <a:prstDash val="solid"/>
              <a:miter/>
            </a:ln>
          </p:spPr>
        </p:sp>
        <p:sp>
          <p:nvSpPr>
            <p:cNvPr name="TextBox 14" id="14"/>
            <p:cNvSpPr txBox="true"/>
            <p:nvPr/>
          </p:nvSpPr>
          <p:spPr>
            <a:xfrm>
              <a:off x="0" y="-38100"/>
              <a:ext cx="6604000" cy="60071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7048500" y="3552825"/>
            <a:ext cx="4191000" cy="353253"/>
          </a:xfrm>
          <a:prstGeom prst="rect">
            <a:avLst/>
          </a:prstGeom>
        </p:spPr>
        <p:txBody>
          <a:bodyPr anchor="t" rtlCol="false" tIns="0" lIns="0" bIns="0" rIns="0">
            <a:spAutoFit/>
          </a:bodyPr>
          <a:lstStyle/>
          <a:p>
            <a:pPr algn="l">
              <a:lnSpc>
                <a:spcPts val="2754"/>
              </a:lnSpc>
            </a:pPr>
            <a:r>
              <a:rPr lang="en-US" sz="2550" b="true">
                <a:solidFill>
                  <a:srgbClr val="FF3B3F"/>
                </a:solidFill>
                <a:latin typeface="Barlow Condensed Bold"/>
                <a:ea typeface="Barlow Condensed Bold"/>
                <a:cs typeface="Barlow Condensed Bold"/>
                <a:sym typeface="Barlow Condensed Bold"/>
              </a:rPr>
              <a:t>ALERTAS</a:t>
            </a:r>
          </a:p>
        </p:txBody>
      </p:sp>
      <p:sp>
        <p:nvSpPr>
          <p:cNvPr name="TextBox 16" id="16"/>
          <p:cNvSpPr txBox="true"/>
          <p:nvPr/>
        </p:nvSpPr>
        <p:spPr>
          <a:xfrm rot="0">
            <a:off x="7048500" y="4733925"/>
            <a:ext cx="4095750" cy="1128713"/>
          </a:xfrm>
          <a:prstGeom prst="rect">
            <a:avLst/>
          </a:prstGeom>
        </p:spPr>
        <p:txBody>
          <a:bodyPr anchor="t" rtlCol="false" tIns="0" lIns="0" bIns="0" rIns="0">
            <a:spAutoFit/>
          </a:bodyPr>
          <a:lstStyle/>
          <a:p>
            <a:pPr algn="l">
              <a:lnSpc>
                <a:spcPts val="3037"/>
              </a:lnSpc>
            </a:pPr>
            <a:r>
              <a:rPr lang="en-US" sz="2250">
                <a:solidFill>
                  <a:srgbClr val="E8F4F8"/>
                </a:solidFill>
                <a:latin typeface="IBM Plex Sans"/>
                <a:ea typeface="IBM Plex Sans"/>
                <a:cs typeface="IBM Plex Sans"/>
                <a:sym typeface="IBM Plex Sans"/>
              </a:rPr>
              <a:t>Llegan dispersas, sin una consola común de confirmación.</a:t>
            </a:r>
          </a:p>
        </p:txBody>
      </p:sp>
      <p:grpSp>
        <p:nvGrpSpPr>
          <p:cNvPr name="Group 17" id="17"/>
          <p:cNvGrpSpPr/>
          <p:nvPr/>
        </p:nvGrpSpPr>
        <p:grpSpPr>
          <a:xfrm rot="0">
            <a:off x="12287250" y="3048000"/>
            <a:ext cx="4953000" cy="4476816"/>
            <a:chOff x="0" y="0"/>
            <a:chExt cx="6604000" cy="5969088"/>
          </a:xfrm>
        </p:grpSpPr>
        <p:sp>
          <p:nvSpPr>
            <p:cNvPr name="Freeform 18" id="18"/>
            <p:cNvSpPr/>
            <p:nvPr/>
          </p:nvSpPr>
          <p:spPr>
            <a:xfrm flipH="false" flipV="false" rot="0">
              <a:off x="0" y="0"/>
              <a:ext cx="6604000" cy="5969088"/>
            </a:xfrm>
            <a:custGeom>
              <a:avLst/>
              <a:gdLst/>
              <a:ahLst/>
              <a:cxnLst/>
              <a:rect r="r" b="b" t="t" l="l"/>
              <a:pathLst>
                <a:path h="5969088" w="6604000">
                  <a:moveTo>
                    <a:pt x="0" y="0"/>
                  </a:moveTo>
                  <a:lnTo>
                    <a:pt x="6604000" y="0"/>
                  </a:lnTo>
                  <a:lnTo>
                    <a:pt x="6604000" y="5969088"/>
                  </a:lnTo>
                  <a:lnTo>
                    <a:pt x="0" y="5969088"/>
                  </a:lnTo>
                  <a:close/>
                </a:path>
              </a:pathLst>
            </a:custGeom>
            <a:solidFill>
              <a:srgbClr val="E96D21">
                <a:alpha val="53725"/>
              </a:srgbClr>
            </a:solidFill>
            <a:ln w="9525" cap="sq">
              <a:solidFill>
                <a:srgbClr val="FF7A1A">
                  <a:alpha val="53725"/>
                </a:srgbClr>
              </a:solidFill>
              <a:prstDash val="solid"/>
              <a:miter/>
            </a:ln>
          </p:spPr>
        </p:sp>
        <p:sp>
          <p:nvSpPr>
            <p:cNvPr name="TextBox 19" id="19"/>
            <p:cNvSpPr txBox="true"/>
            <p:nvPr/>
          </p:nvSpPr>
          <p:spPr>
            <a:xfrm>
              <a:off x="0" y="-38100"/>
              <a:ext cx="6604000" cy="6007188"/>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2668250" y="3552825"/>
            <a:ext cx="4191000" cy="353253"/>
          </a:xfrm>
          <a:prstGeom prst="rect">
            <a:avLst/>
          </a:prstGeom>
        </p:spPr>
        <p:txBody>
          <a:bodyPr anchor="t" rtlCol="false" tIns="0" lIns="0" bIns="0" rIns="0">
            <a:spAutoFit/>
          </a:bodyPr>
          <a:lstStyle/>
          <a:p>
            <a:pPr algn="l">
              <a:lnSpc>
                <a:spcPts val="2754"/>
              </a:lnSpc>
            </a:pPr>
            <a:r>
              <a:rPr lang="en-US" sz="2550" b="true">
                <a:solidFill>
                  <a:srgbClr val="FFB000"/>
                </a:solidFill>
                <a:latin typeface="Barlow Condensed Bold"/>
                <a:ea typeface="Barlow Condensed Bold"/>
                <a:cs typeface="Barlow Condensed Bold"/>
                <a:sym typeface="Barlow Condensed Bold"/>
              </a:rPr>
              <a:t>CONTEXTO</a:t>
            </a:r>
          </a:p>
        </p:txBody>
      </p:sp>
      <p:sp>
        <p:nvSpPr>
          <p:cNvPr name="TextBox 21" id="21"/>
          <p:cNvSpPr txBox="true"/>
          <p:nvPr/>
        </p:nvSpPr>
        <p:spPr>
          <a:xfrm rot="0">
            <a:off x="12668250" y="4733991"/>
            <a:ext cx="4095750" cy="747713"/>
          </a:xfrm>
          <a:prstGeom prst="rect">
            <a:avLst/>
          </a:prstGeom>
        </p:spPr>
        <p:txBody>
          <a:bodyPr anchor="t" rtlCol="false" tIns="0" lIns="0" bIns="0" rIns="0">
            <a:spAutoFit/>
          </a:bodyPr>
          <a:lstStyle/>
          <a:p>
            <a:pPr algn="l">
              <a:lnSpc>
                <a:spcPts val="3037"/>
              </a:lnSpc>
            </a:pPr>
            <a:r>
              <a:rPr lang="en-US" sz="2250">
                <a:solidFill>
                  <a:srgbClr val="E8F4F8"/>
                </a:solidFill>
                <a:latin typeface="IBM Plex Sans"/>
                <a:ea typeface="IBM Plex Sans"/>
                <a:cs typeface="IBM Plex Sans"/>
                <a:sym typeface="IBM Plex Sans"/>
              </a:rPr>
              <a:t>Falta visualizar ubicación y propagación probable.</a:t>
            </a:r>
          </a:p>
        </p:txBody>
      </p:sp>
      <p:sp>
        <p:nvSpPr>
          <p:cNvPr name="TextBox 22" id="22"/>
          <p:cNvSpPr txBox="true"/>
          <p:nvPr/>
        </p:nvSpPr>
        <p:spPr>
          <a:xfrm rot="0">
            <a:off x="3381788" y="8810691"/>
            <a:ext cx="11524423" cy="353253"/>
          </a:xfrm>
          <a:prstGeom prst="rect">
            <a:avLst/>
          </a:prstGeom>
        </p:spPr>
        <p:txBody>
          <a:bodyPr anchor="t" rtlCol="false" tIns="0" lIns="0" bIns="0" rIns="0">
            <a:spAutoFit/>
          </a:bodyPr>
          <a:lstStyle/>
          <a:p>
            <a:pPr algn="ctr">
              <a:lnSpc>
                <a:spcPts val="2754"/>
              </a:lnSpc>
              <a:spcBef>
                <a:spcPct val="0"/>
              </a:spcBef>
            </a:pPr>
            <a:r>
              <a:rPr lang="en-US" b="true" sz="2550">
                <a:solidFill>
                  <a:srgbClr val="FFFFFF"/>
                </a:solidFill>
                <a:latin typeface="Barlow Condensed Bold"/>
                <a:ea typeface="Barlow Condensed Bold"/>
                <a:cs typeface="Barlow Condensed Bold"/>
                <a:sym typeface="Barlow Condensed Bold"/>
              </a:rPr>
              <a:t>La brecha no es captar video: es convertirlo en una decisión humana oportuna, trazable y situada.</a:t>
            </a:r>
          </a:p>
        </p:txBody>
      </p:sp>
      <p:grpSp>
        <p:nvGrpSpPr>
          <p:cNvPr name="Group 23" id="23"/>
          <p:cNvGrpSpPr/>
          <p:nvPr/>
        </p:nvGrpSpPr>
        <p:grpSpPr>
          <a:xfrm rot="0">
            <a:off x="1047750" y="2952750"/>
            <a:ext cx="4953000" cy="95250"/>
            <a:chOff x="0" y="0"/>
            <a:chExt cx="6604000" cy="127000"/>
          </a:xfrm>
        </p:grpSpPr>
        <p:sp>
          <p:nvSpPr>
            <p:cNvPr name="Freeform 24" id="24"/>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FF7A1A"/>
            </a:solidFill>
            <a:ln cap="sq">
              <a:noFill/>
              <a:prstDash val="solid"/>
              <a:miter/>
            </a:ln>
          </p:spPr>
        </p:sp>
        <p:sp>
          <p:nvSpPr>
            <p:cNvPr name="TextBox 25" id="25"/>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6667500" y="2952750"/>
            <a:ext cx="4953000" cy="95250"/>
            <a:chOff x="0" y="0"/>
            <a:chExt cx="6604000" cy="127000"/>
          </a:xfrm>
        </p:grpSpPr>
        <p:sp>
          <p:nvSpPr>
            <p:cNvPr name="Freeform 27" id="27"/>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E96D21"/>
            </a:solidFill>
            <a:ln cap="sq">
              <a:noFill/>
              <a:prstDash val="solid"/>
              <a:miter/>
            </a:ln>
          </p:spPr>
        </p:sp>
        <p:sp>
          <p:nvSpPr>
            <p:cNvPr name="TextBox 28" id="28"/>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2287250" y="2952750"/>
            <a:ext cx="4953000" cy="95250"/>
            <a:chOff x="0" y="0"/>
            <a:chExt cx="6604000" cy="127000"/>
          </a:xfrm>
        </p:grpSpPr>
        <p:sp>
          <p:nvSpPr>
            <p:cNvPr name="Freeform 30" id="30"/>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E96D21"/>
            </a:solidFill>
            <a:ln cap="sq">
              <a:noFill/>
              <a:prstDash val="solid"/>
              <a:miter/>
            </a:ln>
          </p:spPr>
        </p:sp>
        <p:sp>
          <p:nvSpPr>
            <p:cNvPr name="TextBox 31" id="31"/>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1047750" y="771525"/>
            <a:ext cx="14287500" cy="643128"/>
          </a:xfrm>
          <a:prstGeom prst="rect">
            <a:avLst/>
          </a:prstGeom>
        </p:spPr>
        <p:txBody>
          <a:bodyPr anchor="t" rtlCol="false" tIns="0" lIns="0" bIns="0" rIns="0">
            <a:spAutoFit/>
          </a:bodyPr>
          <a:lstStyle/>
          <a:p>
            <a:pPr algn="l">
              <a:lnSpc>
                <a:spcPts val="4896"/>
              </a:lnSpc>
            </a:pPr>
            <a:r>
              <a:rPr lang="en-US" sz="4800" b="true">
                <a:solidFill>
                  <a:srgbClr val="E8F4F8"/>
                </a:solidFill>
                <a:latin typeface="Barlow Condensed Bold"/>
                <a:ea typeface="Barlow Condensed Bold"/>
                <a:cs typeface="Barlow Condensed Bold"/>
                <a:sym typeface="Barlow Condensed Bold"/>
              </a:rPr>
              <a:t>Objetivo general</a:t>
            </a:r>
          </a:p>
        </p:txBody>
      </p:sp>
      <p:grpSp>
        <p:nvGrpSpPr>
          <p:cNvPr name="Group 3" id="3"/>
          <p:cNvGrpSpPr/>
          <p:nvPr/>
        </p:nvGrpSpPr>
        <p:grpSpPr>
          <a:xfrm rot="0">
            <a:off x="781050" y="628650"/>
            <a:ext cx="76200" cy="895350"/>
            <a:chOff x="0" y="0"/>
            <a:chExt cx="101600" cy="1193800"/>
          </a:xfrm>
        </p:grpSpPr>
        <p:sp>
          <p:nvSpPr>
            <p:cNvPr name="Freeform 4" id="4"/>
            <p:cNvSpPr/>
            <p:nvPr/>
          </p:nvSpPr>
          <p:spPr>
            <a:xfrm flipH="false" flipV="false" rot="0">
              <a:off x="0" y="0"/>
              <a:ext cx="101600" cy="1193800"/>
            </a:xfrm>
            <a:custGeom>
              <a:avLst/>
              <a:gdLst/>
              <a:ahLst/>
              <a:cxnLst/>
              <a:rect r="r" b="b" t="t" l="l"/>
              <a:pathLst>
                <a:path h="1193800" w="101600">
                  <a:moveTo>
                    <a:pt x="0" y="0"/>
                  </a:moveTo>
                  <a:lnTo>
                    <a:pt x="101600" y="0"/>
                  </a:lnTo>
                  <a:lnTo>
                    <a:pt x="101600" y="1193800"/>
                  </a:lnTo>
                  <a:lnTo>
                    <a:pt x="0" y="1193800"/>
                  </a:lnTo>
                  <a:close/>
                </a:path>
              </a:pathLst>
            </a:custGeom>
            <a:solidFill>
              <a:srgbClr val="FF3B3F"/>
            </a:solidFill>
            <a:ln cap="sq">
              <a:noFill/>
              <a:prstDash val="solid"/>
              <a:miter/>
            </a:ln>
          </p:spPr>
        </p:sp>
        <p:sp>
          <p:nvSpPr>
            <p:cNvPr name="TextBox 5" id="5"/>
            <p:cNvSpPr txBox="true"/>
            <p:nvPr/>
          </p:nvSpPr>
          <p:spPr>
            <a:xfrm>
              <a:off x="0" y="-38100"/>
              <a:ext cx="101600" cy="1231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809750" y="2993111"/>
            <a:ext cx="14668500" cy="1695252"/>
          </a:xfrm>
          <a:prstGeom prst="rect">
            <a:avLst/>
          </a:prstGeom>
        </p:spPr>
        <p:txBody>
          <a:bodyPr anchor="t" rtlCol="false" tIns="0" lIns="0" bIns="0" rIns="0">
            <a:spAutoFit/>
          </a:bodyPr>
          <a:lstStyle/>
          <a:p>
            <a:pPr algn="ctr">
              <a:lnSpc>
                <a:spcPts val="4425"/>
              </a:lnSpc>
            </a:pPr>
            <a:r>
              <a:rPr lang="en-US" sz="3750" b="true">
                <a:solidFill>
                  <a:srgbClr val="E8F4F8"/>
                </a:solidFill>
                <a:latin typeface="Barlow Condensed Bold"/>
                <a:ea typeface="Barlow Condensed Bold"/>
                <a:cs typeface="Barlow Condensed Bold"/>
                <a:sym typeface="Barlow Condensed Bold"/>
              </a:rPr>
              <a:t>Desarrollar y evaluar un prototipo de sistema de detección temprana de incendios en ciudades y zonas pobladas, incluido el borde urbano-forestal, con cámaras IP, alertas centralizadas y simulación de propagación.</a:t>
            </a:r>
          </a:p>
        </p:txBody>
      </p:sp>
      <p:sp>
        <p:nvSpPr>
          <p:cNvPr name="TextBox 7" id="7"/>
          <p:cNvSpPr txBox="true"/>
          <p:nvPr/>
        </p:nvSpPr>
        <p:spPr>
          <a:xfrm rot="0">
            <a:off x="1047750" y="1447800"/>
            <a:ext cx="12382500" cy="344805"/>
          </a:xfrm>
          <a:prstGeom prst="rect">
            <a:avLst/>
          </a:prstGeom>
        </p:spPr>
        <p:txBody>
          <a:bodyPr anchor="t" rtlCol="false" tIns="0" lIns="0" bIns="0" rIns="0">
            <a:spAutoFit/>
          </a:bodyPr>
          <a:lstStyle/>
          <a:p>
            <a:pPr algn="l">
              <a:lnSpc>
                <a:spcPts val="2730"/>
              </a:lnSpc>
            </a:pPr>
            <a:r>
              <a:rPr lang="en-US" sz="2100">
                <a:solidFill>
                  <a:srgbClr val="FFB000"/>
                </a:solidFill>
                <a:latin typeface="IBM Plex Mono"/>
                <a:ea typeface="IBM Plex Mono"/>
                <a:cs typeface="IBM Plex Mono"/>
                <a:sym typeface="IBM Plex Mono"/>
              </a:rPr>
              <a:t>Un prototipo integrado, evaluable y centrado en la respuesta</a:t>
            </a:r>
          </a:p>
        </p:txBody>
      </p:sp>
      <p:grpSp>
        <p:nvGrpSpPr>
          <p:cNvPr name="Group 8" id="8"/>
          <p:cNvGrpSpPr/>
          <p:nvPr/>
        </p:nvGrpSpPr>
        <p:grpSpPr>
          <a:xfrm rot="0">
            <a:off x="8477250" y="2571750"/>
            <a:ext cx="1333500" cy="57150"/>
            <a:chOff x="0" y="0"/>
            <a:chExt cx="1778000" cy="76200"/>
          </a:xfrm>
        </p:grpSpPr>
        <p:sp>
          <p:nvSpPr>
            <p:cNvPr name="Freeform 9" id="9"/>
            <p:cNvSpPr/>
            <p:nvPr/>
          </p:nvSpPr>
          <p:spPr>
            <a:xfrm flipH="false" flipV="false" rot="0">
              <a:off x="0" y="0"/>
              <a:ext cx="1778000" cy="76200"/>
            </a:xfrm>
            <a:custGeom>
              <a:avLst/>
              <a:gdLst/>
              <a:ahLst/>
              <a:cxnLst/>
              <a:rect r="r" b="b" t="t" l="l"/>
              <a:pathLst>
                <a:path h="76200" w="1778000">
                  <a:moveTo>
                    <a:pt x="0" y="0"/>
                  </a:moveTo>
                  <a:lnTo>
                    <a:pt x="1778000" y="0"/>
                  </a:lnTo>
                  <a:lnTo>
                    <a:pt x="1778000" y="76200"/>
                  </a:lnTo>
                  <a:lnTo>
                    <a:pt x="0" y="76200"/>
                  </a:lnTo>
                  <a:close/>
                </a:path>
              </a:pathLst>
            </a:custGeom>
            <a:solidFill>
              <a:srgbClr val="EF6A32"/>
            </a:solidFill>
            <a:ln cap="sq">
              <a:noFill/>
              <a:prstDash val="solid"/>
              <a:miter/>
            </a:ln>
          </p:spPr>
        </p:sp>
        <p:sp>
          <p:nvSpPr>
            <p:cNvPr name="TextBox 10" id="10"/>
            <p:cNvSpPr txBox="true"/>
            <p:nvPr/>
          </p:nvSpPr>
          <p:spPr>
            <a:xfrm>
              <a:off x="0" y="-38100"/>
              <a:ext cx="1778000" cy="1143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2095500" y="6762750"/>
            <a:ext cx="4095750" cy="1524000"/>
            <a:chOff x="0" y="0"/>
            <a:chExt cx="5461000" cy="2032000"/>
          </a:xfrm>
        </p:grpSpPr>
        <p:sp>
          <p:nvSpPr>
            <p:cNvPr name="Freeform 12" id="12"/>
            <p:cNvSpPr/>
            <p:nvPr/>
          </p:nvSpPr>
          <p:spPr>
            <a:xfrm flipH="false" flipV="false" rot="0">
              <a:off x="0" y="0"/>
              <a:ext cx="5461000" cy="2032000"/>
            </a:xfrm>
            <a:custGeom>
              <a:avLst/>
              <a:gdLst/>
              <a:ahLst/>
              <a:cxnLst/>
              <a:rect r="r" b="b" t="t" l="l"/>
              <a:pathLst>
                <a:path h="2032000" w="5461000">
                  <a:moveTo>
                    <a:pt x="29535" y="0"/>
                  </a:moveTo>
                  <a:lnTo>
                    <a:pt x="5431465" y="0"/>
                  </a:lnTo>
                  <a:cubicBezTo>
                    <a:pt x="5447777" y="0"/>
                    <a:pt x="5461000" y="13223"/>
                    <a:pt x="5461000" y="29535"/>
                  </a:cubicBezTo>
                  <a:lnTo>
                    <a:pt x="5461000" y="2002465"/>
                  </a:lnTo>
                  <a:cubicBezTo>
                    <a:pt x="5461000" y="2018777"/>
                    <a:pt x="5447777" y="2032000"/>
                    <a:pt x="5431465" y="2032000"/>
                  </a:cubicBezTo>
                  <a:lnTo>
                    <a:pt x="29535" y="2032000"/>
                  </a:lnTo>
                  <a:cubicBezTo>
                    <a:pt x="13223" y="2032000"/>
                    <a:pt x="0" y="2018777"/>
                    <a:pt x="0" y="2002465"/>
                  </a:cubicBezTo>
                  <a:lnTo>
                    <a:pt x="0" y="29535"/>
                  </a:lnTo>
                  <a:cubicBezTo>
                    <a:pt x="0" y="13223"/>
                    <a:pt x="13223" y="0"/>
                    <a:pt x="29535" y="0"/>
                  </a:cubicBezTo>
                  <a:close/>
                </a:path>
              </a:pathLst>
            </a:custGeom>
            <a:solidFill>
              <a:srgbClr val="E96D21"/>
            </a:solidFill>
            <a:ln w="38100" cap="sq">
              <a:solidFill>
                <a:srgbClr val="9B3306"/>
              </a:solidFill>
              <a:prstDash val="solid"/>
              <a:miter/>
            </a:ln>
          </p:spPr>
        </p:sp>
        <p:sp>
          <p:nvSpPr>
            <p:cNvPr name="TextBox 13" id="13"/>
            <p:cNvSpPr txBox="true"/>
            <p:nvPr/>
          </p:nvSpPr>
          <p:spPr>
            <a:xfrm>
              <a:off x="0" y="9525"/>
              <a:ext cx="5461000" cy="2022475"/>
            </a:xfrm>
            <a:prstGeom prst="rect">
              <a:avLst/>
            </a:prstGeom>
          </p:spPr>
          <p:txBody>
            <a:bodyPr anchor="ctr" rtlCol="false" tIns="50800" lIns="50800" bIns="50800" rIns="50800"/>
            <a:lstStyle/>
            <a:p>
              <a:pPr algn="ctr">
                <a:lnSpc>
                  <a:spcPts val="2070"/>
                </a:lnSpc>
              </a:pPr>
              <a:r>
                <a:rPr lang="en-US" sz="1800" b="true">
                  <a:solidFill>
                    <a:srgbClr val="F4F8FF"/>
                  </a:solidFill>
                  <a:latin typeface="Montserrat Bold"/>
                  <a:ea typeface="Montserrat Bold"/>
                  <a:cs typeface="Montserrat Bold"/>
                  <a:sym typeface="Montserrat Bold"/>
                </a:rPr>
                <a:t>DETECTAR</a:t>
              </a:r>
            </a:p>
            <a:p>
              <a:pPr algn="ctr">
                <a:lnSpc>
                  <a:spcPts val="2070"/>
                </a:lnSpc>
              </a:pPr>
              <a:r>
                <a:rPr lang="en-US" sz="1800" b="true">
                  <a:solidFill>
                    <a:srgbClr val="F4F8FF"/>
                  </a:solidFill>
                  <a:latin typeface="Montserrat Bold"/>
                  <a:ea typeface="Montserrat Bold"/>
                  <a:cs typeface="Montserrat Bold"/>
                  <a:sym typeface="Montserrat Bold"/>
                </a:rPr>
                <a:t>en cámara</a:t>
              </a:r>
            </a:p>
          </p:txBody>
        </p:sp>
      </p:grpSp>
      <p:grpSp>
        <p:nvGrpSpPr>
          <p:cNvPr name="Group 14" id="14"/>
          <p:cNvGrpSpPr/>
          <p:nvPr/>
        </p:nvGrpSpPr>
        <p:grpSpPr>
          <a:xfrm rot="0">
            <a:off x="7334250" y="6762750"/>
            <a:ext cx="4095750" cy="1524000"/>
            <a:chOff x="0" y="0"/>
            <a:chExt cx="5461000" cy="2032000"/>
          </a:xfrm>
        </p:grpSpPr>
        <p:sp>
          <p:nvSpPr>
            <p:cNvPr name="Freeform 15" id="15"/>
            <p:cNvSpPr/>
            <p:nvPr/>
          </p:nvSpPr>
          <p:spPr>
            <a:xfrm flipH="false" flipV="false" rot="0">
              <a:off x="0" y="0"/>
              <a:ext cx="5461000" cy="2032000"/>
            </a:xfrm>
            <a:custGeom>
              <a:avLst/>
              <a:gdLst/>
              <a:ahLst/>
              <a:cxnLst/>
              <a:rect r="r" b="b" t="t" l="l"/>
              <a:pathLst>
                <a:path h="2032000" w="5461000">
                  <a:moveTo>
                    <a:pt x="29535" y="0"/>
                  </a:moveTo>
                  <a:lnTo>
                    <a:pt x="5431465" y="0"/>
                  </a:lnTo>
                  <a:cubicBezTo>
                    <a:pt x="5447777" y="0"/>
                    <a:pt x="5461000" y="13223"/>
                    <a:pt x="5461000" y="29535"/>
                  </a:cubicBezTo>
                  <a:lnTo>
                    <a:pt x="5461000" y="2002465"/>
                  </a:lnTo>
                  <a:cubicBezTo>
                    <a:pt x="5461000" y="2018777"/>
                    <a:pt x="5447777" y="2032000"/>
                    <a:pt x="5431465" y="2032000"/>
                  </a:cubicBezTo>
                  <a:lnTo>
                    <a:pt x="29535" y="2032000"/>
                  </a:lnTo>
                  <a:cubicBezTo>
                    <a:pt x="13223" y="2032000"/>
                    <a:pt x="0" y="2018777"/>
                    <a:pt x="0" y="2002465"/>
                  </a:cubicBezTo>
                  <a:lnTo>
                    <a:pt x="0" y="29535"/>
                  </a:lnTo>
                  <a:cubicBezTo>
                    <a:pt x="0" y="13223"/>
                    <a:pt x="13223" y="0"/>
                    <a:pt x="29535" y="0"/>
                  </a:cubicBezTo>
                  <a:close/>
                </a:path>
              </a:pathLst>
            </a:custGeom>
            <a:solidFill>
              <a:srgbClr val="D92D20"/>
            </a:solidFill>
            <a:ln w="38100" cap="sq">
              <a:solidFill>
                <a:srgbClr val="FF3B3F"/>
              </a:solidFill>
              <a:prstDash val="solid"/>
              <a:miter/>
            </a:ln>
          </p:spPr>
        </p:sp>
        <p:sp>
          <p:nvSpPr>
            <p:cNvPr name="TextBox 16" id="16"/>
            <p:cNvSpPr txBox="true"/>
            <p:nvPr/>
          </p:nvSpPr>
          <p:spPr>
            <a:xfrm>
              <a:off x="0" y="9525"/>
              <a:ext cx="5461000" cy="2022475"/>
            </a:xfrm>
            <a:prstGeom prst="rect">
              <a:avLst/>
            </a:prstGeom>
          </p:spPr>
          <p:txBody>
            <a:bodyPr anchor="ctr" rtlCol="false" tIns="50800" lIns="50800" bIns="50800" rIns="50800"/>
            <a:lstStyle/>
            <a:p>
              <a:pPr algn="ctr">
                <a:lnSpc>
                  <a:spcPts val="2070"/>
                </a:lnSpc>
              </a:pPr>
              <a:r>
                <a:rPr lang="en-US" sz="1800" b="true">
                  <a:solidFill>
                    <a:srgbClr val="F4F8FF"/>
                  </a:solidFill>
                  <a:latin typeface="Montserrat Bold"/>
                  <a:ea typeface="Montserrat Bold"/>
                  <a:cs typeface="Montserrat Bold"/>
                  <a:sym typeface="Montserrat Bold"/>
                </a:rPr>
                <a:t>CENTRALIZAR</a:t>
              </a:r>
            </a:p>
            <a:p>
              <a:pPr algn="ctr">
                <a:lnSpc>
                  <a:spcPts val="2070"/>
                </a:lnSpc>
              </a:pPr>
              <a:r>
                <a:rPr lang="en-US" sz="1800" b="true">
                  <a:solidFill>
                    <a:srgbClr val="F4F8FF"/>
                  </a:solidFill>
                  <a:latin typeface="Montserrat Bold"/>
                  <a:ea typeface="Montserrat Bold"/>
                  <a:cs typeface="Montserrat Bold"/>
                  <a:sym typeface="Montserrat Bold"/>
                </a:rPr>
                <a:t>alertas</a:t>
              </a:r>
            </a:p>
          </p:txBody>
        </p:sp>
      </p:grpSp>
      <p:grpSp>
        <p:nvGrpSpPr>
          <p:cNvPr name="Group 17" id="17"/>
          <p:cNvGrpSpPr/>
          <p:nvPr/>
        </p:nvGrpSpPr>
        <p:grpSpPr>
          <a:xfrm rot="0">
            <a:off x="12573000" y="6762750"/>
            <a:ext cx="4095750" cy="1524000"/>
            <a:chOff x="0" y="0"/>
            <a:chExt cx="5461000" cy="2032000"/>
          </a:xfrm>
        </p:grpSpPr>
        <p:sp>
          <p:nvSpPr>
            <p:cNvPr name="Freeform 18" id="18"/>
            <p:cNvSpPr/>
            <p:nvPr/>
          </p:nvSpPr>
          <p:spPr>
            <a:xfrm flipH="false" flipV="false" rot="0">
              <a:off x="0" y="0"/>
              <a:ext cx="5461000" cy="2032000"/>
            </a:xfrm>
            <a:custGeom>
              <a:avLst/>
              <a:gdLst/>
              <a:ahLst/>
              <a:cxnLst/>
              <a:rect r="r" b="b" t="t" l="l"/>
              <a:pathLst>
                <a:path h="2032000" w="5461000">
                  <a:moveTo>
                    <a:pt x="29535" y="0"/>
                  </a:moveTo>
                  <a:lnTo>
                    <a:pt x="5431465" y="0"/>
                  </a:lnTo>
                  <a:cubicBezTo>
                    <a:pt x="5447777" y="0"/>
                    <a:pt x="5461000" y="13223"/>
                    <a:pt x="5461000" y="29535"/>
                  </a:cubicBezTo>
                  <a:lnTo>
                    <a:pt x="5461000" y="2002465"/>
                  </a:lnTo>
                  <a:cubicBezTo>
                    <a:pt x="5461000" y="2018777"/>
                    <a:pt x="5447777" y="2032000"/>
                    <a:pt x="5431465" y="2032000"/>
                  </a:cubicBezTo>
                  <a:lnTo>
                    <a:pt x="29535" y="2032000"/>
                  </a:lnTo>
                  <a:cubicBezTo>
                    <a:pt x="13223" y="2032000"/>
                    <a:pt x="0" y="2018777"/>
                    <a:pt x="0" y="2002465"/>
                  </a:cubicBezTo>
                  <a:lnTo>
                    <a:pt x="0" y="29535"/>
                  </a:lnTo>
                  <a:cubicBezTo>
                    <a:pt x="0" y="13223"/>
                    <a:pt x="13223" y="0"/>
                    <a:pt x="29535" y="0"/>
                  </a:cubicBezTo>
                  <a:close/>
                </a:path>
              </a:pathLst>
            </a:custGeom>
            <a:solidFill>
              <a:srgbClr val="E96D21"/>
            </a:solidFill>
            <a:ln w="38100" cap="sq">
              <a:solidFill>
                <a:srgbClr val="9B3306"/>
              </a:solidFill>
              <a:prstDash val="solid"/>
              <a:miter/>
            </a:ln>
          </p:spPr>
        </p:sp>
        <p:sp>
          <p:nvSpPr>
            <p:cNvPr name="TextBox 19" id="19"/>
            <p:cNvSpPr txBox="true"/>
            <p:nvPr/>
          </p:nvSpPr>
          <p:spPr>
            <a:xfrm>
              <a:off x="0" y="9525"/>
              <a:ext cx="5461000" cy="2022475"/>
            </a:xfrm>
            <a:prstGeom prst="rect">
              <a:avLst/>
            </a:prstGeom>
          </p:spPr>
          <p:txBody>
            <a:bodyPr anchor="ctr" rtlCol="false" tIns="50800" lIns="50800" bIns="50800" rIns="50800"/>
            <a:lstStyle/>
            <a:p>
              <a:pPr algn="ctr">
                <a:lnSpc>
                  <a:spcPts val="2070"/>
                </a:lnSpc>
              </a:pPr>
              <a:r>
                <a:rPr lang="en-US" sz="1800" b="true">
                  <a:solidFill>
                    <a:srgbClr val="F4F8FF"/>
                  </a:solidFill>
                  <a:latin typeface="Montserrat Bold"/>
                  <a:ea typeface="Montserrat Bold"/>
                  <a:cs typeface="Montserrat Bold"/>
                  <a:sym typeface="Montserrat Bold"/>
                </a:rPr>
                <a:t>SIMULAR</a:t>
              </a:r>
            </a:p>
            <a:p>
              <a:pPr algn="ctr">
                <a:lnSpc>
                  <a:spcPts val="2070"/>
                </a:lnSpc>
              </a:pPr>
              <a:r>
                <a:rPr lang="en-US" sz="1800" b="true">
                  <a:solidFill>
                    <a:srgbClr val="F4F8FF"/>
                  </a:solidFill>
                  <a:latin typeface="Montserrat Bold"/>
                  <a:ea typeface="Montserrat Bold"/>
                  <a:cs typeface="Montserrat Bold"/>
                  <a:sym typeface="Montserrat Bold"/>
                </a:rPr>
                <a:t>propagación</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4287500" cy="629379"/>
          </a:xfrm>
          <a:prstGeom prst="rect">
            <a:avLst/>
          </a:prstGeom>
        </p:spPr>
        <p:txBody>
          <a:bodyPr anchor="t" rtlCol="false" tIns="0" lIns="0" bIns="0" rIns="0">
            <a:spAutoFit/>
          </a:bodyPr>
          <a:lstStyle/>
          <a:p>
            <a:pPr algn="l">
              <a:lnSpc>
                <a:spcPts val="4704"/>
              </a:lnSpc>
            </a:pPr>
            <a:r>
              <a:rPr lang="en-US" sz="4800" spc="-144" b="true">
                <a:solidFill>
                  <a:srgbClr val="FFF3DF"/>
                </a:solidFill>
                <a:latin typeface="Barlow Condensed Bold"/>
                <a:ea typeface="Barlow Condensed Bold"/>
                <a:cs typeface="Barlow Condensed Bold"/>
                <a:sym typeface="Barlow Condensed Bold"/>
              </a:rPr>
              <a:t>OBJETIVOS ESPECÍFICOS 1 A 3</a:t>
            </a:r>
          </a:p>
        </p:txBody>
      </p:sp>
      <p:sp>
        <p:nvSpPr>
          <p:cNvPr name="TextBox 3" id="3"/>
          <p:cNvSpPr txBox="true"/>
          <p:nvPr/>
        </p:nvSpPr>
        <p:spPr>
          <a:xfrm rot="0">
            <a:off x="1028700" y="1451610"/>
            <a:ext cx="12382500" cy="339090"/>
          </a:xfrm>
          <a:prstGeom prst="rect">
            <a:avLst/>
          </a:prstGeom>
        </p:spPr>
        <p:txBody>
          <a:bodyPr anchor="t" rtlCol="false" tIns="0" lIns="0" bIns="0" rIns="0">
            <a:spAutoFit/>
          </a:bodyPr>
          <a:lstStyle/>
          <a:p>
            <a:pPr algn="l">
              <a:lnSpc>
                <a:spcPts val="2625"/>
              </a:lnSpc>
            </a:pPr>
            <a:r>
              <a:rPr lang="en-US" sz="2100">
                <a:solidFill>
                  <a:srgbClr val="FFB000"/>
                </a:solidFill>
                <a:latin typeface="IBM Plex Mono"/>
                <a:ea typeface="IBM Plex Mono"/>
                <a:cs typeface="IBM Plex Mono"/>
                <a:sym typeface="IBM Plex Mono"/>
              </a:rPr>
              <a:t>Los tres primeros construyen el flujo de alerta</a:t>
            </a:r>
          </a:p>
        </p:txBody>
      </p:sp>
      <p:grpSp>
        <p:nvGrpSpPr>
          <p:cNvPr name="Group 4" id="4"/>
          <p:cNvGrpSpPr/>
          <p:nvPr/>
        </p:nvGrpSpPr>
        <p:grpSpPr>
          <a:xfrm rot="0">
            <a:off x="552450" y="666750"/>
            <a:ext cx="133350" cy="1123950"/>
            <a:chOff x="0" y="0"/>
            <a:chExt cx="177800" cy="1498600"/>
          </a:xfrm>
        </p:grpSpPr>
        <p:sp>
          <p:nvSpPr>
            <p:cNvPr name="Freeform 5" id="5"/>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a:ln cap="sq">
              <a:noFill/>
              <a:prstDash val="solid"/>
              <a:miter/>
            </a:ln>
          </p:spPr>
        </p:sp>
        <p:sp>
          <p:nvSpPr>
            <p:cNvPr name="TextBox 6" id="6"/>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1047750" y="2952750"/>
            <a:ext cx="4953000" cy="4572000"/>
            <a:chOff x="0" y="0"/>
            <a:chExt cx="6604000" cy="6096000"/>
          </a:xfrm>
        </p:grpSpPr>
        <p:sp>
          <p:nvSpPr>
            <p:cNvPr name="Freeform 8" id="8"/>
            <p:cNvSpPr/>
            <p:nvPr/>
          </p:nvSpPr>
          <p:spPr>
            <a:xfrm flipH="false" flipV="false" rot="0">
              <a:off x="0" y="0"/>
              <a:ext cx="6604000" cy="6096000"/>
            </a:xfrm>
            <a:custGeom>
              <a:avLst/>
              <a:gdLst/>
              <a:ahLst/>
              <a:cxnLst/>
              <a:rect r="r" b="b" t="t" l="l"/>
              <a:pathLst>
                <a:path h="6096000" w="6604000">
                  <a:moveTo>
                    <a:pt x="0" y="0"/>
                  </a:moveTo>
                  <a:lnTo>
                    <a:pt x="6604000" y="0"/>
                  </a:lnTo>
                  <a:lnTo>
                    <a:pt x="6604000" y="6096000"/>
                  </a:lnTo>
                  <a:lnTo>
                    <a:pt x="0" y="6096000"/>
                  </a:lnTo>
                  <a:close/>
                </a:path>
              </a:pathLst>
            </a:custGeom>
            <a:solidFill>
              <a:srgbClr val="E96D21">
                <a:alpha val="53725"/>
              </a:srgbClr>
            </a:solidFill>
            <a:ln w="9525" cap="sq">
              <a:solidFill>
                <a:srgbClr val="FF7A1A">
                  <a:alpha val="53725"/>
                </a:srgbClr>
              </a:solidFill>
              <a:prstDash val="solid"/>
              <a:miter/>
            </a:ln>
          </p:spPr>
        </p:sp>
        <p:sp>
          <p:nvSpPr>
            <p:cNvPr name="TextBox 9" id="9"/>
            <p:cNvSpPr txBox="true"/>
            <p:nvPr/>
          </p:nvSpPr>
          <p:spPr>
            <a:xfrm>
              <a:off x="0" y="-38100"/>
              <a:ext cx="6604000" cy="6134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1047750" y="2952750"/>
            <a:ext cx="4953000" cy="95250"/>
            <a:chOff x="0" y="0"/>
            <a:chExt cx="6604000" cy="127000"/>
          </a:xfrm>
        </p:grpSpPr>
        <p:sp>
          <p:nvSpPr>
            <p:cNvPr name="Freeform 11" id="11"/>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FF7A1A"/>
            </a:solidFill>
            <a:ln cap="sq">
              <a:noFill/>
              <a:prstDash val="solid"/>
              <a:miter/>
            </a:ln>
          </p:spPr>
        </p:sp>
        <p:sp>
          <p:nvSpPr>
            <p:cNvPr name="TextBox 12" id="12"/>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485900" y="4341971"/>
            <a:ext cx="4095750" cy="996315"/>
          </a:xfrm>
          <a:prstGeom prst="rect">
            <a:avLst/>
          </a:prstGeom>
        </p:spPr>
        <p:txBody>
          <a:bodyPr anchor="t" rtlCol="false" tIns="0" lIns="0" bIns="0" rIns="0">
            <a:spAutoFit/>
          </a:bodyPr>
          <a:lstStyle/>
          <a:p>
            <a:pPr algn="l">
              <a:lnSpc>
                <a:spcPts val="2625"/>
              </a:lnSpc>
            </a:pPr>
            <a:r>
              <a:rPr lang="en-US" sz="2100" b="true">
                <a:solidFill>
                  <a:srgbClr val="E8F4F8"/>
                </a:solidFill>
                <a:latin typeface="Montserrat Bold"/>
                <a:ea typeface="Montserrat Bold"/>
                <a:cs typeface="Montserrat Bold"/>
                <a:sym typeface="Montserrat Bold"/>
              </a:rPr>
              <a:t>Implementar deteccion de humo y fuego sobre video de cámaras.</a:t>
            </a:r>
          </a:p>
        </p:txBody>
      </p:sp>
      <p:sp>
        <p:nvSpPr>
          <p:cNvPr name="AutoShape 14" id="14"/>
          <p:cNvSpPr/>
          <p:nvPr/>
        </p:nvSpPr>
        <p:spPr>
          <a:xfrm>
            <a:off x="6057900" y="5238750"/>
            <a:ext cx="514350" cy="0"/>
          </a:xfrm>
          <a:prstGeom prst="line">
            <a:avLst/>
          </a:prstGeom>
          <a:ln cap="rnd" w="38100">
            <a:solidFill>
              <a:srgbClr val="FF7A1A"/>
            </a:solidFill>
            <a:prstDash val="solid"/>
            <a:headEnd type="none" len="sm" w="sm"/>
            <a:tailEnd type="triangle" len="med" w="lg"/>
          </a:ln>
        </p:spPr>
      </p:sp>
      <p:grpSp>
        <p:nvGrpSpPr>
          <p:cNvPr name="Group 15" id="15"/>
          <p:cNvGrpSpPr/>
          <p:nvPr/>
        </p:nvGrpSpPr>
        <p:grpSpPr>
          <a:xfrm rot="0">
            <a:off x="6667500" y="2952750"/>
            <a:ext cx="4953000" cy="4572000"/>
            <a:chOff x="0" y="0"/>
            <a:chExt cx="6604000" cy="6096000"/>
          </a:xfrm>
        </p:grpSpPr>
        <p:sp>
          <p:nvSpPr>
            <p:cNvPr name="Freeform 16" id="16"/>
            <p:cNvSpPr/>
            <p:nvPr/>
          </p:nvSpPr>
          <p:spPr>
            <a:xfrm flipH="false" flipV="false" rot="0">
              <a:off x="0" y="0"/>
              <a:ext cx="6604000" cy="6096000"/>
            </a:xfrm>
            <a:custGeom>
              <a:avLst/>
              <a:gdLst/>
              <a:ahLst/>
              <a:cxnLst/>
              <a:rect r="r" b="b" t="t" l="l"/>
              <a:pathLst>
                <a:path h="6096000" w="6604000">
                  <a:moveTo>
                    <a:pt x="0" y="0"/>
                  </a:moveTo>
                  <a:lnTo>
                    <a:pt x="6604000" y="0"/>
                  </a:lnTo>
                  <a:lnTo>
                    <a:pt x="6604000" y="6096000"/>
                  </a:lnTo>
                  <a:lnTo>
                    <a:pt x="0" y="6096000"/>
                  </a:lnTo>
                  <a:close/>
                </a:path>
              </a:pathLst>
            </a:custGeom>
            <a:solidFill>
              <a:srgbClr val="E96D21">
                <a:alpha val="53725"/>
              </a:srgbClr>
            </a:solidFill>
            <a:ln w="9525" cap="sq">
              <a:solidFill>
                <a:srgbClr val="FF7A1A">
                  <a:alpha val="53725"/>
                </a:srgbClr>
              </a:solidFill>
              <a:prstDash val="solid"/>
              <a:miter/>
            </a:ln>
          </p:spPr>
        </p:sp>
        <p:sp>
          <p:nvSpPr>
            <p:cNvPr name="TextBox 17" id="17"/>
            <p:cNvSpPr txBox="true"/>
            <p:nvPr/>
          </p:nvSpPr>
          <p:spPr>
            <a:xfrm>
              <a:off x="0" y="-38100"/>
              <a:ext cx="6604000" cy="6134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6667500" y="2952750"/>
            <a:ext cx="4953000" cy="95250"/>
            <a:chOff x="0" y="0"/>
            <a:chExt cx="6604000" cy="127000"/>
          </a:xfrm>
        </p:grpSpPr>
        <p:sp>
          <p:nvSpPr>
            <p:cNvPr name="Freeform 19" id="19"/>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E96D21"/>
            </a:solidFill>
            <a:ln cap="sq">
              <a:noFill/>
              <a:prstDash val="solid"/>
              <a:miter/>
            </a:ln>
          </p:spPr>
        </p:sp>
        <p:sp>
          <p:nvSpPr>
            <p:cNvPr name="TextBox 20" id="20"/>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7048500" y="4437221"/>
            <a:ext cx="4095750" cy="996315"/>
          </a:xfrm>
          <a:prstGeom prst="rect">
            <a:avLst/>
          </a:prstGeom>
        </p:spPr>
        <p:txBody>
          <a:bodyPr anchor="t" rtlCol="false" tIns="0" lIns="0" bIns="0" rIns="0">
            <a:spAutoFit/>
          </a:bodyPr>
          <a:lstStyle/>
          <a:p>
            <a:pPr algn="l">
              <a:lnSpc>
                <a:spcPts val="2625"/>
              </a:lnSpc>
            </a:pPr>
            <a:r>
              <a:rPr lang="en-US" sz="2100" b="true">
                <a:solidFill>
                  <a:srgbClr val="E8F4F8"/>
                </a:solidFill>
                <a:latin typeface="Montserrat Bold"/>
                <a:ea typeface="Montserrat Bold"/>
                <a:cs typeface="Montserrat Bold"/>
                <a:sym typeface="Montserrat Bold"/>
              </a:rPr>
              <a:t>Ejecutar inferencia local y validar eventos antes de escarlos.</a:t>
            </a:r>
          </a:p>
        </p:txBody>
      </p:sp>
      <p:sp>
        <p:nvSpPr>
          <p:cNvPr name="AutoShape 22" id="22"/>
          <p:cNvSpPr/>
          <p:nvPr/>
        </p:nvSpPr>
        <p:spPr>
          <a:xfrm>
            <a:off x="11677650" y="5238750"/>
            <a:ext cx="514350" cy="0"/>
          </a:xfrm>
          <a:prstGeom prst="line">
            <a:avLst/>
          </a:prstGeom>
          <a:ln cap="rnd" w="38100">
            <a:solidFill>
              <a:srgbClr val="FF7A1A"/>
            </a:solidFill>
            <a:prstDash val="solid"/>
            <a:headEnd type="none" len="sm" w="sm"/>
            <a:tailEnd type="triangle" len="med" w="lg"/>
          </a:ln>
        </p:spPr>
      </p:sp>
      <p:grpSp>
        <p:nvGrpSpPr>
          <p:cNvPr name="Group 23" id="23"/>
          <p:cNvGrpSpPr/>
          <p:nvPr/>
        </p:nvGrpSpPr>
        <p:grpSpPr>
          <a:xfrm rot="0">
            <a:off x="12287250" y="2952750"/>
            <a:ext cx="4953000" cy="4572000"/>
            <a:chOff x="0" y="0"/>
            <a:chExt cx="6604000" cy="6096000"/>
          </a:xfrm>
        </p:grpSpPr>
        <p:sp>
          <p:nvSpPr>
            <p:cNvPr name="Freeform 24" id="24"/>
            <p:cNvSpPr/>
            <p:nvPr/>
          </p:nvSpPr>
          <p:spPr>
            <a:xfrm flipH="false" flipV="false" rot="0">
              <a:off x="0" y="0"/>
              <a:ext cx="6604000" cy="6096000"/>
            </a:xfrm>
            <a:custGeom>
              <a:avLst/>
              <a:gdLst/>
              <a:ahLst/>
              <a:cxnLst/>
              <a:rect r="r" b="b" t="t" l="l"/>
              <a:pathLst>
                <a:path h="6096000" w="6604000">
                  <a:moveTo>
                    <a:pt x="0" y="0"/>
                  </a:moveTo>
                  <a:lnTo>
                    <a:pt x="6604000" y="0"/>
                  </a:lnTo>
                  <a:lnTo>
                    <a:pt x="6604000" y="6096000"/>
                  </a:lnTo>
                  <a:lnTo>
                    <a:pt x="0" y="6096000"/>
                  </a:lnTo>
                  <a:close/>
                </a:path>
              </a:pathLst>
            </a:custGeom>
            <a:solidFill>
              <a:srgbClr val="D92D20">
                <a:alpha val="53725"/>
              </a:srgbClr>
            </a:solidFill>
            <a:ln w="9525" cap="sq">
              <a:solidFill>
                <a:srgbClr val="FF7A1A">
                  <a:alpha val="53725"/>
                </a:srgbClr>
              </a:solidFill>
              <a:prstDash val="solid"/>
              <a:miter/>
            </a:ln>
          </p:spPr>
        </p:sp>
        <p:sp>
          <p:nvSpPr>
            <p:cNvPr name="TextBox 25" id="25"/>
            <p:cNvSpPr txBox="true"/>
            <p:nvPr/>
          </p:nvSpPr>
          <p:spPr>
            <a:xfrm>
              <a:off x="0" y="-38100"/>
              <a:ext cx="6604000" cy="6134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12287250" y="2952750"/>
            <a:ext cx="4953000" cy="95250"/>
            <a:chOff x="0" y="0"/>
            <a:chExt cx="6604000" cy="127000"/>
          </a:xfrm>
        </p:grpSpPr>
        <p:sp>
          <p:nvSpPr>
            <p:cNvPr name="Freeform 27" id="27"/>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E96D21"/>
            </a:solidFill>
            <a:ln cap="sq">
              <a:noFill/>
              <a:prstDash val="solid"/>
              <a:miter/>
            </a:ln>
          </p:spPr>
        </p:sp>
        <p:sp>
          <p:nvSpPr>
            <p:cNvPr name="TextBox 28" id="28"/>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12668250" y="4600575"/>
            <a:ext cx="4095750" cy="662940"/>
          </a:xfrm>
          <a:prstGeom prst="rect">
            <a:avLst/>
          </a:prstGeom>
        </p:spPr>
        <p:txBody>
          <a:bodyPr anchor="t" rtlCol="false" tIns="0" lIns="0" bIns="0" rIns="0">
            <a:spAutoFit/>
          </a:bodyPr>
          <a:lstStyle/>
          <a:p>
            <a:pPr algn="l">
              <a:lnSpc>
                <a:spcPts val="2625"/>
              </a:lnSpc>
            </a:pPr>
            <a:r>
              <a:rPr lang="en-US" sz="2100" b="true">
                <a:solidFill>
                  <a:srgbClr val="E8F4F8"/>
                </a:solidFill>
                <a:latin typeface="Montserrat Bold"/>
                <a:ea typeface="Montserrat Bold"/>
                <a:cs typeface="Montserrat Bold"/>
                <a:sym typeface="Montserrat Bold"/>
              </a:rPr>
              <a:t>Centralizar alertas y notificar a una persona responsable.</a:t>
            </a:r>
          </a:p>
        </p:txBody>
      </p:sp>
      <p:sp>
        <p:nvSpPr>
          <p:cNvPr name="TextBox 30" id="30"/>
          <p:cNvSpPr txBox="true"/>
          <p:nvPr/>
        </p:nvSpPr>
        <p:spPr>
          <a:xfrm rot="0">
            <a:off x="1485900" y="3378756"/>
            <a:ext cx="4095750" cy="565785"/>
          </a:xfrm>
          <a:prstGeom prst="rect">
            <a:avLst/>
          </a:prstGeom>
        </p:spPr>
        <p:txBody>
          <a:bodyPr anchor="t" rtlCol="false" tIns="0" lIns="0" bIns="0" rIns="0">
            <a:spAutoFit/>
          </a:bodyPr>
          <a:lstStyle/>
          <a:p>
            <a:pPr algn="ctr">
              <a:lnSpc>
                <a:spcPts val="4515"/>
              </a:lnSpc>
            </a:pPr>
            <a:r>
              <a:rPr lang="en-US" sz="3225">
                <a:solidFill>
                  <a:srgbClr val="FFF3DF"/>
                </a:solidFill>
                <a:latin typeface="Archivo Black"/>
                <a:ea typeface="Archivo Black"/>
                <a:cs typeface="Archivo Black"/>
                <a:sym typeface="Archivo Black"/>
              </a:rPr>
              <a:t>DETECTAR</a:t>
            </a:r>
          </a:p>
        </p:txBody>
      </p:sp>
      <p:sp>
        <p:nvSpPr>
          <p:cNvPr name="TextBox 31" id="31"/>
          <p:cNvSpPr txBox="true"/>
          <p:nvPr/>
        </p:nvSpPr>
        <p:spPr>
          <a:xfrm rot="0">
            <a:off x="7096125" y="3378756"/>
            <a:ext cx="4095750" cy="565785"/>
          </a:xfrm>
          <a:prstGeom prst="rect">
            <a:avLst/>
          </a:prstGeom>
        </p:spPr>
        <p:txBody>
          <a:bodyPr anchor="t" rtlCol="false" tIns="0" lIns="0" bIns="0" rIns="0">
            <a:spAutoFit/>
          </a:bodyPr>
          <a:lstStyle/>
          <a:p>
            <a:pPr algn="ctr">
              <a:lnSpc>
                <a:spcPts val="4515"/>
              </a:lnSpc>
            </a:pPr>
            <a:r>
              <a:rPr lang="en-US" sz="3225">
                <a:solidFill>
                  <a:srgbClr val="FFF3DF"/>
                </a:solidFill>
                <a:latin typeface="Archivo Black"/>
                <a:ea typeface="Archivo Black"/>
                <a:cs typeface="Archivo Black"/>
                <a:sym typeface="Archivo Black"/>
              </a:rPr>
              <a:t>CONFIRMAR</a:t>
            </a:r>
          </a:p>
        </p:txBody>
      </p:sp>
      <p:sp>
        <p:nvSpPr>
          <p:cNvPr name="TextBox 32" id="32"/>
          <p:cNvSpPr txBox="true"/>
          <p:nvPr/>
        </p:nvSpPr>
        <p:spPr>
          <a:xfrm rot="0">
            <a:off x="12715875" y="3378756"/>
            <a:ext cx="4095750" cy="565785"/>
          </a:xfrm>
          <a:prstGeom prst="rect">
            <a:avLst/>
          </a:prstGeom>
        </p:spPr>
        <p:txBody>
          <a:bodyPr anchor="t" rtlCol="false" tIns="0" lIns="0" bIns="0" rIns="0">
            <a:spAutoFit/>
          </a:bodyPr>
          <a:lstStyle/>
          <a:p>
            <a:pPr algn="ctr">
              <a:lnSpc>
                <a:spcPts val="4515"/>
              </a:lnSpc>
            </a:pPr>
            <a:r>
              <a:rPr lang="en-US" sz="3225">
                <a:solidFill>
                  <a:srgbClr val="FFF3DF"/>
                </a:solidFill>
                <a:latin typeface="Archivo Black"/>
                <a:ea typeface="Archivo Black"/>
                <a:cs typeface="Archivo Black"/>
                <a:sym typeface="Archivo Black"/>
              </a:rPr>
              <a:t>ALERTAR</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4287500" cy="629379"/>
          </a:xfrm>
          <a:prstGeom prst="rect">
            <a:avLst/>
          </a:prstGeom>
        </p:spPr>
        <p:txBody>
          <a:bodyPr anchor="t" rtlCol="false" tIns="0" lIns="0" bIns="0" rIns="0">
            <a:spAutoFit/>
          </a:bodyPr>
          <a:lstStyle/>
          <a:p>
            <a:pPr algn="l">
              <a:lnSpc>
                <a:spcPts val="4704"/>
              </a:lnSpc>
            </a:pPr>
            <a:r>
              <a:rPr lang="en-US" sz="4800" spc="-144" b="true">
                <a:solidFill>
                  <a:srgbClr val="FFF3DF"/>
                </a:solidFill>
                <a:latin typeface="Barlow Condensed Bold"/>
                <a:ea typeface="Barlow Condensed Bold"/>
                <a:cs typeface="Barlow Condensed Bold"/>
                <a:sym typeface="Barlow Condensed Bold"/>
              </a:rPr>
              <a:t>OBJETIVOS ESPECÍFICOS 4 A 6</a:t>
            </a:r>
          </a:p>
        </p:txBody>
      </p:sp>
      <p:sp>
        <p:nvSpPr>
          <p:cNvPr name="TextBox 3" id="3"/>
          <p:cNvSpPr txBox="true"/>
          <p:nvPr/>
        </p:nvSpPr>
        <p:spPr>
          <a:xfrm rot="0">
            <a:off x="1028700" y="1451610"/>
            <a:ext cx="12382500" cy="339090"/>
          </a:xfrm>
          <a:prstGeom prst="rect">
            <a:avLst/>
          </a:prstGeom>
        </p:spPr>
        <p:txBody>
          <a:bodyPr anchor="t" rtlCol="false" tIns="0" lIns="0" bIns="0" rIns="0">
            <a:spAutoFit/>
          </a:bodyPr>
          <a:lstStyle/>
          <a:p>
            <a:pPr algn="l">
              <a:lnSpc>
                <a:spcPts val="2625"/>
              </a:lnSpc>
            </a:pPr>
            <a:r>
              <a:rPr lang="en-US" sz="2100">
                <a:solidFill>
                  <a:srgbClr val="FFB000"/>
                </a:solidFill>
                <a:latin typeface="IBM Plex Mono"/>
                <a:ea typeface="IBM Plex Mono"/>
                <a:cs typeface="IBM Plex Mono"/>
                <a:sym typeface="IBM Plex Mono"/>
              </a:rPr>
              <a:t>Los tres últimos dan contexto, evidencia y respaldo</a:t>
            </a:r>
          </a:p>
        </p:txBody>
      </p:sp>
      <p:grpSp>
        <p:nvGrpSpPr>
          <p:cNvPr name="Group 4" id="4"/>
          <p:cNvGrpSpPr/>
          <p:nvPr/>
        </p:nvGrpSpPr>
        <p:grpSpPr>
          <a:xfrm rot="0">
            <a:off x="552450" y="666750"/>
            <a:ext cx="133350" cy="1123950"/>
            <a:chOff x="0" y="0"/>
            <a:chExt cx="177800" cy="1498600"/>
          </a:xfrm>
        </p:grpSpPr>
        <p:sp>
          <p:nvSpPr>
            <p:cNvPr name="Freeform 5" id="5"/>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3B3F"/>
            </a:solidFill>
            <a:ln cap="sq">
              <a:noFill/>
              <a:prstDash val="solid"/>
              <a:miter/>
            </a:ln>
          </p:spPr>
        </p:sp>
        <p:sp>
          <p:nvSpPr>
            <p:cNvPr name="TextBox 6" id="6"/>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1047750" y="2952750"/>
            <a:ext cx="4953000" cy="4572000"/>
            <a:chOff x="0" y="0"/>
            <a:chExt cx="6604000" cy="6096000"/>
          </a:xfrm>
        </p:grpSpPr>
        <p:sp>
          <p:nvSpPr>
            <p:cNvPr name="Freeform 8" id="8"/>
            <p:cNvSpPr/>
            <p:nvPr/>
          </p:nvSpPr>
          <p:spPr>
            <a:xfrm flipH="false" flipV="false" rot="0">
              <a:off x="0" y="0"/>
              <a:ext cx="6604000" cy="6096000"/>
            </a:xfrm>
            <a:custGeom>
              <a:avLst/>
              <a:gdLst/>
              <a:ahLst/>
              <a:cxnLst/>
              <a:rect r="r" b="b" t="t" l="l"/>
              <a:pathLst>
                <a:path h="6096000" w="6604000">
                  <a:moveTo>
                    <a:pt x="0" y="0"/>
                  </a:moveTo>
                  <a:lnTo>
                    <a:pt x="6604000" y="0"/>
                  </a:lnTo>
                  <a:lnTo>
                    <a:pt x="6604000" y="6096000"/>
                  </a:lnTo>
                  <a:lnTo>
                    <a:pt x="0" y="6096000"/>
                  </a:lnTo>
                  <a:close/>
                </a:path>
              </a:pathLst>
            </a:custGeom>
            <a:solidFill>
              <a:srgbClr val="E96D21">
                <a:alpha val="53725"/>
              </a:srgbClr>
            </a:solidFill>
            <a:ln w="9525" cap="sq">
              <a:solidFill>
                <a:srgbClr val="28526A">
                  <a:alpha val="53725"/>
                </a:srgbClr>
              </a:solidFill>
              <a:prstDash val="solid"/>
              <a:miter/>
            </a:ln>
          </p:spPr>
        </p:sp>
        <p:sp>
          <p:nvSpPr>
            <p:cNvPr name="TextBox 9" id="9"/>
            <p:cNvSpPr txBox="true"/>
            <p:nvPr/>
          </p:nvSpPr>
          <p:spPr>
            <a:xfrm>
              <a:off x="0" y="-38100"/>
              <a:ext cx="6604000" cy="6134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1047750" y="2952750"/>
            <a:ext cx="4953000" cy="95250"/>
            <a:chOff x="0" y="0"/>
            <a:chExt cx="6604000" cy="127000"/>
          </a:xfrm>
        </p:grpSpPr>
        <p:sp>
          <p:nvSpPr>
            <p:cNvPr name="Freeform 11" id="11"/>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FF7A1A"/>
            </a:solidFill>
            <a:ln cap="sq">
              <a:noFill/>
              <a:prstDash val="solid"/>
              <a:miter/>
            </a:ln>
          </p:spPr>
        </p:sp>
        <p:sp>
          <p:nvSpPr>
            <p:cNvPr name="TextBox 12" id="12"/>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485900" y="4341971"/>
            <a:ext cx="4095750" cy="662940"/>
          </a:xfrm>
          <a:prstGeom prst="rect">
            <a:avLst/>
          </a:prstGeom>
        </p:spPr>
        <p:txBody>
          <a:bodyPr anchor="t" rtlCol="false" tIns="0" lIns="0" bIns="0" rIns="0">
            <a:spAutoFit/>
          </a:bodyPr>
          <a:lstStyle/>
          <a:p>
            <a:pPr algn="l">
              <a:lnSpc>
                <a:spcPts val="2625"/>
              </a:lnSpc>
            </a:pPr>
            <a:r>
              <a:rPr lang="en-US" sz="2100" b="true">
                <a:solidFill>
                  <a:srgbClr val="E8F4F8"/>
                </a:solidFill>
                <a:latin typeface="Montserrat Bold"/>
                <a:ea typeface="Montserrat Bold"/>
                <a:cs typeface="Montserrat Bold"/>
                <a:sym typeface="Montserrat Bold"/>
              </a:rPr>
              <a:t>Visualizar una estimacion de propagacion sobre el mapa</a:t>
            </a:r>
          </a:p>
        </p:txBody>
      </p:sp>
      <p:sp>
        <p:nvSpPr>
          <p:cNvPr name="AutoShape 14" id="14"/>
          <p:cNvSpPr/>
          <p:nvPr/>
        </p:nvSpPr>
        <p:spPr>
          <a:xfrm>
            <a:off x="6057900" y="5238750"/>
            <a:ext cx="514350" cy="0"/>
          </a:xfrm>
          <a:prstGeom prst="line">
            <a:avLst/>
          </a:prstGeom>
          <a:ln cap="rnd" w="38100">
            <a:solidFill>
              <a:srgbClr val="FF7A1A"/>
            </a:solidFill>
            <a:prstDash val="solid"/>
            <a:headEnd type="none" len="sm" w="sm"/>
            <a:tailEnd type="triangle" len="med" w="lg"/>
          </a:ln>
        </p:spPr>
      </p:sp>
      <p:grpSp>
        <p:nvGrpSpPr>
          <p:cNvPr name="Group 15" id="15"/>
          <p:cNvGrpSpPr/>
          <p:nvPr/>
        </p:nvGrpSpPr>
        <p:grpSpPr>
          <a:xfrm rot="0">
            <a:off x="6667500" y="2952750"/>
            <a:ext cx="4953000" cy="4572000"/>
            <a:chOff x="0" y="0"/>
            <a:chExt cx="6604000" cy="6096000"/>
          </a:xfrm>
        </p:grpSpPr>
        <p:sp>
          <p:nvSpPr>
            <p:cNvPr name="Freeform 16" id="16"/>
            <p:cNvSpPr/>
            <p:nvPr/>
          </p:nvSpPr>
          <p:spPr>
            <a:xfrm flipH="false" flipV="false" rot="0">
              <a:off x="0" y="0"/>
              <a:ext cx="6604000" cy="6096000"/>
            </a:xfrm>
            <a:custGeom>
              <a:avLst/>
              <a:gdLst/>
              <a:ahLst/>
              <a:cxnLst/>
              <a:rect r="r" b="b" t="t" l="l"/>
              <a:pathLst>
                <a:path h="6096000" w="6604000">
                  <a:moveTo>
                    <a:pt x="0" y="0"/>
                  </a:moveTo>
                  <a:lnTo>
                    <a:pt x="6604000" y="0"/>
                  </a:lnTo>
                  <a:lnTo>
                    <a:pt x="6604000" y="6096000"/>
                  </a:lnTo>
                  <a:lnTo>
                    <a:pt x="0" y="6096000"/>
                  </a:lnTo>
                  <a:close/>
                </a:path>
              </a:pathLst>
            </a:custGeom>
            <a:solidFill>
              <a:srgbClr val="E96D21">
                <a:alpha val="53725"/>
              </a:srgbClr>
            </a:solidFill>
            <a:ln w="9525" cap="sq">
              <a:solidFill>
                <a:srgbClr val="28526A">
                  <a:alpha val="53725"/>
                </a:srgbClr>
              </a:solidFill>
              <a:prstDash val="solid"/>
              <a:miter/>
            </a:ln>
          </p:spPr>
        </p:sp>
        <p:sp>
          <p:nvSpPr>
            <p:cNvPr name="TextBox 17" id="17"/>
            <p:cNvSpPr txBox="true"/>
            <p:nvPr/>
          </p:nvSpPr>
          <p:spPr>
            <a:xfrm>
              <a:off x="0" y="-38100"/>
              <a:ext cx="6604000" cy="6134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6667500" y="2952750"/>
            <a:ext cx="4953000" cy="95250"/>
            <a:chOff x="0" y="0"/>
            <a:chExt cx="6604000" cy="127000"/>
          </a:xfrm>
        </p:grpSpPr>
        <p:sp>
          <p:nvSpPr>
            <p:cNvPr name="Freeform 19" id="19"/>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E96D21"/>
            </a:solidFill>
            <a:ln cap="sq">
              <a:noFill/>
              <a:prstDash val="solid"/>
              <a:miter/>
            </a:ln>
          </p:spPr>
        </p:sp>
        <p:sp>
          <p:nvSpPr>
            <p:cNvPr name="TextBox 20" id="20"/>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7048500" y="4437221"/>
            <a:ext cx="4095750" cy="662940"/>
          </a:xfrm>
          <a:prstGeom prst="rect">
            <a:avLst/>
          </a:prstGeom>
        </p:spPr>
        <p:txBody>
          <a:bodyPr anchor="t" rtlCol="false" tIns="0" lIns="0" bIns="0" rIns="0">
            <a:spAutoFit/>
          </a:bodyPr>
          <a:lstStyle/>
          <a:p>
            <a:pPr algn="l">
              <a:lnSpc>
                <a:spcPts val="2625"/>
              </a:lnSpc>
            </a:pPr>
            <a:r>
              <a:rPr lang="en-US" sz="2100" b="true">
                <a:solidFill>
                  <a:srgbClr val="E8F4F8"/>
                </a:solidFill>
                <a:latin typeface="Montserrat Bold"/>
                <a:ea typeface="Montserrat Bold"/>
                <a:cs typeface="Montserrat Bold"/>
                <a:sym typeface="Montserrat Bold"/>
              </a:rPr>
              <a:t>Medir desempeño, latencia y utilidad del prototipo</a:t>
            </a:r>
          </a:p>
        </p:txBody>
      </p:sp>
      <p:sp>
        <p:nvSpPr>
          <p:cNvPr name="AutoShape 22" id="22"/>
          <p:cNvSpPr/>
          <p:nvPr/>
        </p:nvSpPr>
        <p:spPr>
          <a:xfrm>
            <a:off x="11677650" y="5238750"/>
            <a:ext cx="514350" cy="0"/>
          </a:xfrm>
          <a:prstGeom prst="line">
            <a:avLst/>
          </a:prstGeom>
          <a:ln cap="rnd" w="38100">
            <a:solidFill>
              <a:srgbClr val="FF7A1A"/>
            </a:solidFill>
            <a:prstDash val="solid"/>
            <a:headEnd type="none" len="sm" w="sm"/>
            <a:tailEnd type="triangle" len="med" w="lg"/>
          </a:ln>
        </p:spPr>
      </p:sp>
      <p:grpSp>
        <p:nvGrpSpPr>
          <p:cNvPr name="Group 23" id="23"/>
          <p:cNvGrpSpPr/>
          <p:nvPr/>
        </p:nvGrpSpPr>
        <p:grpSpPr>
          <a:xfrm rot="0">
            <a:off x="12287250" y="2952750"/>
            <a:ext cx="4953000" cy="4572000"/>
            <a:chOff x="0" y="0"/>
            <a:chExt cx="6604000" cy="6096000"/>
          </a:xfrm>
        </p:grpSpPr>
        <p:sp>
          <p:nvSpPr>
            <p:cNvPr name="Freeform 24" id="24"/>
            <p:cNvSpPr/>
            <p:nvPr/>
          </p:nvSpPr>
          <p:spPr>
            <a:xfrm flipH="false" flipV="false" rot="0">
              <a:off x="0" y="0"/>
              <a:ext cx="6604000" cy="6096000"/>
            </a:xfrm>
            <a:custGeom>
              <a:avLst/>
              <a:gdLst/>
              <a:ahLst/>
              <a:cxnLst/>
              <a:rect r="r" b="b" t="t" l="l"/>
              <a:pathLst>
                <a:path h="6096000" w="6604000">
                  <a:moveTo>
                    <a:pt x="0" y="0"/>
                  </a:moveTo>
                  <a:lnTo>
                    <a:pt x="6604000" y="0"/>
                  </a:lnTo>
                  <a:lnTo>
                    <a:pt x="6604000" y="6096000"/>
                  </a:lnTo>
                  <a:lnTo>
                    <a:pt x="0" y="6096000"/>
                  </a:lnTo>
                  <a:close/>
                </a:path>
              </a:pathLst>
            </a:custGeom>
            <a:solidFill>
              <a:srgbClr val="D92D20">
                <a:alpha val="53725"/>
              </a:srgbClr>
            </a:solidFill>
            <a:ln w="9525" cap="sq">
              <a:solidFill>
                <a:srgbClr val="28526A">
                  <a:alpha val="53725"/>
                </a:srgbClr>
              </a:solidFill>
              <a:prstDash val="solid"/>
              <a:miter/>
            </a:ln>
          </p:spPr>
        </p:sp>
        <p:sp>
          <p:nvSpPr>
            <p:cNvPr name="TextBox 25" id="25"/>
            <p:cNvSpPr txBox="true"/>
            <p:nvPr/>
          </p:nvSpPr>
          <p:spPr>
            <a:xfrm>
              <a:off x="0" y="-38100"/>
              <a:ext cx="6604000" cy="6134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12287250" y="2952750"/>
            <a:ext cx="4953000" cy="95250"/>
            <a:chOff x="0" y="0"/>
            <a:chExt cx="6604000" cy="127000"/>
          </a:xfrm>
        </p:grpSpPr>
        <p:sp>
          <p:nvSpPr>
            <p:cNvPr name="Freeform 27" id="27"/>
            <p:cNvSpPr/>
            <p:nvPr/>
          </p:nvSpPr>
          <p:spPr>
            <a:xfrm flipH="false" flipV="false" rot="0">
              <a:off x="0" y="0"/>
              <a:ext cx="6604000" cy="127000"/>
            </a:xfrm>
            <a:custGeom>
              <a:avLst/>
              <a:gdLst/>
              <a:ahLst/>
              <a:cxnLst/>
              <a:rect r="r" b="b" t="t" l="l"/>
              <a:pathLst>
                <a:path h="127000" w="6604000">
                  <a:moveTo>
                    <a:pt x="0" y="0"/>
                  </a:moveTo>
                  <a:lnTo>
                    <a:pt x="6604000" y="0"/>
                  </a:lnTo>
                  <a:lnTo>
                    <a:pt x="6604000" y="127000"/>
                  </a:lnTo>
                  <a:lnTo>
                    <a:pt x="0" y="127000"/>
                  </a:lnTo>
                  <a:close/>
                </a:path>
              </a:pathLst>
            </a:custGeom>
            <a:solidFill>
              <a:srgbClr val="E96D21"/>
            </a:solidFill>
            <a:ln cap="sq">
              <a:noFill/>
              <a:prstDash val="solid"/>
              <a:miter/>
            </a:ln>
          </p:spPr>
        </p:sp>
        <p:sp>
          <p:nvSpPr>
            <p:cNvPr name="TextBox 28" id="28"/>
            <p:cNvSpPr txBox="true"/>
            <p:nvPr/>
          </p:nvSpPr>
          <p:spPr>
            <a:xfrm>
              <a:off x="0" y="-38100"/>
              <a:ext cx="6604000" cy="165100"/>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12668250" y="4600575"/>
            <a:ext cx="4095750" cy="996315"/>
          </a:xfrm>
          <a:prstGeom prst="rect">
            <a:avLst/>
          </a:prstGeom>
        </p:spPr>
        <p:txBody>
          <a:bodyPr anchor="t" rtlCol="false" tIns="0" lIns="0" bIns="0" rIns="0">
            <a:spAutoFit/>
          </a:bodyPr>
          <a:lstStyle/>
          <a:p>
            <a:pPr algn="l">
              <a:lnSpc>
                <a:spcPts val="2625"/>
              </a:lnSpc>
            </a:pPr>
            <a:r>
              <a:rPr lang="en-US" sz="2100" b="true">
                <a:solidFill>
                  <a:srgbClr val="E8F4F8"/>
                </a:solidFill>
                <a:latin typeface="Montserrat Bold"/>
                <a:ea typeface="Montserrat Bold"/>
                <a:cs typeface="Montserrat Bold"/>
                <a:sym typeface="Montserrat Bold"/>
              </a:rPr>
              <a:t>Incorporar seguridad, privacidad y criterios eticos desde el diseño.</a:t>
            </a:r>
          </a:p>
        </p:txBody>
      </p:sp>
      <p:sp>
        <p:nvSpPr>
          <p:cNvPr name="TextBox 30" id="30"/>
          <p:cNvSpPr txBox="true"/>
          <p:nvPr/>
        </p:nvSpPr>
        <p:spPr>
          <a:xfrm rot="0">
            <a:off x="1485900" y="3378756"/>
            <a:ext cx="4095750" cy="565785"/>
          </a:xfrm>
          <a:prstGeom prst="rect">
            <a:avLst/>
          </a:prstGeom>
        </p:spPr>
        <p:txBody>
          <a:bodyPr anchor="t" rtlCol="false" tIns="0" lIns="0" bIns="0" rIns="0">
            <a:spAutoFit/>
          </a:bodyPr>
          <a:lstStyle/>
          <a:p>
            <a:pPr algn="ctr">
              <a:lnSpc>
                <a:spcPts val="4515"/>
              </a:lnSpc>
            </a:pPr>
            <a:r>
              <a:rPr lang="en-US" sz="3225">
                <a:solidFill>
                  <a:srgbClr val="FFF3DF"/>
                </a:solidFill>
                <a:latin typeface="Archivo Black"/>
                <a:ea typeface="Archivo Black"/>
                <a:cs typeface="Archivo Black"/>
                <a:sym typeface="Archivo Black"/>
              </a:rPr>
              <a:t>SIMULAR</a:t>
            </a:r>
          </a:p>
        </p:txBody>
      </p:sp>
      <p:sp>
        <p:nvSpPr>
          <p:cNvPr name="TextBox 31" id="31"/>
          <p:cNvSpPr txBox="true"/>
          <p:nvPr/>
        </p:nvSpPr>
        <p:spPr>
          <a:xfrm rot="0">
            <a:off x="7096125" y="3378756"/>
            <a:ext cx="4095750" cy="565785"/>
          </a:xfrm>
          <a:prstGeom prst="rect">
            <a:avLst/>
          </a:prstGeom>
        </p:spPr>
        <p:txBody>
          <a:bodyPr anchor="t" rtlCol="false" tIns="0" lIns="0" bIns="0" rIns="0">
            <a:spAutoFit/>
          </a:bodyPr>
          <a:lstStyle/>
          <a:p>
            <a:pPr algn="ctr">
              <a:lnSpc>
                <a:spcPts val="4515"/>
              </a:lnSpc>
            </a:pPr>
            <a:r>
              <a:rPr lang="en-US" sz="3225">
                <a:solidFill>
                  <a:srgbClr val="FFF3DF"/>
                </a:solidFill>
                <a:latin typeface="Archivo Black"/>
                <a:ea typeface="Archivo Black"/>
                <a:cs typeface="Archivo Black"/>
                <a:sym typeface="Archivo Black"/>
              </a:rPr>
              <a:t>EVALUAR</a:t>
            </a:r>
          </a:p>
        </p:txBody>
      </p:sp>
      <p:sp>
        <p:nvSpPr>
          <p:cNvPr name="TextBox 32" id="32"/>
          <p:cNvSpPr txBox="true"/>
          <p:nvPr/>
        </p:nvSpPr>
        <p:spPr>
          <a:xfrm rot="0">
            <a:off x="12715875" y="3378756"/>
            <a:ext cx="4095750" cy="565785"/>
          </a:xfrm>
          <a:prstGeom prst="rect">
            <a:avLst/>
          </a:prstGeom>
        </p:spPr>
        <p:txBody>
          <a:bodyPr anchor="t" rtlCol="false" tIns="0" lIns="0" bIns="0" rIns="0">
            <a:spAutoFit/>
          </a:bodyPr>
          <a:lstStyle/>
          <a:p>
            <a:pPr algn="ctr">
              <a:lnSpc>
                <a:spcPts val="4515"/>
              </a:lnSpc>
            </a:pPr>
            <a:r>
              <a:rPr lang="en-US" sz="3225">
                <a:solidFill>
                  <a:srgbClr val="FFF3DF"/>
                </a:solidFill>
                <a:latin typeface="Archivo Black"/>
                <a:ea typeface="Archivo Black"/>
                <a:cs typeface="Archivo Black"/>
                <a:sym typeface="Archivo Black"/>
              </a:rPr>
              <a:t>PROTEGER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2100F"/>
        </a:solidFill>
      </p:bgPr>
    </p:bg>
    <p:spTree>
      <p:nvGrpSpPr>
        <p:cNvPr id="1" name=""/>
        <p:cNvGrpSpPr/>
        <p:nvPr/>
      </p:nvGrpSpPr>
      <p:grpSpPr>
        <a:xfrm>
          <a:off x="0" y="0"/>
          <a:ext cx="0" cy="0"/>
          <a:chOff x="0" y="0"/>
          <a:chExt cx="0" cy="0"/>
        </a:xfrm>
      </p:grpSpPr>
      <p:sp>
        <p:nvSpPr>
          <p:cNvPr name="Freeform 2" id="2"/>
          <p:cNvSpPr/>
          <p:nvPr/>
        </p:nvSpPr>
        <p:spPr>
          <a:xfrm flipH="false" flipV="false" rot="0">
            <a:off x="10001250" y="0"/>
            <a:ext cx="8286750" cy="10287000"/>
          </a:xfrm>
          <a:custGeom>
            <a:avLst/>
            <a:gdLst/>
            <a:ahLst/>
            <a:cxnLst/>
            <a:rect r="r" b="b" t="t" l="l"/>
            <a:pathLst>
              <a:path h="10287000" w="8286750">
                <a:moveTo>
                  <a:pt x="0" y="0"/>
                </a:moveTo>
                <a:lnTo>
                  <a:pt x="8286750" y="0"/>
                </a:lnTo>
                <a:lnTo>
                  <a:pt x="8286750" y="10287000"/>
                </a:lnTo>
                <a:lnTo>
                  <a:pt x="0" y="10287000"/>
                </a:lnTo>
                <a:lnTo>
                  <a:pt x="0" y="0"/>
                </a:lnTo>
                <a:close/>
              </a:path>
            </a:pathLst>
          </a:custGeom>
          <a:blipFill>
            <a:blip r:embed="rId2"/>
            <a:stretch>
              <a:fillRect l="0" t="-34" r="0" b="-34"/>
            </a:stretch>
          </a:blipFill>
          <a:ln cap="sq">
            <a:noFill/>
            <a:prstDash val="solid"/>
            <a:miter/>
          </a:ln>
        </p:spPr>
      </p:sp>
      <p:grpSp>
        <p:nvGrpSpPr>
          <p:cNvPr name="Group 3" id="3"/>
          <p:cNvGrpSpPr/>
          <p:nvPr/>
        </p:nvGrpSpPr>
        <p:grpSpPr>
          <a:xfrm rot="0">
            <a:off x="0" y="0"/>
            <a:ext cx="323850" cy="10287000"/>
            <a:chOff x="0" y="0"/>
            <a:chExt cx="431800" cy="13716000"/>
          </a:xfrm>
        </p:grpSpPr>
        <p:sp>
          <p:nvSpPr>
            <p:cNvPr name="Freeform 4" id="4"/>
            <p:cNvSpPr/>
            <p:nvPr/>
          </p:nvSpPr>
          <p:spPr>
            <a:xfrm flipH="false" flipV="false" rot="0">
              <a:off x="0" y="0"/>
              <a:ext cx="431800" cy="13716000"/>
            </a:xfrm>
            <a:custGeom>
              <a:avLst/>
              <a:gdLst/>
              <a:ahLst/>
              <a:cxnLst/>
              <a:rect r="r" b="b" t="t" l="l"/>
              <a:pathLst>
                <a:path h="13716000" w="431800">
                  <a:moveTo>
                    <a:pt x="0" y="0"/>
                  </a:moveTo>
                  <a:lnTo>
                    <a:pt x="431800" y="0"/>
                  </a:lnTo>
                  <a:lnTo>
                    <a:pt x="431800" y="13716000"/>
                  </a:lnTo>
                  <a:lnTo>
                    <a:pt x="0" y="13716000"/>
                  </a:lnTo>
                  <a:close/>
                </a:path>
              </a:pathLst>
            </a:custGeom>
            <a:solidFill>
              <a:srgbClr val="FF5A1F"/>
            </a:solidFill>
            <a:ln cap="sq">
              <a:noFill/>
              <a:prstDash val="solid"/>
              <a:miter/>
            </a:ln>
          </p:spPr>
        </p:sp>
        <p:sp>
          <p:nvSpPr>
            <p:cNvPr name="TextBox 5" id="5"/>
            <p:cNvSpPr txBox="true"/>
            <p:nvPr/>
          </p:nvSpPr>
          <p:spPr>
            <a:xfrm>
              <a:off x="0" y="-38100"/>
              <a:ext cx="4318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28700" y="1936971"/>
            <a:ext cx="8191500" cy="1454526"/>
          </a:xfrm>
          <a:prstGeom prst="rect">
            <a:avLst/>
          </a:prstGeom>
        </p:spPr>
        <p:txBody>
          <a:bodyPr anchor="t" rtlCol="false" tIns="0" lIns="0" bIns="0" rIns="0">
            <a:spAutoFit/>
          </a:bodyPr>
          <a:lstStyle/>
          <a:p>
            <a:pPr algn="l">
              <a:lnSpc>
                <a:spcPts val="5586"/>
              </a:lnSpc>
            </a:pPr>
            <a:r>
              <a:rPr lang="en-US" sz="5700" spc="-171" b="true">
                <a:solidFill>
                  <a:srgbClr val="FFF3DF"/>
                </a:solidFill>
                <a:latin typeface="Barlow Condensed Bold"/>
                <a:ea typeface="Barlow Condensed Bold"/>
                <a:cs typeface="Barlow Condensed Bold"/>
                <a:sym typeface="Barlow Condensed Bold"/>
              </a:rPr>
              <a:t>¿Que </a:t>
            </a:r>
          </a:p>
          <a:p>
            <a:pPr algn="l">
              <a:lnSpc>
                <a:spcPts val="5586"/>
              </a:lnSpc>
            </a:pPr>
            <a:r>
              <a:rPr lang="en-US" sz="5700" spc="-171" b="true">
                <a:solidFill>
                  <a:srgbClr val="FFF3DF"/>
                </a:solidFill>
                <a:latin typeface="Barlow Condensed Bold"/>
                <a:ea typeface="Barlow Condensed Bold"/>
                <a:cs typeface="Barlow Condensed Bold"/>
                <a:sym typeface="Barlow Condensed Bold"/>
              </a:rPr>
              <a:t>es FireWatch?</a:t>
            </a:r>
          </a:p>
        </p:txBody>
      </p:sp>
      <p:sp>
        <p:nvSpPr>
          <p:cNvPr name="TextBox 7" id="7"/>
          <p:cNvSpPr txBox="true"/>
          <p:nvPr/>
        </p:nvSpPr>
        <p:spPr>
          <a:xfrm rot="0">
            <a:off x="1144938" y="5124450"/>
            <a:ext cx="7524750" cy="1707211"/>
          </a:xfrm>
          <a:prstGeom prst="rect">
            <a:avLst/>
          </a:prstGeom>
        </p:spPr>
        <p:txBody>
          <a:bodyPr anchor="t" rtlCol="false" tIns="0" lIns="0" bIns="0" rIns="0">
            <a:spAutoFit/>
          </a:bodyPr>
          <a:lstStyle/>
          <a:p>
            <a:pPr algn="l">
              <a:lnSpc>
                <a:spcPts val="2730"/>
              </a:lnSpc>
            </a:pPr>
            <a:r>
              <a:rPr lang="en-US" sz="2100">
                <a:solidFill>
                  <a:srgbClr val="FFF3DF"/>
                </a:solidFill>
                <a:latin typeface="Montserrat"/>
                <a:ea typeface="Montserrat"/>
                <a:cs typeface="Montserrat"/>
                <a:sym typeface="Montserrat"/>
              </a:rPr>
              <a:t>FireWatch es un software que detecta humo y fuego de una camara atravez de un modelo IA entrenado para la deteccion, concentra la captura y entrega una alerta a la estacion de bomberos mas cercana; la cual el operador valida y decide. </a:t>
            </a:r>
          </a:p>
        </p:txBody>
      </p:sp>
      <p:grpSp>
        <p:nvGrpSpPr>
          <p:cNvPr name="Group 8" id="8"/>
          <p:cNvGrpSpPr/>
          <p:nvPr/>
        </p:nvGrpSpPr>
        <p:grpSpPr>
          <a:xfrm rot="0">
            <a:off x="1028700" y="4547798"/>
            <a:ext cx="1333500" cy="57150"/>
            <a:chOff x="0" y="0"/>
            <a:chExt cx="1778000" cy="76200"/>
          </a:xfrm>
        </p:grpSpPr>
        <p:sp>
          <p:nvSpPr>
            <p:cNvPr name="Freeform 9" id="9"/>
            <p:cNvSpPr/>
            <p:nvPr/>
          </p:nvSpPr>
          <p:spPr>
            <a:xfrm flipH="false" flipV="false" rot="0">
              <a:off x="0" y="0"/>
              <a:ext cx="1778000" cy="76200"/>
            </a:xfrm>
            <a:custGeom>
              <a:avLst/>
              <a:gdLst/>
              <a:ahLst/>
              <a:cxnLst/>
              <a:rect r="r" b="b" t="t" l="l"/>
              <a:pathLst>
                <a:path h="76200" w="1778000">
                  <a:moveTo>
                    <a:pt x="0" y="0"/>
                  </a:moveTo>
                  <a:lnTo>
                    <a:pt x="1778000" y="0"/>
                  </a:lnTo>
                  <a:lnTo>
                    <a:pt x="1778000" y="76200"/>
                  </a:lnTo>
                  <a:lnTo>
                    <a:pt x="0" y="76200"/>
                  </a:lnTo>
                  <a:close/>
                </a:path>
              </a:pathLst>
            </a:custGeom>
            <a:solidFill>
              <a:srgbClr val="EF6A32"/>
            </a:solidFill>
            <a:ln cap="sq">
              <a:noFill/>
              <a:prstDash val="solid"/>
              <a:miter/>
            </a:ln>
          </p:spPr>
        </p:sp>
        <p:sp>
          <p:nvSpPr>
            <p:cNvPr name="TextBox 10" id="10"/>
            <p:cNvSpPr txBox="true"/>
            <p:nvPr/>
          </p:nvSpPr>
          <p:spPr>
            <a:xfrm>
              <a:off x="0" y="-38100"/>
              <a:ext cx="1778000" cy="1143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2100F"/>
        </a:solidFill>
      </p:bgPr>
    </p:bg>
    <p:spTree>
      <p:nvGrpSpPr>
        <p:cNvPr id="1" name=""/>
        <p:cNvGrpSpPr/>
        <p:nvPr/>
      </p:nvGrpSpPr>
      <p:grpSpPr>
        <a:xfrm>
          <a:off x="0" y="0"/>
          <a:ext cx="0" cy="0"/>
          <a:chOff x="0" y="0"/>
          <a:chExt cx="0" cy="0"/>
        </a:xfrm>
      </p:grpSpPr>
      <p:grpSp>
        <p:nvGrpSpPr>
          <p:cNvPr name="Group 2" id="2"/>
          <p:cNvGrpSpPr/>
          <p:nvPr/>
        </p:nvGrpSpPr>
        <p:grpSpPr>
          <a:xfrm rot="0">
            <a:off x="552450" y="666750"/>
            <a:ext cx="133350" cy="1123950"/>
            <a:chOff x="0" y="0"/>
            <a:chExt cx="177800" cy="1498600"/>
          </a:xfrm>
        </p:grpSpPr>
        <p:sp>
          <p:nvSpPr>
            <p:cNvPr name="Freeform 3" id="3"/>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a:ln cap="sq">
              <a:noFill/>
              <a:prstDash val="solid"/>
              <a:miter/>
            </a:ln>
          </p:spPr>
        </p:sp>
        <p:sp>
          <p:nvSpPr>
            <p:cNvPr name="TextBox 4" id="4"/>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952500" y="2381250"/>
            <a:ext cx="2857500" cy="952500"/>
            <a:chOff x="0" y="0"/>
            <a:chExt cx="3810000" cy="1270000"/>
          </a:xfrm>
        </p:grpSpPr>
        <p:sp>
          <p:nvSpPr>
            <p:cNvPr name="Freeform 6" id="6"/>
            <p:cNvSpPr/>
            <p:nvPr/>
          </p:nvSpPr>
          <p:spPr>
            <a:xfrm flipH="false" flipV="false" rot="0">
              <a:off x="0" y="0"/>
              <a:ext cx="3810000" cy="1270000"/>
            </a:xfrm>
            <a:custGeom>
              <a:avLst/>
              <a:gdLst/>
              <a:ahLst/>
              <a:cxnLst/>
              <a:rect r="r" b="b" t="t" l="l"/>
              <a:pathLst>
                <a:path h="1270000" w="3810000">
                  <a:moveTo>
                    <a:pt x="76200" y="0"/>
                  </a:moveTo>
                  <a:lnTo>
                    <a:pt x="3733800" y="0"/>
                  </a:lnTo>
                  <a:cubicBezTo>
                    <a:pt x="3775884" y="0"/>
                    <a:pt x="3810000" y="34116"/>
                    <a:pt x="3810000" y="76200"/>
                  </a:cubicBezTo>
                  <a:lnTo>
                    <a:pt x="3810000" y="1193800"/>
                  </a:lnTo>
                  <a:cubicBezTo>
                    <a:pt x="3810000" y="1235884"/>
                    <a:pt x="3775884" y="1270000"/>
                    <a:pt x="3733800" y="1270000"/>
                  </a:cubicBezTo>
                  <a:lnTo>
                    <a:pt x="76200" y="1270000"/>
                  </a:lnTo>
                  <a:cubicBezTo>
                    <a:pt x="34116" y="1270000"/>
                    <a:pt x="0" y="1235884"/>
                    <a:pt x="0" y="1193800"/>
                  </a:cubicBezTo>
                  <a:lnTo>
                    <a:pt x="0" y="76200"/>
                  </a:lnTo>
                  <a:cubicBezTo>
                    <a:pt x="0" y="34116"/>
                    <a:pt x="34116" y="0"/>
                    <a:pt x="76200" y="0"/>
                  </a:cubicBezTo>
                  <a:close/>
                </a:path>
              </a:pathLst>
            </a:custGeom>
            <a:solidFill>
              <a:srgbClr val="221B18"/>
            </a:solidFill>
            <a:ln cap="sq">
              <a:noFill/>
              <a:prstDash val="solid"/>
              <a:miter/>
            </a:ln>
          </p:spPr>
        </p:sp>
        <p:sp>
          <p:nvSpPr>
            <p:cNvPr name="TextBox 7" id="7"/>
            <p:cNvSpPr txBox="true"/>
            <p:nvPr/>
          </p:nvSpPr>
          <p:spPr>
            <a:xfrm>
              <a:off x="0" y="19050"/>
              <a:ext cx="3810000" cy="1250950"/>
            </a:xfrm>
            <a:prstGeom prst="rect">
              <a:avLst/>
            </a:prstGeom>
          </p:spPr>
          <p:txBody>
            <a:bodyPr anchor="ctr" rtlCol="false" tIns="50800" lIns="50800" bIns="50800" rIns="50800"/>
            <a:lstStyle/>
            <a:p>
              <a:pPr algn="ctr">
                <a:lnSpc>
                  <a:spcPts val="2062"/>
                </a:lnSpc>
              </a:pPr>
              <a:r>
                <a:rPr lang="en-US" sz="1875" b="true">
                  <a:solidFill>
                    <a:srgbClr val="FFF3DF"/>
                  </a:solidFill>
                  <a:latin typeface="Montserrat Bold"/>
                  <a:ea typeface="Montserrat Bold"/>
                  <a:cs typeface="Montserrat Bold"/>
                  <a:sym typeface="Montserrat Bold"/>
                </a:rPr>
                <a:t>1</a:t>
              </a:r>
            </a:p>
            <a:p>
              <a:pPr algn="ctr">
                <a:lnSpc>
                  <a:spcPts val="2062"/>
                </a:lnSpc>
              </a:pPr>
              <a:r>
                <a:rPr lang="en-US" sz="1875" b="true">
                  <a:solidFill>
                    <a:srgbClr val="FFF3DF"/>
                  </a:solidFill>
                  <a:latin typeface="Montserrat Bold"/>
                  <a:ea typeface="Montserrat Bold"/>
                  <a:cs typeface="Montserrat Bold"/>
                  <a:sym typeface="Montserrat Bold"/>
                </a:rPr>
                <a:t>CAPTURA</a:t>
              </a:r>
            </a:p>
          </p:txBody>
        </p:sp>
      </p:grpSp>
      <p:grpSp>
        <p:nvGrpSpPr>
          <p:cNvPr name="Group 8" id="8"/>
          <p:cNvGrpSpPr/>
          <p:nvPr/>
        </p:nvGrpSpPr>
        <p:grpSpPr>
          <a:xfrm rot="0">
            <a:off x="4333875" y="2381250"/>
            <a:ext cx="2857500" cy="952500"/>
            <a:chOff x="0" y="0"/>
            <a:chExt cx="3810000" cy="1270000"/>
          </a:xfrm>
        </p:grpSpPr>
        <p:sp>
          <p:nvSpPr>
            <p:cNvPr name="Freeform 9" id="9"/>
            <p:cNvSpPr/>
            <p:nvPr/>
          </p:nvSpPr>
          <p:spPr>
            <a:xfrm flipH="false" flipV="false" rot="0">
              <a:off x="0" y="0"/>
              <a:ext cx="3810000" cy="1270000"/>
            </a:xfrm>
            <a:custGeom>
              <a:avLst/>
              <a:gdLst/>
              <a:ahLst/>
              <a:cxnLst/>
              <a:rect r="r" b="b" t="t" l="l"/>
              <a:pathLst>
                <a:path h="1270000" w="3810000">
                  <a:moveTo>
                    <a:pt x="76200" y="0"/>
                  </a:moveTo>
                  <a:lnTo>
                    <a:pt x="3733800" y="0"/>
                  </a:lnTo>
                  <a:cubicBezTo>
                    <a:pt x="3775884" y="0"/>
                    <a:pt x="3810000" y="34116"/>
                    <a:pt x="3810000" y="76200"/>
                  </a:cubicBezTo>
                  <a:lnTo>
                    <a:pt x="3810000" y="1193800"/>
                  </a:lnTo>
                  <a:cubicBezTo>
                    <a:pt x="3810000" y="1235884"/>
                    <a:pt x="3775884" y="1270000"/>
                    <a:pt x="3733800" y="1270000"/>
                  </a:cubicBezTo>
                  <a:lnTo>
                    <a:pt x="76200" y="1270000"/>
                  </a:lnTo>
                  <a:cubicBezTo>
                    <a:pt x="34116" y="1270000"/>
                    <a:pt x="0" y="1235884"/>
                    <a:pt x="0" y="1193800"/>
                  </a:cubicBezTo>
                  <a:lnTo>
                    <a:pt x="0" y="76200"/>
                  </a:lnTo>
                  <a:cubicBezTo>
                    <a:pt x="0" y="34116"/>
                    <a:pt x="34116" y="0"/>
                    <a:pt x="76200" y="0"/>
                  </a:cubicBezTo>
                  <a:close/>
                </a:path>
              </a:pathLst>
            </a:custGeom>
            <a:solidFill>
              <a:srgbClr val="221B18"/>
            </a:solidFill>
            <a:ln cap="sq">
              <a:noFill/>
              <a:prstDash val="solid"/>
              <a:miter/>
            </a:ln>
          </p:spPr>
        </p:sp>
        <p:sp>
          <p:nvSpPr>
            <p:cNvPr name="TextBox 10" id="10"/>
            <p:cNvSpPr txBox="true"/>
            <p:nvPr/>
          </p:nvSpPr>
          <p:spPr>
            <a:xfrm>
              <a:off x="0" y="19050"/>
              <a:ext cx="3810000" cy="1250950"/>
            </a:xfrm>
            <a:prstGeom prst="rect">
              <a:avLst/>
            </a:prstGeom>
          </p:spPr>
          <p:txBody>
            <a:bodyPr anchor="ctr" rtlCol="false" tIns="50800" lIns="50800" bIns="50800" rIns="50800"/>
            <a:lstStyle/>
            <a:p>
              <a:pPr algn="ctr">
                <a:lnSpc>
                  <a:spcPts val="2062"/>
                </a:lnSpc>
              </a:pPr>
              <a:r>
                <a:rPr lang="en-US" sz="1875" b="true">
                  <a:solidFill>
                    <a:srgbClr val="FFF3DF"/>
                  </a:solidFill>
                  <a:latin typeface="Montserrat Bold"/>
                  <a:ea typeface="Montserrat Bold"/>
                  <a:cs typeface="Montserrat Bold"/>
                  <a:sym typeface="Montserrat Bold"/>
                </a:rPr>
                <a:t>2</a:t>
              </a:r>
            </a:p>
            <a:p>
              <a:pPr algn="ctr">
                <a:lnSpc>
                  <a:spcPts val="2062"/>
                </a:lnSpc>
              </a:pPr>
              <a:r>
                <a:rPr lang="en-US" sz="1875" b="true">
                  <a:solidFill>
                    <a:srgbClr val="FFF3DF"/>
                  </a:solidFill>
                  <a:latin typeface="Montserrat Bold"/>
                  <a:ea typeface="Montserrat Bold"/>
                  <a:cs typeface="Montserrat Bold"/>
                  <a:sym typeface="Montserrat Bold"/>
                </a:rPr>
                <a:t>INFERENCIA</a:t>
              </a:r>
            </a:p>
          </p:txBody>
        </p:sp>
      </p:grpSp>
      <p:grpSp>
        <p:nvGrpSpPr>
          <p:cNvPr name="Group 11" id="11"/>
          <p:cNvGrpSpPr/>
          <p:nvPr/>
        </p:nvGrpSpPr>
        <p:grpSpPr>
          <a:xfrm rot="0">
            <a:off x="7715250" y="2381250"/>
            <a:ext cx="2857500" cy="952500"/>
            <a:chOff x="0" y="0"/>
            <a:chExt cx="3810000" cy="1270000"/>
          </a:xfrm>
        </p:grpSpPr>
        <p:sp>
          <p:nvSpPr>
            <p:cNvPr name="Freeform 12" id="12"/>
            <p:cNvSpPr/>
            <p:nvPr/>
          </p:nvSpPr>
          <p:spPr>
            <a:xfrm flipH="false" flipV="false" rot="0">
              <a:off x="0" y="0"/>
              <a:ext cx="3810000" cy="1270000"/>
            </a:xfrm>
            <a:custGeom>
              <a:avLst/>
              <a:gdLst/>
              <a:ahLst/>
              <a:cxnLst/>
              <a:rect r="r" b="b" t="t" l="l"/>
              <a:pathLst>
                <a:path h="1270000" w="3810000">
                  <a:moveTo>
                    <a:pt x="76200" y="0"/>
                  </a:moveTo>
                  <a:lnTo>
                    <a:pt x="3733800" y="0"/>
                  </a:lnTo>
                  <a:cubicBezTo>
                    <a:pt x="3775884" y="0"/>
                    <a:pt x="3810000" y="34116"/>
                    <a:pt x="3810000" y="76200"/>
                  </a:cubicBezTo>
                  <a:lnTo>
                    <a:pt x="3810000" y="1193800"/>
                  </a:lnTo>
                  <a:cubicBezTo>
                    <a:pt x="3810000" y="1235884"/>
                    <a:pt x="3775884" y="1270000"/>
                    <a:pt x="3733800" y="1270000"/>
                  </a:cubicBezTo>
                  <a:lnTo>
                    <a:pt x="76200" y="1270000"/>
                  </a:lnTo>
                  <a:cubicBezTo>
                    <a:pt x="34116" y="1270000"/>
                    <a:pt x="0" y="1235884"/>
                    <a:pt x="0" y="1193800"/>
                  </a:cubicBezTo>
                  <a:lnTo>
                    <a:pt x="0" y="76200"/>
                  </a:lnTo>
                  <a:cubicBezTo>
                    <a:pt x="0" y="34116"/>
                    <a:pt x="34116" y="0"/>
                    <a:pt x="76200" y="0"/>
                  </a:cubicBezTo>
                  <a:close/>
                </a:path>
              </a:pathLst>
            </a:custGeom>
            <a:solidFill>
              <a:srgbClr val="221B18"/>
            </a:solidFill>
            <a:ln cap="sq">
              <a:noFill/>
              <a:prstDash val="solid"/>
              <a:miter/>
            </a:ln>
          </p:spPr>
        </p:sp>
        <p:sp>
          <p:nvSpPr>
            <p:cNvPr name="TextBox 13" id="13"/>
            <p:cNvSpPr txBox="true"/>
            <p:nvPr/>
          </p:nvSpPr>
          <p:spPr>
            <a:xfrm>
              <a:off x="0" y="19050"/>
              <a:ext cx="3810000" cy="1250950"/>
            </a:xfrm>
            <a:prstGeom prst="rect">
              <a:avLst/>
            </a:prstGeom>
          </p:spPr>
          <p:txBody>
            <a:bodyPr anchor="ctr" rtlCol="false" tIns="50800" lIns="50800" bIns="50800" rIns="50800"/>
            <a:lstStyle/>
            <a:p>
              <a:pPr algn="ctr">
                <a:lnSpc>
                  <a:spcPts val="2062"/>
                </a:lnSpc>
              </a:pPr>
              <a:r>
                <a:rPr lang="en-US" sz="1875" b="true">
                  <a:solidFill>
                    <a:srgbClr val="FFF3DF"/>
                  </a:solidFill>
                  <a:latin typeface="Montserrat Bold"/>
                  <a:ea typeface="Montserrat Bold"/>
                  <a:cs typeface="Montserrat Bold"/>
                  <a:sym typeface="Montserrat Bold"/>
                </a:rPr>
                <a:t>3</a:t>
              </a:r>
            </a:p>
            <a:p>
              <a:pPr algn="ctr">
                <a:lnSpc>
                  <a:spcPts val="2062"/>
                </a:lnSpc>
              </a:pPr>
              <a:r>
                <a:rPr lang="en-US" sz="1875" b="true">
                  <a:solidFill>
                    <a:srgbClr val="FFF3DF"/>
                  </a:solidFill>
                  <a:latin typeface="Montserrat Bold"/>
                  <a:ea typeface="Montserrat Bold"/>
                  <a:cs typeface="Montserrat Bold"/>
                  <a:sym typeface="Montserrat Bold"/>
                </a:rPr>
                <a:t>VALIDACIÓN</a:t>
              </a:r>
            </a:p>
          </p:txBody>
        </p:sp>
      </p:grpSp>
      <p:grpSp>
        <p:nvGrpSpPr>
          <p:cNvPr name="Group 14" id="14"/>
          <p:cNvGrpSpPr/>
          <p:nvPr/>
        </p:nvGrpSpPr>
        <p:grpSpPr>
          <a:xfrm rot="0">
            <a:off x="11096625" y="2381250"/>
            <a:ext cx="2857500" cy="952500"/>
            <a:chOff x="0" y="0"/>
            <a:chExt cx="3810000" cy="1270000"/>
          </a:xfrm>
        </p:grpSpPr>
        <p:sp>
          <p:nvSpPr>
            <p:cNvPr name="Freeform 15" id="15"/>
            <p:cNvSpPr/>
            <p:nvPr/>
          </p:nvSpPr>
          <p:spPr>
            <a:xfrm flipH="false" flipV="false" rot="0">
              <a:off x="0" y="0"/>
              <a:ext cx="3810000" cy="1270000"/>
            </a:xfrm>
            <a:custGeom>
              <a:avLst/>
              <a:gdLst/>
              <a:ahLst/>
              <a:cxnLst/>
              <a:rect r="r" b="b" t="t" l="l"/>
              <a:pathLst>
                <a:path h="1270000" w="3810000">
                  <a:moveTo>
                    <a:pt x="76200" y="0"/>
                  </a:moveTo>
                  <a:lnTo>
                    <a:pt x="3733800" y="0"/>
                  </a:lnTo>
                  <a:cubicBezTo>
                    <a:pt x="3775884" y="0"/>
                    <a:pt x="3810000" y="34116"/>
                    <a:pt x="3810000" y="76200"/>
                  </a:cubicBezTo>
                  <a:lnTo>
                    <a:pt x="3810000" y="1193800"/>
                  </a:lnTo>
                  <a:cubicBezTo>
                    <a:pt x="3810000" y="1235884"/>
                    <a:pt x="3775884" y="1270000"/>
                    <a:pt x="3733800" y="1270000"/>
                  </a:cubicBezTo>
                  <a:lnTo>
                    <a:pt x="76200" y="1270000"/>
                  </a:lnTo>
                  <a:cubicBezTo>
                    <a:pt x="34116" y="1270000"/>
                    <a:pt x="0" y="1235884"/>
                    <a:pt x="0" y="1193800"/>
                  </a:cubicBezTo>
                  <a:lnTo>
                    <a:pt x="0" y="76200"/>
                  </a:lnTo>
                  <a:cubicBezTo>
                    <a:pt x="0" y="34116"/>
                    <a:pt x="34116" y="0"/>
                    <a:pt x="76200" y="0"/>
                  </a:cubicBezTo>
                  <a:close/>
                </a:path>
              </a:pathLst>
            </a:custGeom>
            <a:solidFill>
              <a:srgbClr val="D92D20"/>
            </a:solidFill>
            <a:ln cap="sq">
              <a:noFill/>
              <a:prstDash val="solid"/>
              <a:miter/>
            </a:ln>
          </p:spPr>
        </p:sp>
        <p:sp>
          <p:nvSpPr>
            <p:cNvPr name="TextBox 16" id="16"/>
            <p:cNvSpPr txBox="true"/>
            <p:nvPr/>
          </p:nvSpPr>
          <p:spPr>
            <a:xfrm>
              <a:off x="0" y="19050"/>
              <a:ext cx="3810000" cy="1250950"/>
            </a:xfrm>
            <a:prstGeom prst="rect">
              <a:avLst/>
            </a:prstGeom>
          </p:spPr>
          <p:txBody>
            <a:bodyPr anchor="ctr" rtlCol="false" tIns="50800" lIns="50800" bIns="50800" rIns="50800"/>
            <a:lstStyle/>
            <a:p>
              <a:pPr algn="ctr">
                <a:lnSpc>
                  <a:spcPts val="2062"/>
                </a:lnSpc>
              </a:pPr>
              <a:r>
                <a:rPr lang="en-US" sz="1875" b="true">
                  <a:solidFill>
                    <a:srgbClr val="FFF3DF"/>
                  </a:solidFill>
                  <a:latin typeface="Montserrat Bold"/>
                  <a:ea typeface="Montserrat Bold"/>
                  <a:cs typeface="Montserrat Bold"/>
                  <a:sym typeface="Montserrat Bold"/>
                </a:rPr>
                <a:t>4</a:t>
              </a:r>
            </a:p>
            <a:p>
              <a:pPr algn="ctr">
                <a:lnSpc>
                  <a:spcPts val="2062"/>
                </a:lnSpc>
              </a:pPr>
              <a:r>
                <a:rPr lang="en-US" sz="1875" b="true">
                  <a:solidFill>
                    <a:srgbClr val="FFF3DF"/>
                  </a:solidFill>
                  <a:latin typeface="Montserrat Bold"/>
                  <a:ea typeface="Montserrat Bold"/>
                  <a:cs typeface="Montserrat Bold"/>
                  <a:sym typeface="Montserrat Bold"/>
                </a:rPr>
                <a:t>ALERTA</a:t>
              </a:r>
            </a:p>
          </p:txBody>
        </p:sp>
      </p:grpSp>
      <p:grpSp>
        <p:nvGrpSpPr>
          <p:cNvPr name="Group 17" id="17"/>
          <p:cNvGrpSpPr/>
          <p:nvPr/>
        </p:nvGrpSpPr>
        <p:grpSpPr>
          <a:xfrm rot="0">
            <a:off x="14478000" y="2381250"/>
            <a:ext cx="2857500" cy="952500"/>
            <a:chOff x="0" y="0"/>
            <a:chExt cx="3810000" cy="1270000"/>
          </a:xfrm>
        </p:grpSpPr>
        <p:sp>
          <p:nvSpPr>
            <p:cNvPr name="Freeform 18" id="18"/>
            <p:cNvSpPr/>
            <p:nvPr/>
          </p:nvSpPr>
          <p:spPr>
            <a:xfrm flipH="false" flipV="false" rot="0">
              <a:off x="0" y="0"/>
              <a:ext cx="3810000" cy="1270000"/>
            </a:xfrm>
            <a:custGeom>
              <a:avLst/>
              <a:gdLst/>
              <a:ahLst/>
              <a:cxnLst/>
              <a:rect r="r" b="b" t="t" l="l"/>
              <a:pathLst>
                <a:path h="1270000" w="3810000">
                  <a:moveTo>
                    <a:pt x="76200" y="0"/>
                  </a:moveTo>
                  <a:lnTo>
                    <a:pt x="3733800" y="0"/>
                  </a:lnTo>
                  <a:cubicBezTo>
                    <a:pt x="3775884" y="0"/>
                    <a:pt x="3810000" y="34116"/>
                    <a:pt x="3810000" y="76200"/>
                  </a:cubicBezTo>
                  <a:lnTo>
                    <a:pt x="3810000" y="1193800"/>
                  </a:lnTo>
                  <a:cubicBezTo>
                    <a:pt x="3810000" y="1235884"/>
                    <a:pt x="3775884" y="1270000"/>
                    <a:pt x="3733800" y="1270000"/>
                  </a:cubicBezTo>
                  <a:lnTo>
                    <a:pt x="76200" y="1270000"/>
                  </a:lnTo>
                  <a:cubicBezTo>
                    <a:pt x="34116" y="1270000"/>
                    <a:pt x="0" y="1235884"/>
                    <a:pt x="0" y="1193800"/>
                  </a:cubicBezTo>
                  <a:lnTo>
                    <a:pt x="0" y="76200"/>
                  </a:lnTo>
                  <a:cubicBezTo>
                    <a:pt x="0" y="34116"/>
                    <a:pt x="34116" y="0"/>
                    <a:pt x="76200" y="0"/>
                  </a:cubicBezTo>
                  <a:close/>
                </a:path>
              </a:pathLst>
            </a:custGeom>
            <a:solidFill>
              <a:srgbClr val="221B18"/>
            </a:solidFill>
            <a:ln cap="sq">
              <a:noFill/>
              <a:prstDash val="solid"/>
              <a:miter/>
            </a:ln>
          </p:spPr>
        </p:sp>
        <p:sp>
          <p:nvSpPr>
            <p:cNvPr name="TextBox 19" id="19"/>
            <p:cNvSpPr txBox="true"/>
            <p:nvPr/>
          </p:nvSpPr>
          <p:spPr>
            <a:xfrm>
              <a:off x="0" y="19050"/>
              <a:ext cx="3810000" cy="1250950"/>
            </a:xfrm>
            <a:prstGeom prst="rect">
              <a:avLst/>
            </a:prstGeom>
          </p:spPr>
          <p:txBody>
            <a:bodyPr anchor="ctr" rtlCol="false" tIns="50800" lIns="50800" bIns="50800" rIns="50800"/>
            <a:lstStyle/>
            <a:p>
              <a:pPr algn="ctr">
                <a:lnSpc>
                  <a:spcPts val="2062"/>
                </a:lnSpc>
              </a:pPr>
              <a:r>
                <a:rPr lang="en-US" sz="1875" b="true">
                  <a:solidFill>
                    <a:srgbClr val="FFF3DF"/>
                  </a:solidFill>
                  <a:latin typeface="Montserrat Bold"/>
                  <a:ea typeface="Montserrat Bold"/>
                  <a:cs typeface="Montserrat Bold"/>
                  <a:sym typeface="Montserrat Bold"/>
                </a:rPr>
                <a:t>5</a:t>
              </a:r>
            </a:p>
            <a:p>
              <a:pPr algn="ctr">
                <a:lnSpc>
                  <a:spcPts val="2062"/>
                </a:lnSpc>
              </a:pPr>
              <a:r>
                <a:rPr lang="en-US" sz="1875" b="true">
                  <a:solidFill>
                    <a:srgbClr val="FFF3DF"/>
                  </a:solidFill>
                  <a:latin typeface="Montserrat Bold"/>
                  <a:ea typeface="Montserrat Bold"/>
                  <a:cs typeface="Montserrat Bold"/>
                  <a:sym typeface="Montserrat Bold"/>
                </a:rPr>
                <a:t>DECISIÓN</a:t>
              </a:r>
            </a:p>
          </p:txBody>
        </p:sp>
      </p:grpSp>
      <p:pic>
        <p:nvPicPr>
          <p:cNvPr name="Picture 20" id="20">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3728" r="555" b="1433"/>
          <a:stretch>
            <a:fillRect/>
          </a:stretch>
        </p:blipFill>
        <p:spPr>
          <a:xfrm flipH="false" flipV="false" rot="0">
            <a:off x="952500" y="3844795"/>
            <a:ext cx="5114925" cy="3089405"/>
          </a:xfrm>
          <a:prstGeom prst="rect">
            <a:avLst/>
          </a:prstGeom>
        </p:spPr>
      </p:pic>
      <p:grpSp>
        <p:nvGrpSpPr>
          <p:cNvPr name="Group 21" id="21"/>
          <p:cNvGrpSpPr/>
          <p:nvPr/>
        </p:nvGrpSpPr>
        <p:grpSpPr>
          <a:xfrm rot="0">
            <a:off x="952500" y="3810000"/>
            <a:ext cx="5143500" cy="3143250"/>
            <a:chOff x="0" y="0"/>
            <a:chExt cx="6858000" cy="4191000"/>
          </a:xfrm>
        </p:grpSpPr>
        <p:sp>
          <p:nvSpPr>
            <p:cNvPr name="Freeform 22" id="22"/>
            <p:cNvSpPr/>
            <p:nvPr/>
          </p:nvSpPr>
          <p:spPr>
            <a:xfrm flipH="false" flipV="false" rot="0">
              <a:off x="0" y="0"/>
              <a:ext cx="6858000" cy="4191000"/>
            </a:xfrm>
            <a:custGeom>
              <a:avLst/>
              <a:gdLst/>
              <a:ahLst/>
              <a:cxnLst/>
              <a:rect r="r" b="b" t="t" l="l"/>
              <a:pathLst>
                <a:path h="4191000" w="6858000">
                  <a:moveTo>
                    <a:pt x="0" y="0"/>
                  </a:moveTo>
                  <a:lnTo>
                    <a:pt x="6858000" y="0"/>
                  </a:lnTo>
                  <a:lnTo>
                    <a:pt x="6858000" y="4191000"/>
                  </a:lnTo>
                  <a:lnTo>
                    <a:pt x="0" y="4191000"/>
                  </a:lnTo>
                  <a:close/>
                </a:path>
              </a:pathLst>
            </a:custGeom>
            <a:ln w="28575" cap="sq">
              <a:solidFill>
                <a:srgbClr val="FF5A1F"/>
              </a:solidFill>
              <a:prstDash val="solid"/>
              <a:miter/>
            </a:ln>
          </p:spPr>
        </p:sp>
        <p:sp>
          <p:nvSpPr>
            <p:cNvPr name="TextBox 23" id="23"/>
            <p:cNvSpPr txBox="true"/>
            <p:nvPr/>
          </p:nvSpPr>
          <p:spPr>
            <a:xfrm>
              <a:off x="0" y="-38100"/>
              <a:ext cx="6858000" cy="4229100"/>
            </a:xfrm>
            <a:prstGeom prst="rect">
              <a:avLst/>
            </a:prstGeom>
          </p:spPr>
          <p:txBody>
            <a:bodyPr anchor="ctr" rtlCol="false" tIns="50800" lIns="50800" bIns="50800" rIns="50800"/>
            <a:lstStyle/>
            <a:p>
              <a:pPr algn="l">
                <a:lnSpc>
                  <a:spcPts val="1679"/>
                </a:lnSpc>
              </a:pPr>
            </a:p>
          </p:txBody>
        </p:sp>
      </p:grpSp>
      <p:pic>
        <p:nvPicPr>
          <p:cNvPr name="Picture 24" id="24">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2567" t="0" r="2567" b="0"/>
          <a:stretch>
            <a:fillRect/>
          </a:stretch>
        </p:blipFill>
        <p:spPr>
          <a:xfrm flipH="false" flipV="false" rot="0">
            <a:off x="6596826" y="3844795"/>
            <a:ext cx="5094347" cy="3089405"/>
          </a:xfrm>
          <a:prstGeom prst="rect">
            <a:avLst/>
          </a:prstGeom>
        </p:spPr>
      </p:pic>
      <p:grpSp>
        <p:nvGrpSpPr>
          <p:cNvPr name="Group 25" id="25"/>
          <p:cNvGrpSpPr/>
          <p:nvPr/>
        </p:nvGrpSpPr>
        <p:grpSpPr>
          <a:xfrm rot="0">
            <a:off x="6572250" y="3810000"/>
            <a:ext cx="5143500" cy="3143250"/>
            <a:chOff x="0" y="0"/>
            <a:chExt cx="6858000" cy="4191000"/>
          </a:xfrm>
        </p:grpSpPr>
        <p:sp>
          <p:nvSpPr>
            <p:cNvPr name="Freeform 26" id="26"/>
            <p:cNvSpPr/>
            <p:nvPr/>
          </p:nvSpPr>
          <p:spPr>
            <a:xfrm flipH="false" flipV="false" rot="0">
              <a:off x="0" y="0"/>
              <a:ext cx="6858000" cy="4191000"/>
            </a:xfrm>
            <a:custGeom>
              <a:avLst/>
              <a:gdLst/>
              <a:ahLst/>
              <a:cxnLst/>
              <a:rect r="r" b="b" t="t" l="l"/>
              <a:pathLst>
                <a:path h="4191000" w="6858000">
                  <a:moveTo>
                    <a:pt x="0" y="0"/>
                  </a:moveTo>
                  <a:lnTo>
                    <a:pt x="6858000" y="0"/>
                  </a:lnTo>
                  <a:lnTo>
                    <a:pt x="6858000" y="4191000"/>
                  </a:lnTo>
                  <a:lnTo>
                    <a:pt x="0" y="4191000"/>
                  </a:lnTo>
                  <a:close/>
                </a:path>
              </a:pathLst>
            </a:custGeom>
            <a:ln w="28575" cap="sq">
              <a:solidFill>
                <a:srgbClr val="FF5A1F"/>
              </a:solidFill>
              <a:prstDash val="solid"/>
              <a:miter/>
            </a:ln>
          </p:spPr>
        </p:sp>
        <p:sp>
          <p:nvSpPr>
            <p:cNvPr name="TextBox 27" id="27"/>
            <p:cNvSpPr txBox="true"/>
            <p:nvPr/>
          </p:nvSpPr>
          <p:spPr>
            <a:xfrm>
              <a:off x="0" y="-38100"/>
              <a:ext cx="6858000" cy="4229100"/>
            </a:xfrm>
            <a:prstGeom prst="rect">
              <a:avLst/>
            </a:prstGeom>
          </p:spPr>
          <p:txBody>
            <a:bodyPr anchor="ctr" rtlCol="false" tIns="50800" lIns="50800" bIns="50800" rIns="50800"/>
            <a:lstStyle/>
            <a:p>
              <a:pPr algn="l">
                <a:lnSpc>
                  <a:spcPts val="1679"/>
                </a:lnSpc>
              </a:pPr>
            </a:p>
          </p:txBody>
        </p:sp>
      </p:grpSp>
      <p:pic>
        <p:nvPicPr>
          <p:cNvPr name="Picture 28" id="28">
            <a:hlinkClick action="ppaction://media"/>
          </p:cNvPr>
          <p:cNvPicPr>
            <a:picLocks noChangeAspect="true"/>
          </p:cNvPicPr>
          <p:nvPr>
            <a:videoFile r:link="rId9"/>
            <p:extLst>
              <p:ext uri="{DAA4B4D4-6D71-4841-9C94-3DE7FCFB9230}">
                <p14:media xmlns:p14="http://schemas.microsoft.com/office/powerpoint/2010/main" r:embed="rId10"/>
              </p:ext>
            </p:extLst>
          </p:nvPr>
        </p:nvPicPr>
        <p:blipFill>
          <a:blip r:embed="rId8"/>
          <a:srcRect l="8767" t="7157" r="8898" b="0"/>
          <a:stretch>
            <a:fillRect/>
          </a:stretch>
        </p:blipFill>
        <p:spPr>
          <a:xfrm flipH="false" flipV="false" rot="0">
            <a:off x="12220575" y="3810000"/>
            <a:ext cx="5114925" cy="3124200"/>
          </a:xfrm>
          <a:prstGeom prst="rect">
            <a:avLst/>
          </a:prstGeom>
        </p:spPr>
      </p:pic>
      <p:grpSp>
        <p:nvGrpSpPr>
          <p:cNvPr name="Group 29" id="29"/>
          <p:cNvGrpSpPr/>
          <p:nvPr/>
        </p:nvGrpSpPr>
        <p:grpSpPr>
          <a:xfrm rot="0">
            <a:off x="12192000" y="3810000"/>
            <a:ext cx="5143500" cy="3143250"/>
            <a:chOff x="0" y="0"/>
            <a:chExt cx="6858000" cy="4191000"/>
          </a:xfrm>
        </p:grpSpPr>
        <p:sp>
          <p:nvSpPr>
            <p:cNvPr name="Freeform 30" id="30"/>
            <p:cNvSpPr/>
            <p:nvPr/>
          </p:nvSpPr>
          <p:spPr>
            <a:xfrm flipH="false" flipV="false" rot="0">
              <a:off x="0" y="0"/>
              <a:ext cx="6858000" cy="4191000"/>
            </a:xfrm>
            <a:custGeom>
              <a:avLst/>
              <a:gdLst/>
              <a:ahLst/>
              <a:cxnLst/>
              <a:rect r="r" b="b" t="t" l="l"/>
              <a:pathLst>
                <a:path h="4191000" w="6858000">
                  <a:moveTo>
                    <a:pt x="0" y="0"/>
                  </a:moveTo>
                  <a:lnTo>
                    <a:pt x="6858000" y="0"/>
                  </a:lnTo>
                  <a:lnTo>
                    <a:pt x="6858000" y="4191000"/>
                  </a:lnTo>
                  <a:lnTo>
                    <a:pt x="0" y="4191000"/>
                  </a:lnTo>
                  <a:close/>
                </a:path>
              </a:pathLst>
            </a:custGeom>
            <a:ln w="28575" cap="sq">
              <a:solidFill>
                <a:srgbClr val="FF5A1F"/>
              </a:solidFill>
              <a:prstDash val="solid"/>
              <a:miter/>
            </a:ln>
          </p:spPr>
        </p:sp>
        <p:sp>
          <p:nvSpPr>
            <p:cNvPr name="TextBox 31" id="31"/>
            <p:cNvSpPr txBox="true"/>
            <p:nvPr/>
          </p:nvSpPr>
          <p:spPr>
            <a:xfrm>
              <a:off x="0" y="-38100"/>
              <a:ext cx="6858000" cy="4229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952500" y="762000"/>
            <a:ext cx="14287500" cy="629379"/>
          </a:xfrm>
          <a:prstGeom prst="rect">
            <a:avLst/>
          </a:prstGeom>
        </p:spPr>
        <p:txBody>
          <a:bodyPr anchor="t" rtlCol="false" tIns="0" lIns="0" bIns="0" rIns="0">
            <a:spAutoFit/>
          </a:bodyPr>
          <a:lstStyle/>
          <a:p>
            <a:pPr algn="l">
              <a:lnSpc>
                <a:spcPts val="4704"/>
              </a:lnSpc>
            </a:pPr>
            <a:r>
              <a:rPr lang="en-US" sz="4800" spc="-144" b="true">
                <a:solidFill>
                  <a:srgbClr val="FFF3DF"/>
                </a:solidFill>
                <a:latin typeface="Barlow Condensed Bold"/>
                <a:ea typeface="Barlow Condensed Bold"/>
                <a:cs typeface="Barlow Condensed Bold"/>
                <a:sym typeface="Barlow Condensed Bold"/>
              </a:rPr>
              <a:t>CÓMO FUNCIONA PASO A PASO</a:t>
            </a:r>
          </a:p>
        </p:txBody>
      </p:sp>
      <p:sp>
        <p:nvSpPr>
          <p:cNvPr name="TextBox 33" id="33"/>
          <p:cNvSpPr txBox="true"/>
          <p:nvPr/>
        </p:nvSpPr>
        <p:spPr>
          <a:xfrm rot="0">
            <a:off x="3838575" y="2419350"/>
            <a:ext cx="466725" cy="533400"/>
          </a:xfrm>
          <a:prstGeom prst="rect">
            <a:avLst/>
          </a:prstGeom>
        </p:spPr>
        <p:txBody>
          <a:bodyPr anchor="t" rtlCol="false" tIns="0" lIns="0" bIns="0" rIns="0">
            <a:spAutoFit/>
          </a:bodyPr>
          <a:lstStyle/>
          <a:p>
            <a:pPr algn="ctr">
              <a:lnSpc>
                <a:spcPts val="4200"/>
              </a:lnSpc>
            </a:pPr>
            <a:r>
              <a:rPr lang="en-US" sz="3000" b="true">
                <a:solidFill>
                  <a:srgbClr val="FF5A1F"/>
                </a:solidFill>
                <a:latin typeface="Arimo Bold"/>
                <a:ea typeface="Arimo Bold"/>
                <a:cs typeface="Arimo Bold"/>
                <a:sym typeface="Arimo Bold"/>
              </a:rPr>
              <a:t>→</a:t>
            </a:r>
          </a:p>
        </p:txBody>
      </p:sp>
      <p:sp>
        <p:nvSpPr>
          <p:cNvPr name="TextBox 34" id="34"/>
          <p:cNvSpPr txBox="true"/>
          <p:nvPr/>
        </p:nvSpPr>
        <p:spPr>
          <a:xfrm rot="0">
            <a:off x="7219950" y="2419350"/>
            <a:ext cx="466725" cy="533400"/>
          </a:xfrm>
          <a:prstGeom prst="rect">
            <a:avLst/>
          </a:prstGeom>
        </p:spPr>
        <p:txBody>
          <a:bodyPr anchor="t" rtlCol="false" tIns="0" lIns="0" bIns="0" rIns="0">
            <a:spAutoFit/>
          </a:bodyPr>
          <a:lstStyle/>
          <a:p>
            <a:pPr algn="ctr">
              <a:lnSpc>
                <a:spcPts val="4200"/>
              </a:lnSpc>
            </a:pPr>
            <a:r>
              <a:rPr lang="en-US" sz="3000" b="true">
                <a:solidFill>
                  <a:srgbClr val="FF5A1F"/>
                </a:solidFill>
                <a:latin typeface="Arimo Bold"/>
                <a:ea typeface="Arimo Bold"/>
                <a:cs typeface="Arimo Bold"/>
                <a:sym typeface="Arimo Bold"/>
              </a:rPr>
              <a:t>→</a:t>
            </a:r>
          </a:p>
        </p:txBody>
      </p:sp>
      <p:sp>
        <p:nvSpPr>
          <p:cNvPr name="TextBox 35" id="35"/>
          <p:cNvSpPr txBox="true"/>
          <p:nvPr/>
        </p:nvSpPr>
        <p:spPr>
          <a:xfrm rot="0">
            <a:off x="10601325" y="2419350"/>
            <a:ext cx="466725" cy="533400"/>
          </a:xfrm>
          <a:prstGeom prst="rect">
            <a:avLst/>
          </a:prstGeom>
        </p:spPr>
        <p:txBody>
          <a:bodyPr anchor="t" rtlCol="false" tIns="0" lIns="0" bIns="0" rIns="0">
            <a:spAutoFit/>
          </a:bodyPr>
          <a:lstStyle/>
          <a:p>
            <a:pPr algn="ctr">
              <a:lnSpc>
                <a:spcPts val="4200"/>
              </a:lnSpc>
            </a:pPr>
            <a:r>
              <a:rPr lang="en-US" sz="3000" b="true">
                <a:solidFill>
                  <a:srgbClr val="FF5A1F"/>
                </a:solidFill>
                <a:latin typeface="Arimo Bold"/>
                <a:ea typeface="Arimo Bold"/>
                <a:cs typeface="Arimo Bold"/>
                <a:sym typeface="Arimo Bold"/>
              </a:rPr>
              <a:t>→</a:t>
            </a:r>
          </a:p>
        </p:txBody>
      </p:sp>
      <p:sp>
        <p:nvSpPr>
          <p:cNvPr name="TextBox 36" id="36"/>
          <p:cNvSpPr txBox="true"/>
          <p:nvPr/>
        </p:nvSpPr>
        <p:spPr>
          <a:xfrm rot="0">
            <a:off x="13982700" y="2419350"/>
            <a:ext cx="466725" cy="533400"/>
          </a:xfrm>
          <a:prstGeom prst="rect">
            <a:avLst/>
          </a:prstGeom>
        </p:spPr>
        <p:txBody>
          <a:bodyPr anchor="t" rtlCol="false" tIns="0" lIns="0" bIns="0" rIns="0">
            <a:spAutoFit/>
          </a:bodyPr>
          <a:lstStyle/>
          <a:p>
            <a:pPr algn="ctr">
              <a:lnSpc>
                <a:spcPts val="4200"/>
              </a:lnSpc>
            </a:pPr>
            <a:r>
              <a:rPr lang="en-US" sz="3000" b="true">
                <a:solidFill>
                  <a:srgbClr val="FF5A1F"/>
                </a:solidFill>
                <a:latin typeface="Arimo Bold"/>
                <a:ea typeface="Arimo Bold"/>
                <a:cs typeface="Arimo Bold"/>
                <a:sym typeface="Arimo Bold"/>
              </a:rPr>
              <a:t>→</a:t>
            </a:r>
          </a:p>
        </p:txBody>
      </p:sp>
      <p:sp>
        <p:nvSpPr>
          <p:cNvPr name="TextBox 37" id="37"/>
          <p:cNvSpPr txBox="true"/>
          <p:nvPr/>
        </p:nvSpPr>
        <p:spPr>
          <a:xfrm rot="0">
            <a:off x="952500" y="7096125"/>
            <a:ext cx="5143500" cy="365760"/>
          </a:xfrm>
          <a:prstGeom prst="rect">
            <a:avLst/>
          </a:prstGeom>
        </p:spPr>
        <p:txBody>
          <a:bodyPr anchor="t" rtlCol="false" tIns="0" lIns="0" bIns="0" rIns="0">
            <a:spAutoFit/>
          </a:bodyPr>
          <a:lstStyle/>
          <a:p>
            <a:pPr algn="l">
              <a:lnSpc>
                <a:spcPts val="2940"/>
              </a:lnSpc>
            </a:pPr>
            <a:r>
              <a:rPr lang="en-US" sz="2100" b="true">
                <a:solidFill>
                  <a:srgbClr val="FF5A1F"/>
                </a:solidFill>
                <a:latin typeface="Arimo Bold"/>
                <a:ea typeface="Arimo Bold"/>
                <a:cs typeface="Arimo Bold"/>
                <a:sym typeface="Arimo Bold"/>
              </a:rPr>
              <a:t>PASOS 1 A 3 · LA CÁMARA DETECTA</a:t>
            </a:r>
          </a:p>
        </p:txBody>
      </p:sp>
      <p:sp>
        <p:nvSpPr>
          <p:cNvPr name="TextBox 38" id="38"/>
          <p:cNvSpPr txBox="true"/>
          <p:nvPr/>
        </p:nvSpPr>
        <p:spPr>
          <a:xfrm rot="0">
            <a:off x="6572250" y="7096125"/>
            <a:ext cx="5143500" cy="365760"/>
          </a:xfrm>
          <a:prstGeom prst="rect">
            <a:avLst/>
          </a:prstGeom>
        </p:spPr>
        <p:txBody>
          <a:bodyPr anchor="t" rtlCol="false" tIns="0" lIns="0" bIns="0" rIns="0">
            <a:spAutoFit/>
          </a:bodyPr>
          <a:lstStyle/>
          <a:p>
            <a:pPr algn="l">
              <a:lnSpc>
                <a:spcPts val="2940"/>
              </a:lnSpc>
            </a:pPr>
            <a:r>
              <a:rPr lang="en-US" sz="2100" b="true">
                <a:solidFill>
                  <a:srgbClr val="FF5A1F"/>
                </a:solidFill>
                <a:latin typeface="Arimo Bold"/>
                <a:ea typeface="Arimo Bold"/>
                <a:cs typeface="Arimo Bold"/>
                <a:sym typeface="Arimo Bold"/>
              </a:rPr>
              <a:t>PASOS 4 Y 5 · ALERTA Y DECISIÓN</a:t>
            </a:r>
          </a:p>
        </p:txBody>
      </p:sp>
      <p:sp>
        <p:nvSpPr>
          <p:cNvPr name="TextBox 39" id="39"/>
          <p:cNvSpPr txBox="true"/>
          <p:nvPr/>
        </p:nvSpPr>
        <p:spPr>
          <a:xfrm rot="0">
            <a:off x="12192000" y="7096125"/>
            <a:ext cx="5143500" cy="365760"/>
          </a:xfrm>
          <a:prstGeom prst="rect">
            <a:avLst/>
          </a:prstGeom>
        </p:spPr>
        <p:txBody>
          <a:bodyPr anchor="t" rtlCol="false" tIns="0" lIns="0" bIns="0" rIns="0">
            <a:spAutoFit/>
          </a:bodyPr>
          <a:lstStyle/>
          <a:p>
            <a:pPr algn="l">
              <a:lnSpc>
                <a:spcPts val="2940"/>
              </a:lnSpc>
            </a:pPr>
            <a:r>
              <a:rPr lang="en-US" sz="2100" b="true">
                <a:solidFill>
                  <a:srgbClr val="FF5A1F"/>
                </a:solidFill>
                <a:latin typeface="Arimo Bold"/>
                <a:ea typeface="Arimo Bold"/>
                <a:cs typeface="Arimo Bold"/>
                <a:sym typeface="Arimo Bold"/>
              </a:rPr>
              <a:t>EL MAPA · ZONA Y RUTA</a:t>
            </a:r>
          </a:p>
        </p:txBody>
      </p:sp>
      <p:sp>
        <p:nvSpPr>
          <p:cNvPr name="TextBox 40" id="40"/>
          <p:cNvSpPr txBox="true"/>
          <p:nvPr/>
        </p:nvSpPr>
        <p:spPr>
          <a:xfrm rot="0">
            <a:off x="952500" y="7610475"/>
            <a:ext cx="5143500" cy="640080"/>
          </a:xfrm>
          <a:prstGeom prst="rect">
            <a:avLst/>
          </a:prstGeom>
        </p:spPr>
        <p:txBody>
          <a:bodyPr anchor="t" rtlCol="false" tIns="0" lIns="0" bIns="0" rIns="0">
            <a:spAutoFit/>
          </a:bodyPr>
          <a:lstStyle/>
          <a:p>
            <a:pPr algn="l">
              <a:lnSpc>
                <a:spcPts val="2520"/>
              </a:lnSpc>
            </a:pPr>
            <a:r>
              <a:rPr lang="en-US" sz="1800">
                <a:solidFill>
                  <a:srgbClr val="CBBBAD"/>
                </a:solidFill>
                <a:latin typeface="Arimo"/>
                <a:ea typeface="Arimo"/>
                <a:cs typeface="Arimo"/>
                <a:sym typeface="Arimo"/>
              </a:rPr>
              <a:t>Captura, inferencia y validación sobre un video con fuego.</a:t>
            </a:r>
          </a:p>
        </p:txBody>
      </p:sp>
      <p:sp>
        <p:nvSpPr>
          <p:cNvPr name="TextBox 41" id="41"/>
          <p:cNvSpPr txBox="true"/>
          <p:nvPr/>
        </p:nvSpPr>
        <p:spPr>
          <a:xfrm rot="0">
            <a:off x="6572250" y="7610475"/>
            <a:ext cx="5143500" cy="640080"/>
          </a:xfrm>
          <a:prstGeom prst="rect">
            <a:avLst/>
          </a:prstGeom>
        </p:spPr>
        <p:txBody>
          <a:bodyPr anchor="t" rtlCol="false" tIns="0" lIns="0" bIns="0" rIns="0">
            <a:spAutoFit/>
          </a:bodyPr>
          <a:lstStyle/>
          <a:p>
            <a:pPr algn="l">
              <a:lnSpc>
                <a:spcPts val="2520"/>
              </a:lnSpc>
            </a:pPr>
            <a:r>
              <a:rPr lang="en-US" sz="1800">
                <a:solidFill>
                  <a:srgbClr val="CBBBAD"/>
                </a:solidFill>
                <a:latin typeface="Arimo"/>
                <a:ea typeface="Arimo"/>
                <a:cs typeface="Arimo"/>
                <a:sym typeface="Arimo"/>
              </a:rPr>
              <a:t>La alerta llega al escritorio y el operador confirma o descarta.</a:t>
            </a:r>
          </a:p>
        </p:txBody>
      </p:sp>
      <p:sp>
        <p:nvSpPr>
          <p:cNvPr name="TextBox 42" id="42"/>
          <p:cNvSpPr txBox="true"/>
          <p:nvPr/>
        </p:nvSpPr>
        <p:spPr>
          <a:xfrm rot="0">
            <a:off x="12192000" y="7610475"/>
            <a:ext cx="5143500" cy="640080"/>
          </a:xfrm>
          <a:prstGeom prst="rect">
            <a:avLst/>
          </a:prstGeom>
        </p:spPr>
        <p:txBody>
          <a:bodyPr anchor="t" rtlCol="false" tIns="0" lIns="0" bIns="0" rIns="0">
            <a:spAutoFit/>
          </a:bodyPr>
          <a:lstStyle/>
          <a:p>
            <a:pPr algn="l">
              <a:lnSpc>
                <a:spcPts val="2520"/>
              </a:lnSpc>
            </a:pPr>
            <a:r>
              <a:rPr lang="en-US" sz="1800">
                <a:solidFill>
                  <a:srgbClr val="CBBBAD"/>
                </a:solidFill>
                <a:latin typeface="Arimo"/>
                <a:ea typeface="Arimo"/>
                <a:cs typeface="Arimo"/>
                <a:sym typeface="Arimo"/>
              </a:rPr>
              <a:t>Clic en la alerta, acercar al foco y trazar la ruta de bomberos.</a:t>
            </a:r>
          </a:p>
        </p:txBody>
      </p:sp>
    </p:spTree>
  </p:cSld>
  <p:clrMapOvr>
    <a:masterClrMapping/>
  </p:clrMapOvr>
  <p:timing>
    <p:tnLst>
      <p:par>
        <p:cTn dur="indefinite" restart="never" nodeType="tmRoot">
          <p:childTnLst>
            <p:video>
              <p:cMediaNode vol="0">
                <p:cTn fill="hold" display="false">
                  <p:stCondLst>
                    <p:cond delay="indefinite"/>
                  </p:stCondLst>
                </p:cTn>
                <p:tgtEl>
                  <p:spTgt spid="20"/>
                </p:tgtEl>
              </p:cMediaNode>
            </p:video>
            <p:video>
              <p:cMediaNode vol="0">
                <p:cTn fill="hold" display="false">
                  <p:stCondLst>
                    <p:cond delay="indefinite"/>
                  </p:stCondLst>
                </p:cTn>
                <p:tgtEl>
                  <p:spTgt spid="24"/>
                </p:tgtEl>
              </p:cMediaNode>
            </p:video>
            <p:video>
              <p:cMediaNode vol="0">
                <p:cTn fill="hold" display="false">
                  <p:stCondLst>
                    <p:cond delay="indefinite"/>
                  </p:stCondLst>
                </p:cTn>
                <p:tgtEl>
                  <p:spTgt spid="28"/>
                </p:tgtEl>
              </p:cMediaNode>
            </p:video>
          </p:childTnLst>
        </p:cTn>
      </p:par>
    </p:tnLst>
  </p:timing>
</p:sld>
</file>

<file path=ppt/slides/slide10.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4287500" cy="629379"/>
          </a:xfrm>
          <a:prstGeom prst="rect">
            <a:avLst/>
          </a:prstGeom>
        </p:spPr>
        <p:txBody>
          <a:bodyPr anchor="t" rtlCol="false" tIns="0" lIns="0" bIns="0" rIns="0">
            <a:spAutoFit/>
          </a:bodyPr>
          <a:lstStyle/>
          <a:p>
            <a:pPr algn="l" marL="0" indent="0" lvl="0">
              <a:lnSpc>
                <a:spcPts val="4704"/>
              </a:lnSpc>
              <a:spcBef>
                <a:spcPct val="0"/>
              </a:spcBef>
            </a:pPr>
            <a:r>
              <a:rPr lang="en-US" b="true" sz="4800" spc="-144" strike="noStrike" u="none">
                <a:solidFill>
                  <a:srgbClr val="FFF3DF"/>
                </a:solidFill>
                <a:latin typeface="Barlow Condensed Bold"/>
                <a:ea typeface="Barlow Condensed Bold"/>
                <a:cs typeface="Barlow Condensed Bold"/>
                <a:sym typeface="Barlow Condensed Bold"/>
              </a:rPr>
              <a:t>METODOLOGÍA UTILIZADA</a:t>
            </a:r>
          </a:p>
        </p:txBody>
      </p:sp>
      <p:sp>
        <p:nvSpPr>
          <p:cNvPr name="TextBox 3" id="3"/>
          <p:cNvSpPr txBox="true"/>
          <p:nvPr/>
        </p:nvSpPr>
        <p:spPr>
          <a:xfrm rot="0">
            <a:off x="952500" y="1611630"/>
            <a:ext cx="1238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Ágil iterativa: ciclos semanales e hitos fijos</a:t>
            </a:r>
          </a:p>
        </p:txBody>
      </p:sp>
      <p:grpSp>
        <p:nvGrpSpPr>
          <p:cNvPr name="Group 4" id="4"/>
          <p:cNvGrpSpPr/>
          <p:nvPr/>
        </p:nvGrpSpPr>
        <p:grpSpPr>
          <a:xfrm rot="0">
            <a:off x="552450" y="666750"/>
            <a:ext cx="133350" cy="1123950"/>
            <a:chOff x="0" y="0"/>
            <a:chExt cx="177800" cy="1498600"/>
          </a:xfrm>
        </p:grpSpPr>
        <p:sp>
          <p:nvSpPr>
            <p:cNvPr name="Freeform 5" id="5"/>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3B3F"/>
            </a:solidFill>
            <a:ln cap="sq">
              <a:noFill/>
              <a:prstDash val="solid"/>
              <a:miter/>
            </a:ln>
          </p:spPr>
        </p:sp>
        <p:sp>
          <p:nvSpPr>
            <p:cNvPr name="TextBox 6" id="6"/>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10096500" y="3143250"/>
            <a:ext cx="3429000" cy="2190750"/>
            <a:chOff x="0" y="0"/>
            <a:chExt cx="4572000" cy="2921000"/>
          </a:xfrm>
        </p:grpSpPr>
        <p:sp>
          <p:nvSpPr>
            <p:cNvPr name="Freeform 8" id="8"/>
            <p:cNvSpPr/>
            <p:nvPr/>
          </p:nvSpPr>
          <p:spPr>
            <a:xfrm flipH="false" flipV="false" rot="0">
              <a:off x="0" y="0"/>
              <a:ext cx="4572000" cy="2921000"/>
            </a:xfrm>
            <a:custGeom>
              <a:avLst/>
              <a:gdLst/>
              <a:ahLst/>
              <a:cxnLst/>
              <a:rect r="r" b="b" t="t" l="l"/>
              <a:pathLst>
                <a:path h="2921000" w="4572000">
                  <a:moveTo>
                    <a:pt x="0" y="0"/>
                  </a:moveTo>
                  <a:lnTo>
                    <a:pt x="4572000" y="0"/>
                  </a:lnTo>
                  <a:lnTo>
                    <a:pt x="4572000" y="2921000"/>
                  </a:lnTo>
                  <a:lnTo>
                    <a:pt x="0" y="2921000"/>
                  </a:lnTo>
                  <a:close/>
                </a:path>
              </a:pathLst>
            </a:custGeom>
            <a:solidFill>
              <a:srgbClr val="221B18"/>
            </a:solidFill>
            <a:ln cap="sq">
              <a:noFill/>
              <a:prstDash val="solid"/>
              <a:miter/>
            </a:ln>
          </p:spPr>
        </p:sp>
        <p:sp>
          <p:nvSpPr>
            <p:cNvPr name="TextBox 9" id="9"/>
            <p:cNvSpPr txBox="true"/>
            <p:nvPr/>
          </p:nvSpPr>
          <p:spPr>
            <a:xfrm>
              <a:off x="0" y="-38100"/>
              <a:ext cx="4572000" cy="2959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13716000" y="3143250"/>
            <a:ext cx="3429000" cy="2190750"/>
            <a:chOff x="0" y="0"/>
            <a:chExt cx="4572000" cy="2921000"/>
          </a:xfrm>
        </p:grpSpPr>
        <p:sp>
          <p:nvSpPr>
            <p:cNvPr name="Freeform 11" id="11"/>
            <p:cNvSpPr/>
            <p:nvPr/>
          </p:nvSpPr>
          <p:spPr>
            <a:xfrm flipH="false" flipV="false" rot="0">
              <a:off x="0" y="0"/>
              <a:ext cx="4572000" cy="2921000"/>
            </a:xfrm>
            <a:custGeom>
              <a:avLst/>
              <a:gdLst/>
              <a:ahLst/>
              <a:cxnLst/>
              <a:rect r="r" b="b" t="t" l="l"/>
              <a:pathLst>
                <a:path h="2921000" w="4572000">
                  <a:moveTo>
                    <a:pt x="0" y="0"/>
                  </a:moveTo>
                  <a:lnTo>
                    <a:pt x="4572000" y="0"/>
                  </a:lnTo>
                  <a:lnTo>
                    <a:pt x="4572000" y="2921000"/>
                  </a:lnTo>
                  <a:lnTo>
                    <a:pt x="0" y="2921000"/>
                  </a:lnTo>
                  <a:close/>
                </a:path>
              </a:pathLst>
            </a:custGeom>
            <a:solidFill>
              <a:srgbClr val="D92D20"/>
            </a:solidFill>
            <a:ln cap="sq">
              <a:noFill/>
              <a:prstDash val="solid"/>
              <a:miter/>
            </a:ln>
          </p:spPr>
        </p:sp>
        <p:sp>
          <p:nvSpPr>
            <p:cNvPr name="TextBox 12" id="12"/>
            <p:cNvSpPr txBox="true"/>
            <p:nvPr/>
          </p:nvSpPr>
          <p:spPr>
            <a:xfrm>
              <a:off x="0" y="-38100"/>
              <a:ext cx="4572000" cy="2959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3716000" y="5524500"/>
            <a:ext cx="3429000" cy="2190750"/>
            <a:chOff x="0" y="0"/>
            <a:chExt cx="4572000" cy="2921000"/>
          </a:xfrm>
        </p:grpSpPr>
        <p:sp>
          <p:nvSpPr>
            <p:cNvPr name="Freeform 14" id="14"/>
            <p:cNvSpPr/>
            <p:nvPr/>
          </p:nvSpPr>
          <p:spPr>
            <a:xfrm flipH="false" flipV="false" rot="0">
              <a:off x="0" y="0"/>
              <a:ext cx="4572000" cy="2921000"/>
            </a:xfrm>
            <a:custGeom>
              <a:avLst/>
              <a:gdLst/>
              <a:ahLst/>
              <a:cxnLst/>
              <a:rect r="r" b="b" t="t" l="l"/>
              <a:pathLst>
                <a:path h="2921000" w="4572000">
                  <a:moveTo>
                    <a:pt x="0" y="0"/>
                  </a:moveTo>
                  <a:lnTo>
                    <a:pt x="4572000" y="0"/>
                  </a:lnTo>
                  <a:lnTo>
                    <a:pt x="4572000" y="2921000"/>
                  </a:lnTo>
                  <a:lnTo>
                    <a:pt x="0" y="2921000"/>
                  </a:lnTo>
                  <a:close/>
                </a:path>
              </a:pathLst>
            </a:custGeom>
            <a:solidFill>
              <a:srgbClr val="221B18"/>
            </a:solidFill>
            <a:ln cap="sq">
              <a:noFill/>
              <a:prstDash val="solid"/>
              <a:miter/>
            </a:ln>
          </p:spPr>
        </p:sp>
        <p:sp>
          <p:nvSpPr>
            <p:cNvPr name="TextBox 15" id="15"/>
            <p:cNvSpPr txBox="true"/>
            <p:nvPr/>
          </p:nvSpPr>
          <p:spPr>
            <a:xfrm>
              <a:off x="0" y="-38100"/>
              <a:ext cx="4572000" cy="29591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10096500" y="5524500"/>
            <a:ext cx="3429000" cy="2190750"/>
            <a:chOff x="0" y="0"/>
            <a:chExt cx="4572000" cy="2921000"/>
          </a:xfrm>
        </p:grpSpPr>
        <p:sp>
          <p:nvSpPr>
            <p:cNvPr name="Freeform 17" id="17"/>
            <p:cNvSpPr/>
            <p:nvPr/>
          </p:nvSpPr>
          <p:spPr>
            <a:xfrm flipH="false" flipV="false" rot="0">
              <a:off x="0" y="0"/>
              <a:ext cx="4572000" cy="2921000"/>
            </a:xfrm>
            <a:custGeom>
              <a:avLst/>
              <a:gdLst/>
              <a:ahLst/>
              <a:cxnLst/>
              <a:rect r="r" b="b" t="t" l="l"/>
              <a:pathLst>
                <a:path h="2921000" w="4572000">
                  <a:moveTo>
                    <a:pt x="0" y="0"/>
                  </a:moveTo>
                  <a:lnTo>
                    <a:pt x="4572000" y="0"/>
                  </a:lnTo>
                  <a:lnTo>
                    <a:pt x="4572000" y="2921000"/>
                  </a:lnTo>
                  <a:lnTo>
                    <a:pt x="0" y="2921000"/>
                  </a:lnTo>
                  <a:close/>
                </a:path>
              </a:pathLst>
            </a:custGeom>
            <a:solidFill>
              <a:srgbClr val="221B18"/>
            </a:solidFill>
            <a:ln cap="sq">
              <a:noFill/>
              <a:prstDash val="solid"/>
              <a:miter/>
            </a:ln>
          </p:spPr>
        </p:sp>
        <p:sp>
          <p:nvSpPr>
            <p:cNvPr name="TextBox 18" id="18"/>
            <p:cNvSpPr txBox="true"/>
            <p:nvPr/>
          </p:nvSpPr>
          <p:spPr>
            <a:xfrm>
              <a:off x="0" y="-38100"/>
              <a:ext cx="4572000" cy="2959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10325100" y="3305175"/>
            <a:ext cx="3181350" cy="373380"/>
          </a:xfrm>
          <a:prstGeom prst="rect">
            <a:avLst/>
          </a:prstGeom>
        </p:spPr>
        <p:txBody>
          <a:bodyPr anchor="t" rtlCol="false" tIns="0" lIns="0" bIns="0" rIns="0">
            <a:spAutoFit/>
          </a:bodyPr>
          <a:lstStyle/>
          <a:p>
            <a:pPr algn="l" marL="0" indent="0" lvl="0">
              <a:lnSpc>
                <a:spcPts val="3045"/>
              </a:lnSpc>
              <a:spcBef>
                <a:spcPct val="0"/>
              </a:spcBef>
            </a:pPr>
            <a:r>
              <a:rPr lang="en-US" sz="2175" strike="noStrike" u="none">
                <a:solidFill>
                  <a:srgbClr val="FFF3DF"/>
                </a:solidFill>
                <a:latin typeface="Archivo Black"/>
                <a:ea typeface="Archivo Black"/>
                <a:cs typeface="Archivo Black"/>
                <a:sym typeface="Archivo Black"/>
              </a:rPr>
              <a:t>1 · PLANIFICAR</a:t>
            </a:r>
          </a:p>
        </p:txBody>
      </p:sp>
      <p:sp>
        <p:nvSpPr>
          <p:cNvPr name="TextBox 20" id="20"/>
          <p:cNvSpPr txBox="true"/>
          <p:nvPr/>
        </p:nvSpPr>
        <p:spPr>
          <a:xfrm rot="0">
            <a:off x="10325100" y="3867150"/>
            <a:ext cx="3181350" cy="604838"/>
          </a:xfrm>
          <a:prstGeom prst="rect">
            <a:avLst/>
          </a:prstGeom>
        </p:spPr>
        <p:txBody>
          <a:bodyPr anchor="t" rtlCol="false" tIns="0" lIns="0" bIns="0" rIns="0">
            <a:spAutoFit/>
          </a:bodyPr>
          <a:lstStyle/>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Objetivo de la semana</a:t>
            </a:r>
          </a:p>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Alcance priorizado</a:t>
            </a:r>
          </a:p>
        </p:txBody>
      </p:sp>
      <p:sp>
        <p:nvSpPr>
          <p:cNvPr name="TextBox 21" id="21"/>
          <p:cNvSpPr txBox="true"/>
          <p:nvPr/>
        </p:nvSpPr>
        <p:spPr>
          <a:xfrm rot="0">
            <a:off x="13944600" y="3305175"/>
            <a:ext cx="3181350" cy="373380"/>
          </a:xfrm>
          <a:prstGeom prst="rect">
            <a:avLst/>
          </a:prstGeom>
        </p:spPr>
        <p:txBody>
          <a:bodyPr anchor="t" rtlCol="false" tIns="0" lIns="0" bIns="0" rIns="0">
            <a:spAutoFit/>
          </a:bodyPr>
          <a:lstStyle/>
          <a:p>
            <a:pPr algn="l" marL="0" indent="0" lvl="0">
              <a:lnSpc>
                <a:spcPts val="3045"/>
              </a:lnSpc>
              <a:spcBef>
                <a:spcPct val="0"/>
              </a:spcBef>
            </a:pPr>
            <a:r>
              <a:rPr lang="en-US" sz="2175" strike="noStrike" u="none">
                <a:solidFill>
                  <a:srgbClr val="FFF3DF"/>
                </a:solidFill>
                <a:latin typeface="Archivo Black"/>
                <a:ea typeface="Archivo Black"/>
                <a:cs typeface="Archivo Black"/>
                <a:sym typeface="Archivo Black"/>
              </a:rPr>
              <a:t>2 · CONSTRUIR</a:t>
            </a:r>
          </a:p>
        </p:txBody>
      </p:sp>
      <p:sp>
        <p:nvSpPr>
          <p:cNvPr name="TextBox 22" id="22"/>
          <p:cNvSpPr txBox="true"/>
          <p:nvPr/>
        </p:nvSpPr>
        <p:spPr>
          <a:xfrm rot="0">
            <a:off x="13944600" y="3867150"/>
            <a:ext cx="3181350" cy="604838"/>
          </a:xfrm>
          <a:prstGeom prst="rect">
            <a:avLst/>
          </a:prstGeom>
        </p:spPr>
        <p:txBody>
          <a:bodyPr anchor="t" rtlCol="false" tIns="0" lIns="0" bIns="0" rIns="0">
            <a:spAutoFit/>
          </a:bodyPr>
          <a:lstStyle/>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Entregas incrementales</a:t>
            </a:r>
          </a:p>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Pruebas continuas</a:t>
            </a:r>
          </a:p>
        </p:txBody>
      </p:sp>
      <p:sp>
        <p:nvSpPr>
          <p:cNvPr name="TextBox 23" id="23"/>
          <p:cNvSpPr txBox="true"/>
          <p:nvPr/>
        </p:nvSpPr>
        <p:spPr>
          <a:xfrm rot="0">
            <a:off x="13944600" y="5686425"/>
            <a:ext cx="3181350" cy="373380"/>
          </a:xfrm>
          <a:prstGeom prst="rect">
            <a:avLst/>
          </a:prstGeom>
        </p:spPr>
        <p:txBody>
          <a:bodyPr anchor="t" rtlCol="false" tIns="0" lIns="0" bIns="0" rIns="0">
            <a:spAutoFit/>
          </a:bodyPr>
          <a:lstStyle/>
          <a:p>
            <a:pPr algn="l" marL="0" indent="0" lvl="0">
              <a:lnSpc>
                <a:spcPts val="3045"/>
              </a:lnSpc>
              <a:spcBef>
                <a:spcPct val="0"/>
              </a:spcBef>
            </a:pPr>
            <a:r>
              <a:rPr lang="en-US" sz="2175" strike="noStrike" u="none">
                <a:solidFill>
                  <a:srgbClr val="FFF3DF"/>
                </a:solidFill>
                <a:latin typeface="Archivo Black"/>
                <a:ea typeface="Archivo Black"/>
                <a:cs typeface="Archivo Black"/>
                <a:sym typeface="Archivo Black"/>
              </a:rPr>
              <a:t>3 · PROBAR</a:t>
            </a:r>
          </a:p>
        </p:txBody>
      </p:sp>
      <p:sp>
        <p:nvSpPr>
          <p:cNvPr name="TextBox 24" id="24"/>
          <p:cNvSpPr txBox="true"/>
          <p:nvPr/>
        </p:nvSpPr>
        <p:spPr>
          <a:xfrm rot="0">
            <a:off x="13944600" y="6248400"/>
            <a:ext cx="3181350" cy="604838"/>
          </a:xfrm>
          <a:prstGeom prst="rect">
            <a:avLst/>
          </a:prstGeom>
        </p:spPr>
        <p:txBody>
          <a:bodyPr anchor="t" rtlCol="false" tIns="0" lIns="0" bIns="0" rIns="0">
            <a:spAutoFit/>
          </a:bodyPr>
          <a:lstStyle/>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Cámaras y modelos reales</a:t>
            </a:r>
          </a:p>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Requisitos que se ajustan</a:t>
            </a:r>
          </a:p>
        </p:txBody>
      </p:sp>
      <p:sp>
        <p:nvSpPr>
          <p:cNvPr name="TextBox 25" id="25"/>
          <p:cNvSpPr txBox="true"/>
          <p:nvPr/>
        </p:nvSpPr>
        <p:spPr>
          <a:xfrm rot="0">
            <a:off x="10325100" y="5686425"/>
            <a:ext cx="3181350" cy="373380"/>
          </a:xfrm>
          <a:prstGeom prst="rect">
            <a:avLst/>
          </a:prstGeom>
        </p:spPr>
        <p:txBody>
          <a:bodyPr anchor="t" rtlCol="false" tIns="0" lIns="0" bIns="0" rIns="0">
            <a:spAutoFit/>
          </a:bodyPr>
          <a:lstStyle/>
          <a:p>
            <a:pPr algn="l" marL="0" indent="0" lvl="0">
              <a:lnSpc>
                <a:spcPts val="3045"/>
              </a:lnSpc>
              <a:spcBef>
                <a:spcPct val="0"/>
              </a:spcBef>
            </a:pPr>
            <a:r>
              <a:rPr lang="en-US" sz="2175" strike="noStrike" u="none">
                <a:solidFill>
                  <a:srgbClr val="FFF3DF"/>
                </a:solidFill>
                <a:latin typeface="Archivo Black"/>
                <a:ea typeface="Archivo Black"/>
                <a:cs typeface="Archivo Black"/>
                <a:sym typeface="Archivo Black"/>
              </a:rPr>
              <a:t>4 · REVISAR</a:t>
            </a:r>
          </a:p>
        </p:txBody>
      </p:sp>
      <p:sp>
        <p:nvSpPr>
          <p:cNvPr name="TextBox 26" id="26"/>
          <p:cNvSpPr txBox="true"/>
          <p:nvPr/>
        </p:nvSpPr>
        <p:spPr>
          <a:xfrm rot="0">
            <a:off x="10325100" y="6248400"/>
            <a:ext cx="3181350" cy="604838"/>
          </a:xfrm>
          <a:prstGeom prst="rect">
            <a:avLst/>
          </a:prstGeom>
        </p:spPr>
        <p:txBody>
          <a:bodyPr anchor="t" rtlCol="false" tIns="0" lIns="0" bIns="0" rIns="0">
            <a:spAutoFit/>
          </a:bodyPr>
          <a:lstStyle/>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Revisión cruzada</a:t>
            </a:r>
          </a:p>
          <a:p>
            <a:pPr algn="l" marL="0" indent="0" lvl="0">
              <a:lnSpc>
                <a:spcPts val="2437"/>
              </a:lnSpc>
              <a:spcBef>
                <a:spcPct val="0"/>
              </a:spcBef>
            </a:pPr>
            <a:r>
              <a:rPr lang="en-US" sz="1875" strike="noStrike" u="none">
                <a:solidFill>
                  <a:srgbClr val="FFF3DF"/>
                </a:solidFill>
                <a:latin typeface="Montserrat"/>
                <a:ea typeface="Montserrat"/>
                <a:cs typeface="Montserrat"/>
                <a:sym typeface="Montserrat"/>
              </a:rPr>
              <a:t>Bitácora de sesiones</a:t>
            </a:r>
          </a:p>
        </p:txBody>
      </p:sp>
      <p:sp>
        <p:nvSpPr>
          <p:cNvPr name="TextBox 27" id="27"/>
          <p:cNvSpPr txBox="true"/>
          <p:nvPr/>
        </p:nvSpPr>
        <p:spPr>
          <a:xfrm rot="0">
            <a:off x="2381250" y="8524875"/>
            <a:ext cx="13525500" cy="405765"/>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FFB000"/>
                </a:solidFill>
                <a:latin typeface="Archivo Black"/>
                <a:ea typeface="Archivo Black"/>
                <a:cs typeface="Archivo Black"/>
                <a:sym typeface="Archivo Black"/>
              </a:rPr>
              <a:t>CICLO SEMANAL: PLANIFICAR → CONSTRUIR → PROBAR → REVISAR</a:t>
            </a:r>
          </a:p>
        </p:txBody>
      </p:sp>
      <p:sp>
        <p:nvSpPr>
          <p:cNvPr name="TextBox 28" id="28"/>
          <p:cNvSpPr txBox="true"/>
          <p:nvPr/>
        </p:nvSpPr>
        <p:spPr>
          <a:xfrm rot="0">
            <a:off x="952500" y="3086100"/>
            <a:ext cx="8382000" cy="3768090"/>
          </a:xfrm>
          <a:prstGeom prst="rect">
            <a:avLst/>
          </a:prstGeom>
        </p:spPr>
        <p:txBody>
          <a:bodyPr anchor="t" rtlCol="false" tIns="0" lIns="0" bIns="0" rIns="0">
            <a:spAutoFit/>
          </a:bodyPr>
          <a:lstStyle/>
          <a:p>
            <a:pPr algn="l">
              <a:lnSpc>
                <a:spcPts val="3359"/>
              </a:lnSpc>
            </a:pPr>
            <a:r>
              <a:rPr lang="en-US" sz="2400">
                <a:solidFill>
                  <a:srgbClr val="FFF3DF"/>
                </a:solidFill>
                <a:latin typeface="Arimo"/>
                <a:ea typeface="Arimo"/>
                <a:cs typeface="Arimo"/>
                <a:sym typeface="Arimo"/>
              </a:rPr>
              <a:t>El proyecto FireWatch se desarrolló con una metodología ágil iterativa, un modelo que avanza en ciclos semanales cortos. En cada ciclo se planifica un objetivo, se construye un incremento, se prueba con cámaras y modelos reales y se revisa con el equipo y el profesor. Así, los requisitos se ajustan según lo que muestran las pruebas, y los hitos fijos (congelar funciones el 30 de octubre, memoria el 4 de noviembre, ensayo el 5 y entrega el 7) mantienen el control del avance.</a:t>
            </a:r>
          </a:p>
        </p:txBody>
      </p:sp>
      <p:sp>
        <p:nvSpPr>
          <p:cNvPr name="TextBox 29" id="29"/>
          <p:cNvSpPr txBox="true"/>
          <p:nvPr/>
        </p:nvSpPr>
        <p:spPr>
          <a:xfrm rot="0">
            <a:off x="952500" y="7248525"/>
            <a:ext cx="8382000" cy="702945"/>
          </a:xfrm>
          <a:prstGeom prst="rect">
            <a:avLst/>
          </a:prstGeom>
        </p:spPr>
        <p:txBody>
          <a:bodyPr anchor="t" rtlCol="false" tIns="0" lIns="0" bIns="0" rIns="0">
            <a:spAutoFit/>
          </a:bodyPr>
          <a:lstStyle/>
          <a:p>
            <a:pPr algn="l">
              <a:lnSpc>
                <a:spcPts val="2835"/>
              </a:lnSpc>
            </a:pPr>
            <a:r>
              <a:rPr lang="en-US" sz="2100">
                <a:solidFill>
                  <a:srgbClr val="FFB000"/>
                </a:solidFill>
                <a:latin typeface="Arimo"/>
                <a:ea typeface="Arimo"/>
                <a:cs typeface="Arimo"/>
                <a:sym typeface="Arimo"/>
              </a:rPr>
              <a:t>Se descartó cascada porque el rendimiento de los modelos no se conocía de antemano, y Scrum por ser un equipo de dos personas.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4287500" cy="629379"/>
          </a:xfrm>
          <a:prstGeom prst="rect">
            <a:avLst/>
          </a:prstGeom>
        </p:spPr>
        <p:txBody>
          <a:bodyPr anchor="t" rtlCol="false" tIns="0" lIns="0" bIns="0" rIns="0">
            <a:spAutoFit/>
          </a:bodyPr>
          <a:lstStyle/>
          <a:p>
            <a:pPr algn="l" marL="0" indent="0" lvl="0">
              <a:lnSpc>
                <a:spcPts val="4704"/>
              </a:lnSpc>
              <a:spcBef>
                <a:spcPct val="0"/>
              </a:spcBef>
            </a:pPr>
            <a:r>
              <a:rPr lang="en-US" b="true" sz="4800" spc="-144" strike="noStrike" u="none">
                <a:solidFill>
                  <a:srgbClr val="FFF3DF"/>
                </a:solidFill>
                <a:latin typeface="Barlow Condensed Bold"/>
                <a:ea typeface="Barlow Condensed Bold"/>
                <a:cs typeface="Barlow Condensed Bold"/>
                <a:sym typeface="Barlow Condensed Bold"/>
              </a:rPr>
              <a:t>CRONOGRAMA DEL PROYECTO</a:t>
            </a:r>
          </a:p>
        </p:txBody>
      </p:sp>
      <p:sp>
        <p:nvSpPr>
          <p:cNvPr name="TextBox 3" id="3"/>
          <p:cNvSpPr txBox="true"/>
          <p:nvPr/>
        </p:nvSpPr>
        <p:spPr>
          <a:xfrm rot="0">
            <a:off x="952500" y="1451610"/>
            <a:ext cx="1619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Duración total de 11 semanas, desde el 22 de agosto hasta la entrega el 7 de noviembre de 2026.</a:t>
            </a:r>
          </a:p>
        </p:txBody>
      </p:sp>
      <p:grpSp>
        <p:nvGrpSpPr>
          <p:cNvPr name="Group 4" id="4"/>
          <p:cNvGrpSpPr/>
          <p:nvPr/>
        </p:nvGrpSpPr>
        <p:grpSpPr>
          <a:xfrm rot="0">
            <a:off x="552450" y="666750"/>
            <a:ext cx="133350" cy="1123950"/>
            <a:chOff x="0" y="0"/>
            <a:chExt cx="177800" cy="1498600"/>
          </a:xfrm>
        </p:grpSpPr>
        <p:sp>
          <p:nvSpPr>
            <p:cNvPr name="Freeform 5" id="5"/>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a:ln cap="sq">
              <a:noFill/>
              <a:prstDash val="solid"/>
              <a:miter/>
            </a:ln>
          </p:spPr>
        </p:sp>
        <p:sp>
          <p:nvSpPr>
            <p:cNvPr name="TextBox 6" id="6"/>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952500" y="2571750"/>
            <a:ext cx="5143500" cy="4953000"/>
            <a:chOff x="0" y="0"/>
            <a:chExt cx="6858000" cy="6604000"/>
          </a:xfrm>
        </p:grpSpPr>
        <p:sp>
          <p:nvSpPr>
            <p:cNvPr name="Freeform 8" id="8"/>
            <p:cNvSpPr/>
            <p:nvPr/>
          </p:nvSpPr>
          <p:spPr>
            <a:xfrm flipH="false" flipV="false" rot="0">
              <a:off x="0" y="0"/>
              <a:ext cx="6858000" cy="6604000"/>
            </a:xfrm>
            <a:custGeom>
              <a:avLst/>
              <a:gdLst/>
              <a:ahLst/>
              <a:cxnLst/>
              <a:rect r="r" b="b" t="t" l="l"/>
              <a:pathLst>
                <a:path h="6604000" w="6858000">
                  <a:moveTo>
                    <a:pt x="0" y="0"/>
                  </a:moveTo>
                  <a:lnTo>
                    <a:pt x="6858000" y="0"/>
                  </a:lnTo>
                  <a:lnTo>
                    <a:pt x="6858000" y="6604000"/>
                  </a:lnTo>
                  <a:lnTo>
                    <a:pt x="0" y="6604000"/>
                  </a:lnTo>
                  <a:close/>
                </a:path>
              </a:pathLst>
            </a:custGeom>
            <a:solidFill>
              <a:srgbClr val="221B18"/>
            </a:solidFill>
          </p:spPr>
        </p:sp>
        <p:sp>
          <p:nvSpPr>
            <p:cNvPr name="TextBox 9" id="9"/>
            <p:cNvSpPr txBox="true"/>
            <p:nvPr/>
          </p:nvSpPr>
          <p:spPr>
            <a:xfrm>
              <a:off x="0" y="-38100"/>
              <a:ext cx="6858000" cy="6642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19875" y="2571750"/>
            <a:ext cx="5143500" cy="4953000"/>
            <a:chOff x="0" y="0"/>
            <a:chExt cx="6858000" cy="6604000"/>
          </a:xfrm>
        </p:grpSpPr>
        <p:sp>
          <p:nvSpPr>
            <p:cNvPr name="Freeform 11" id="11"/>
            <p:cNvSpPr/>
            <p:nvPr/>
          </p:nvSpPr>
          <p:spPr>
            <a:xfrm flipH="false" flipV="false" rot="0">
              <a:off x="0" y="0"/>
              <a:ext cx="6858000" cy="6604000"/>
            </a:xfrm>
            <a:custGeom>
              <a:avLst/>
              <a:gdLst/>
              <a:ahLst/>
              <a:cxnLst/>
              <a:rect r="r" b="b" t="t" l="l"/>
              <a:pathLst>
                <a:path h="6604000" w="6858000">
                  <a:moveTo>
                    <a:pt x="0" y="0"/>
                  </a:moveTo>
                  <a:lnTo>
                    <a:pt x="6858000" y="0"/>
                  </a:lnTo>
                  <a:lnTo>
                    <a:pt x="6858000" y="6604000"/>
                  </a:lnTo>
                  <a:lnTo>
                    <a:pt x="0" y="6604000"/>
                  </a:lnTo>
                  <a:close/>
                </a:path>
              </a:pathLst>
            </a:custGeom>
            <a:solidFill>
              <a:srgbClr val="D92D20"/>
            </a:solidFill>
          </p:spPr>
        </p:sp>
        <p:sp>
          <p:nvSpPr>
            <p:cNvPr name="TextBox 12" id="12"/>
            <p:cNvSpPr txBox="true"/>
            <p:nvPr/>
          </p:nvSpPr>
          <p:spPr>
            <a:xfrm>
              <a:off x="0" y="-38100"/>
              <a:ext cx="6858000" cy="6642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2287250" y="2571750"/>
            <a:ext cx="5143500" cy="4953000"/>
            <a:chOff x="0" y="0"/>
            <a:chExt cx="6858000" cy="6604000"/>
          </a:xfrm>
        </p:grpSpPr>
        <p:sp>
          <p:nvSpPr>
            <p:cNvPr name="Freeform 14" id="14"/>
            <p:cNvSpPr/>
            <p:nvPr/>
          </p:nvSpPr>
          <p:spPr>
            <a:xfrm flipH="false" flipV="false" rot="0">
              <a:off x="0" y="0"/>
              <a:ext cx="6858000" cy="6604000"/>
            </a:xfrm>
            <a:custGeom>
              <a:avLst/>
              <a:gdLst/>
              <a:ahLst/>
              <a:cxnLst/>
              <a:rect r="r" b="b" t="t" l="l"/>
              <a:pathLst>
                <a:path h="6604000" w="6858000">
                  <a:moveTo>
                    <a:pt x="0" y="0"/>
                  </a:moveTo>
                  <a:lnTo>
                    <a:pt x="6858000" y="0"/>
                  </a:lnTo>
                  <a:lnTo>
                    <a:pt x="6858000" y="6604000"/>
                  </a:lnTo>
                  <a:lnTo>
                    <a:pt x="0" y="6604000"/>
                  </a:lnTo>
                  <a:close/>
                </a:path>
              </a:pathLst>
            </a:custGeom>
            <a:solidFill>
              <a:srgbClr val="221B18"/>
            </a:solidFill>
          </p:spPr>
        </p:sp>
        <p:sp>
          <p:nvSpPr>
            <p:cNvPr name="TextBox 15" id="15"/>
            <p:cNvSpPr txBox="true"/>
            <p:nvPr/>
          </p:nvSpPr>
          <p:spPr>
            <a:xfrm>
              <a:off x="0" y="-38100"/>
              <a:ext cx="6858000" cy="6642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1238250" y="2800350"/>
            <a:ext cx="4572000" cy="400050"/>
          </a:xfrm>
          <a:prstGeom prst="rect">
            <a:avLst/>
          </a:prstGeom>
        </p:spPr>
        <p:txBody>
          <a:bodyPr anchor="t" rtlCol="false" tIns="0" lIns="0" bIns="0" rIns="0">
            <a:spAutoFit/>
          </a:bodyPr>
          <a:lstStyle/>
          <a:p>
            <a:pPr algn="l">
              <a:lnSpc>
                <a:spcPts val="3149"/>
              </a:lnSpc>
            </a:pPr>
            <a:r>
              <a:rPr lang="en-US" sz="2250" b="true">
                <a:solidFill>
                  <a:srgbClr val="FFB000"/>
                </a:solidFill>
                <a:latin typeface="Arimo Bold"/>
                <a:ea typeface="Arimo Bold"/>
                <a:cs typeface="Arimo Bold"/>
                <a:sym typeface="Arimo Bold"/>
              </a:rPr>
              <a:t>FASE 1</a:t>
            </a:r>
          </a:p>
        </p:txBody>
      </p:sp>
      <p:sp>
        <p:nvSpPr>
          <p:cNvPr name="TextBox 17" id="17"/>
          <p:cNvSpPr txBox="true"/>
          <p:nvPr/>
        </p:nvSpPr>
        <p:spPr>
          <a:xfrm rot="0">
            <a:off x="1238250" y="3314700"/>
            <a:ext cx="4572000" cy="397193"/>
          </a:xfrm>
          <a:prstGeom prst="rect">
            <a:avLst/>
          </a:prstGeom>
        </p:spPr>
        <p:txBody>
          <a:bodyPr anchor="t" rtlCol="false" tIns="0" lIns="0" bIns="0" rIns="0">
            <a:spAutoFit/>
          </a:bodyPr>
          <a:lstStyle/>
          <a:p>
            <a:pPr algn="l">
              <a:lnSpc>
                <a:spcPts val="2992"/>
              </a:lnSpc>
            </a:pPr>
            <a:r>
              <a:rPr lang="en-US" sz="2850" b="true">
                <a:solidFill>
                  <a:srgbClr val="FFF3DF"/>
                </a:solidFill>
                <a:latin typeface="Arimo Bold"/>
                <a:ea typeface="Arimo Bold"/>
                <a:cs typeface="Arimo Bold"/>
                <a:sym typeface="Arimo Bold"/>
              </a:rPr>
              <a:t>ANÁLISIS Y DISEÑO</a:t>
            </a:r>
          </a:p>
        </p:txBody>
      </p:sp>
      <p:sp>
        <p:nvSpPr>
          <p:cNvPr name="TextBox 18" id="18"/>
          <p:cNvSpPr txBox="true"/>
          <p:nvPr/>
        </p:nvSpPr>
        <p:spPr>
          <a:xfrm rot="0">
            <a:off x="1238250" y="3752850"/>
            <a:ext cx="4572000" cy="350520"/>
          </a:xfrm>
          <a:prstGeom prst="rect">
            <a:avLst/>
          </a:prstGeom>
        </p:spPr>
        <p:txBody>
          <a:bodyPr anchor="t" rtlCol="false" tIns="0" lIns="0" bIns="0" rIns="0">
            <a:spAutoFit/>
          </a:bodyPr>
          <a:lstStyle/>
          <a:p>
            <a:pPr algn="l">
              <a:lnSpc>
                <a:spcPts val="2729"/>
              </a:lnSpc>
            </a:pPr>
            <a:r>
              <a:rPr lang="en-US" sz="1950">
                <a:solidFill>
                  <a:srgbClr val="CBBBAD"/>
                </a:solidFill>
                <a:latin typeface="Arimo"/>
                <a:ea typeface="Arimo"/>
                <a:cs typeface="Arimo"/>
                <a:sym typeface="Arimo"/>
              </a:rPr>
              <a:t>22 ago – 5 sep</a:t>
            </a:r>
          </a:p>
        </p:txBody>
      </p:sp>
      <p:sp>
        <p:nvSpPr>
          <p:cNvPr name="TextBox 19" id="19"/>
          <p:cNvSpPr txBox="true"/>
          <p:nvPr/>
        </p:nvSpPr>
        <p:spPr>
          <a:xfrm rot="0">
            <a:off x="1238250" y="4438650"/>
            <a:ext cx="4572000" cy="2817495"/>
          </a:xfrm>
          <a:prstGeom prst="rect">
            <a:avLst/>
          </a:prstGeom>
        </p:spPr>
        <p:txBody>
          <a:bodyPr anchor="t" rtlCol="false" tIns="0" lIns="0" bIns="0" rIns="0">
            <a:spAutoFit/>
          </a:bodyPr>
          <a:lstStyle/>
          <a:p>
            <a:pPr algn="l" marL="453390" indent="-226695" lvl="1">
              <a:lnSpc>
                <a:spcPts val="2835"/>
              </a:lnSpc>
              <a:buFont typeface="Arial"/>
              <a:buChar char="•"/>
            </a:pPr>
            <a:r>
              <a:rPr lang="en-US" sz="2100">
                <a:solidFill>
                  <a:srgbClr val="FFF3DF"/>
                </a:solidFill>
                <a:latin typeface="Arimo"/>
                <a:ea typeface="Arimo"/>
                <a:cs typeface="Arimo"/>
                <a:sym typeface="Arimo"/>
              </a:rPr>
              <a:t>Auditoría técnica del código existente</a:t>
            </a:r>
          </a:p>
          <a:p>
            <a:pPr algn="l" marL="453390" indent="-226695" lvl="1">
              <a:lnSpc>
                <a:spcPts val="2835"/>
              </a:lnSpc>
              <a:buFont typeface="Arial"/>
              <a:buChar char="•"/>
            </a:pPr>
            <a:r>
              <a:rPr lang="en-US" sz="2100">
                <a:solidFill>
                  <a:srgbClr val="FFF3DF"/>
                </a:solidFill>
                <a:latin typeface="Arimo"/>
                <a:ea typeface="Arimo"/>
                <a:cs typeface="Arimo"/>
                <a:sym typeface="Arimo"/>
              </a:rPr>
              <a:t>Levantamiento de requisitos y casos de uso</a:t>
            </a:r>
          </a:p>
          <a:p>
            <a:pPr algn="l" marL="453390" indent="-226695" lvl="1">
              <a:lnSpc>
                <a:spcPts val="2835"/>
              </a:lnSpc>
              <a:buFont typeface="Arial"/>
              <a:buChar char="•"/>
            </a:pPr>
            <a:r>
              <a:rPr lang="en-US" sz="2100">
                <a:solidFill>
                  <a:srgbClr val="FFF3DF"/>
                </a:solidFill>
                <a:latin typeface="Arimo"/>
                <a:ea typeface="Arimo"/>
                <a:cs typeface="Arimo"/>
                <a:sym typeface="Arimo"/>
              </a:rPr>
              <a:t>Diseño de la arquitectura de 4 componentes</a:t>
            </a:r>
          </a:p>
          <a:p>
            <a:pPr algn="l" marL="453390" indent="-226695" lvl="1">
              <a:lnSpc>
                <a:spcPts val="2835"/>
              </a:lnSpc>
              <a:buFont typeface="Arial"/>
              <a:buChar char="•"/>
            </a:pPr>
            <a:r>
              <a:rPr lang="en-US" sz="2100">
                <a:solidFill>
                  <a:srgbClr val="FFF3DF"/>
                </a:solidFill>
                <a:latin typeface="Arimo"/>
                <a:ea typeface="Arimo"/>
                <a:cs typeface="Arimo"/>
                <a:sym typeface="Arimo"/>
              </a:rPr>
              <a:t>Modelo de datos y definición de la API</a:t>
            </a:r>
          </a:p>
        </p:txBody>
      </p:sp>
      <p:sp>
        <p:nvSpPr>
          <p:cNvPr name="TextBox 20" id="20"/>
          <p:cNvSpPr txBox="true"/>
          <p:nvPr/>
        </p:nvSpPr>
        <p:spPr>
          <a:xfrm rot="0">
            <a:off x="6905625" y="2800350"/>
            <a:ext cx="4572000" cy="400050"/>
          </a:xfrm>
          <a:prstGeom prst="rect">
            <a:avLst/>
          </a:prstGeom>
        </p:spPr>
        <p:txBody>
          <a:bodyPr anchor="t" rtlCol="false" tIns="0" lIns="0" bIns="0" rIns="0">
            <a:spAutoFit/>
          </a:bodyPr>
          <a:lstStyle/>
          <a:p>
            <a:pPr algn="l">
              <a:lnSpc>
                <a:spcPts val="3149"/>
              </a:lnSpc>
            </a:pPr>
            <a:r>
              <a:rPr lang="en-US" sz="2250" b="true">
                <a:solidFill>
                  <a:srgbClr val="FFB000"/>
                </a:solidFill>
                <a:latin typeface="Arimo Bold"/>
                <a:ea typeface="Arimo Bold"/>
                <a:cs typeface="Arimo Bold"/>
                <a:sym typeface="Arimo Bold"/>
              </a:rPr>
              <a:t>FASE 2</a:t>
            </a:r>
          </a:p>
        </p:txBody>
      </p:sp>
      <p:sp>
        <p:nvSpPr>
          <p:cNvPr name="TextBox 21" id="21"/>
          <p:cNvSpPr txBox="true"/>
          <p:nvPr/>
        </p:nvSpPr>
        <p:spPr>
          <a:xfrm rot="0">
            <a:off x="6905625" y="3314700"/>
            <a:ext cx="4572000" cy="397193"/>
          </a:xfrm>
          <a:prstGeom prst="rect">
            <a:avLst/>
          </a:prstGeom>
        </p:spPr>
        <p:txBody>
          <a:bodyPr anchor="t" rtlCol="false" tIns="0" lIns="0" bIns="0" rIns="0">
            <a:spAutoFit/>
          </a:bodyPr>
          <a:lstStyle/>
          <a:p>
            <a:pPr algn="l" marL="0" indent="0" lvl="0">
              <a:lnSpc>
                <a:spcPts val="2992"/>
              </a:lnSpc>
              <a:spcBef>
                <a:spcPct val="0"/>
              </a:spcBef>
            </a:pPr>
            <a:r>
              <a:rPr lang="en-US" b="true" sz="2850" strike="noStrike" u="none">
                <a:solidFill>
                  <a:srgbClr val="FFF3DF"/>
                </a:solidFill>
                <a:latin typeface="Arimo Bold"/>
                <a:ea typeface="Arimo Bold"/>
                <a:cs typeface="Arimo Bold"/>
                <a:sym typeface="Arimo Bold"/>
              </a:rPr>
              <a:t>DESARROLLO</a:t>
            </a:r>
          </a:p>
        </p:txBody>
      </p:sp>
      <p:sp>
        <p:nvSpPr>
          <p:cNvPr name="TextBox 22" id="22"/>
          <p:cNvSpPr txBox="true"/>
          <p:nvPr/>
        </p:nvSpPr>
        <p:spPr>
          <a:xfrm rot="0">
            <a:off x="6905625" y="3752850"/>
            <a:ext cx="4572000" cy="350520"/>
          </a:xfrm>
          <a:prstGeom prst="rect">
            <a:avLst/>
          </a:prstGeom>
        </p:spPr>
        <p:txBody>
          <a:bodyPr anchor="t" rtlCol="false" tIns="0" lIns="0" bIns="0" rIns="0">
            <a:spAutoFit/>
          </a:bodyPr>
          <a:lstStyle/>
          <a:p>
            <a:pPr algn="l">
              <a:lnSpc>
                <a:spcPts val="2729"/>
              </a:lnSpc>
            </a:pPr>
            <a:r>
              <a:rPr lang="en-US" sz="1950">
                <a:solidFill>
                  <a:srgbClr val="FFF3DF"/>
                </a:solidFill>
                <a:latin typeface="Arimo"/>
                <a:ea typeface="Arimo"/>
                <a:cs typeface="Arimo"/>
                <a:sym typeface="Arimo"/>
              </a:rPr>
              <a:t>6 sep – 15 oct</a:t>
            </a:r>
          </a:p>
        </p:txBody>
      </p:sp>
      <p:sp>
        <p:nvSpPr>
          <p:cNvPr name="TextBox 23" id="23"/>
          <p:cNvSpPr txBox="true"/>
          <p:nvPr/>
        </p:nvSpPr>
        <p:spPr>
          <a:xfrm rot="0">
            <a:off x="6905625" y="4438650"/>
            <a:ext cx="4572000" cy="2465070"/>
          </a:xfrm>
          <a:prstGeom prst="rect">
            <a:avLst/>
          </a:prstGeom>
        </p:spPr>
        <p:txBody>
          <a:bodyPr anchor="t" rtlCol="false" tIns="0" lIns="0" bIns="0" rIns="0">
            <a:spAutoFit/>
          </a:bodyPr>
          <a:lstStyle/>
          <a:p>
            <a:pPr algn="l" marL="453390" indent="-226695" lvl="1">
              <a:lnSpc>
                <a:spcPts val="2835"/>
              </a:lnSpc>
              <a:buFont typeface="Arial"/>
              <a:buChar char="•"/>
            </a:pPr>
            <a:r>
              <a:rPr lang="en-US" sz="2100">
                <a:solidFill>
                  <a:srgbClr val="FFF3DF"/>
                </a:solidFill>
                <a:latin typeface="Arimo"/>
                <a:ea typeface="Arimo"/>
                <a:cs typeface="Arimo"/>
                <a:sym typeface="Arimo"/>
              </a:rPr>
              <a:t>Backend FastAPI con base SQLite</a:t>
            </a:r>
          </a:p>
          <a:p>
            <a:pPr algn="l" marL="453390" indent="-226695" lvl="1">
              <a:lnSpc>
                <a:spcPts val="2835"/>
              </a:lnSpc>
              <a:buFont typeface="Arial"/>
              <a:buChar char="•"/>
            </a:pPr>
            <a:r>
              <a:rPr lang="en-US" sz="2100">
                <a:solidFill>
                  <a:srgbClr val="FFF3DF"/>
                </a:solidFill>
                <a:latin typeface="Arimo"/>
                <a:ea typeface="Arimo"/>
                <a:cs typeface="Arimo"/>
                <a:sym typeface="Arimo"/>
              </a:rPr>
              <a:t>Cámara con los dos modelos de detección</a:t>
            </a:r>
          </a:p>
          <a:p>
            <a:pPr algn="l" marL="453390" indent="-226695" lvl="1">
              <a:lnSpc>
                <a:spcPts val="2835"/>
              </a:lnSpc>
              <a:buFont typeface="Arial"/>
              <a:buChar char="•"/>
            </a:pPr>
            <a:r>
              <a:rPr lang="en-US" sz="2100">
                <a:solidFill>
                  <a:srgbClr val="FFF3DF"/>
                </a:solidFill>
                <a:latin typeface="Arimo"/>
                <a:ea typeface="Arimo"/>
                <a:cs typeface="Arimo"/>
                <a:sym typeface="Arimo"/>
              </a:rPr>
              <a:t>Escritorio de monitoreo de alertas</a:t>
            </a:r>
          </a:p>
          <a:p>
            <a:pPr algn="l" marL="453390" indent="-226695" lvl="1">
              <a:lnSpc>
                <a:spcPts val="2835"/>
              </a:lnSpc>
              <a:buFont typeface="Arial"/>
              <a:buChar char="•"/>
            </a:pPr>
            <a:r>
              <a:rPr lang="en-US" sz="2100">
                <a:solidFill>
                  <a:srgbClr val="FFF3DF"/>
                </a:solidFill>
                <a:latin typeface="Arimo"/>
                <a:ea typeface="Arimo"/>
                <a:cs typeface="Arimo"/>
                <a:sym typeface="Arimo"/>
              </a:rPr>
              <a:t>Mapa con propagación experimental</a:t>
            </a:r>
          </a:p>
          <a:p>
            <a:pPr algn="l" marL="453390" indent="-226695" lvl="1">
              <a:lnSpc>
                <a:spcPts val="2835"/>
              </a:lnSpc>
              <a:buFont typeface="Arial"/>
              <a:buChar char="•"/>
            </a:pPr>
            <a:r>
              <a:rPr lang="en-US" sz="2100">
                <a:solidFill>
                  <a:srgbClr val="FFF3DF"/>
                </a:solidFill>
                <a:latin typeface="Arimo"/>
                <a:ea typeface="Arimo"/>
                <a:cs typeface="Arimo"/>
                <a:sym typeface="Arimo"/>
              </a:rPr>
              <a:t>Integración de punta a punta</a:t>
            </a:r>
          </a:p>
        </p:txBody>
      </p:sp>
      <p:sp>
        <p:nvSpPr>
          <p:cNvPr name="TextBox 24" id="24"/>
          <p:cNvSpPr txBox="true"/>
          <p:nvPr/>
        </p:nvSpPr>
        <p:spPr>
          <a:xfrm rot="0">
            <a:off x="12573000" y="2800350"/>
            <a:ext cx="4572000" cy="400050"/>
          </a:xfrm>
          <a:prstGeom prst="rect">
            <a:avLst/>
          </a:prstGeom>
        </p:spPr>
        <p:txBody>
          <a:bodyPr anchor="t" rtlCol="false" tIns="0" lIns="0" bIns="0" rIns="0">
            <a:spAutoFit/>
          </a:bodyPr>
          <a:lstStyle/>
          <a:p>
            <a:pPr algn="l">
              <a:lnSpc>
                <a:spcPts val="3149"/>
              </a:lnSpc>
            </a:pPr>
            <a:r>
              <a:rPr lang="en-US" sz="2250" b="true">
                <a:solidFill>
                  <a:srgbClr val="FFB000"/>
                </a:solidFill>
                <a:latin typeface="Arimo Bold"/>
                <a:ea typeface="Arimo Bold"/>
                <a:cs typeface="Arimo Bold"/>
                <a:sym typeface="Arimo Bold"/>
              </a:rPr>
              <a:t>FASE 3</a:t>
            </a:r>
          </a:p>
        </p:txBody>
      </p:sp>
      <p:sp>
        <p:nvSpPr>
          <p:cNvPr name="TextBox 25" id="25"/>
          <p:cNvSpPr txBox="true"/>
          <p:nvPr/>
        </p:nvSpPr>
        <p:spPr>
          <a:xfrm rot="0">
            <a:off x="12573000" y="3314700"/>
            <a:ext cx="4572000" cy="397193"/>
          </a:xfrm>
          <a:prstGeom prst="rect">
            <a:avLst/>
          </a:prstGeom>
        </p:spPr>
        <p:txBody>
          <a:bodyPr anchor="t" rtlCol="false" tIns="0" lIns="0" bIns="0" rIns="0">
            <a:spAutoFit/>
          </a:bodyPr>
          <a:lstStyle/>
          <a:p>
            <a:pPr algn="l">
              <a:lnSpc>
                <a:spcPts val="2992"/>
              </a:lnSpc>
            </a:pPr>
            <a:r>
              <a:rPr lang="en-US" sz="2850" b="true">
                <a:solidFill>
                  <a:srgbClr val="FFF3DF"/>
                </a:solidFill>
                <a:latin typeface="Arimo Bold"/>
                <a:ea typeface="Arimo Bold"/>
                <a:cs typeface="Arimo Bold"/>
                <a:sym typeface="Arimo Bold"/>
              </a:rPr>
              <a:t>PRUEBAS Y CIERRE</a:t>
            </a:r>
          </a:p>
        </p:txBody>
      </p:sp>
      <p:sp>
        <p:nvSpPr>
          <p:cNvPr name="TextBox 26" id="26"/>
          <p:cNvSpPr txBox="true"/>
          <p:nvPr/>
        </p:nvSpPr>
        <p:spPr>
          <a:xfrm rot="0">
            <a:off x="12573000" y="3752850"/>
            <a:ext cx="4572000" cy="350520"/>
          </a:xfrm>
          <a:prstGeom prst="rect">
            <a:avLst/>
          </a:prstGeom>
        </p:spPr>
        <p:txBody>
          <a:bodyPr anchor="t" rtlCol="false" tIns="0" lIns="0" bIns="0" rIns="0">
            <a:spAutoFit/>
          </a:bodyPr>
          <a:lstStyle/>
          <a:p>
            <a:pPr algn="l">
              <a:lnSpc>
                <a:spcPts val="2729"/>
              </a:lnSpc>
            </a:pPr>
            <a:r>
              <a:rPr lang="en-US" sz="1950">
                <a:solidFill>
                  <a:srgbClr val="CBBBAD"/>
                </a:solidFill>
                <a:latin typeface="Arimo"/>
                <a:ea typeface="Arimo"/>
                <a:cs typeface="Arimo"/>
                <a:sym typeface="Arimo"/>
              </a:rPr>
              <a:t>16 oct – 7 nov</a:t>
            </a:r>
          </a:p>
        </p:txBody>
      </p:sp>
      <p:sp>
        <p:nvSpPr>
          <p:cNvPr name="TextBox 27" id="27"/>
          <p:cNvSpPr txBox="true"/>
          <p:nvPr/>
        </p:nvSpPr>
        <p:spPr>
          <a:xfrm rot="0">
            <a:off x="12573000" y="4438650"/>
            <a:ext cx="4572000" cy="2817495"/>
          </a:xfrm>
          <a:prstGeom prst="rect">
            <a:avLst/>
          </a:prstGeom>
        </p:spPr>
        <p:txBody>
          <a:bodyPr anchor="t" rtlCol="false" tIns="0" lIns="0" bIns="0" rIns="0">
            <a:spAutoFit/>
          </a:bodyPr>
          <a:lstStyle/>
          <a:p>
            <a:pPr algn="l" marL="453390" indent="-226695" lvl="1">
              <a:lnSpc>
                <a:spcPts val="2835"/>
              </a:lnSpc>
              <a:buFont typeface="Arial"/>
              <a:buChar char="•"/>
            </a:pPr>
            <a:r>
              <a:rPr lang="en-US" sz="2100">
                <a:solidFill>
                  <a:srgbClr val="FFF3DF"/>
                </a:solidFill>
                <a:latin typeface="Arimo"/>
                <a:ea typeface="Arimo"/>
                <a:cs typeface="Arimo"/>
                <a:sym typeface="Arimo"/>
              </a:rPr>
              <a:t>Pruebas por componente y punta a punta</a:t>
            </a:r>
          </a:p>
          <a:p>
            <a:pPr algn="l" marL="453390" indent="-226695" lvl="1">
              <a:lnSpc>
                <a:spcPts val="2835"/>
              </a:lnSpc>
              <a:buFont typeface="Arial"/>
              <a:buChar char="•"/>
            </a:pPr>
            <a:r>
              <a:rPr lang="en-US" sz="2100">
                <a:solidFill>
                  <a:srgbClr val="FFF3DF"/>
                </a:solidFill>
                <a:latin typeface="Arimo"/>
                <a:ea typeface="Arimo"/>
                <a:cs typeface="Arimo"/>
                <a:sym typeface="Arimo"/>
              </a:rPr>
              <a:t>Medición de falsas alarmas</a:t>
            </a:r>
          </a:p>
          <a:p>
            <a:pPr algn="l" marL="453390" indent="-226695" lvl="1">
              <a:lnSpc>
                <a:spcPts val="2835"/>
              </a:lnSpc>
              <a:buFont typeface="Arial"/>
              <a:buChar char="•"/>
            </a:pPr>
            <a:r>
              <a:rPr lang="en-US" sz="2100">
                <a:solidFill>
                  <a:srgbClr val="FFF3DF"/>
                </a:solidFill>
                <a:latin typeface="Arimo"/>
                <a:ea typeface="Arimo"/>
                <a:cs typeface="Arimo"/>
                <a:sym typeface="Arimo"/>
              </a:rPr>
              <a:t>Congelar el código el 30 de octubre</a:t>
            </a:r>
          </a:p>
          <a:p>
            <a:pPr algn="l" marL="453390" indent="-226695" lvl="1">
              <a:lnSpc>
                <a:spcPts val="2835"/>
              </a:lnSpc>
              <a:buFont typeface="Arial"/>
              <a:buChar char="•"/>
            </a:pPr>
            <a:r>
              <a:rPr lang="en-US" sz="2100">
                <a:solidFill>
                  <a:srgbClr val="FFF3DF"/>
                </a:solidFill>
                <a:latin typeface="Arimo"/>
                <a:ea typeface="Arimo"/>
                <a:cs typeface="Arimo"/>
                <a:sym typeface="Arimo"/>
              </a:rPr>
              <a:t>Memoria el 4 y ensayo el 5 de noviembre</a:t>
            </a:r>
          </a:p>
          <a:p>
            <a:pPr algn="l" marL="453390" indent="-226695" lvl="1">
              <a:lnSpc>
                <a:spcPts val="2835"/>
              </a:lnSpc>
              <a:buFont typeface="Arial"/>
              <a:buChar char="•"/>
            </a:pPr>
            <a:r>
              <a:rPr lang="en-US" sz="2100">
                <a:solidFill>
                  <a:srgbClr val="FFF3DF"/>
                </a:solidFill>
                <a:latin typeface="Arimo"/>
                <a:ea typeface="Arimo"/>
                <a:cs typeface="Arimo"/>
                <a:sym typeface="Arimo"/>
              </a:rPr>
              <a:t>Entrega final el 7 de noviembre</a:t>
            </a:r>
          </a:p>
        </p:txBody>
      </p:sp>
      <p:pic>
        <p:nvPicPr>
          <p:cNvPr name="Picture 28" id="28"/>
          <p:cNvPicPr>
            <a:picLocks noChangeAspect="true"/>
          </p:cNvPicPr>
          <p:nvPr/>
        </p:nvPicPr>
        <p:blipFill>
          <a:blip r:embed="rId2"/>
          <a:stretch>
            <a:fillRect/>
          </a:stretch>
        </p:blipFill>
        <p:spPr>
          <a:xfrm rot="0">
            <a:off x="2301899" y="6994000"/>
            <a:ext cx="13684202" cy="2622805"/>
          </a:xfrm>
          <a:prstGeom prst="rect">
            <a:avLst/>
          </a:prstGeom>
        </p:spPr>
      </p:pic>
      <p:sp>
        <p:nvSpPr>
          <p:cNvPr name="TextBox 29" id="29"/>
          <p:cNvSpPr txBox="true"/>
          <p:nvPr/>
        </p:nvSpPr>
        <p:spPr>
          <a:xfrm rot="0">
            <a:off x="904875" y="8790780"/>
            <a:ext cx="16478250" cy="400017"/>
          </a:xfrm>
          <a:prstGeom prst="rect">
            <a:avLst/>
          </a:prstGeom>
        </p:spPr>
        <p:txBody>
          <a:bodyPr anchor="t" rtlCol="false" tIns="0" lIns="0" bIns="0" rIns="0">
            <a:spAutoFit/>
          </a:bodyPr>
          <a:lstStyle/>
          <a:p>
            <a:pPr algn="ctr">
              <a:lnSpc>
                <a:spcPts val="3149"/>
              </a:lnSpc>
            </a:pPr>
            <a:r>
              <a:rPr lang="en-US" sz="2250" b="true">
                <a:solidFill>
                  <a:srgbClr val="FFB000"/>
                </a:solidFill>
                <a:latin typeface="Arimo Bold"/>
                <a:ea typeface="Arimo Bold"/>
                <a:cs typeface="Arimo Bold"/>
                <a:sym typeface="Arimo Bold"/>
              </a:rPr>
              <a:t>Avance actual y  Tiempo transcurrido: 72%% Completado · 70% Tiempo transcurrido</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grpSp>
        <p:nvGrpSpPr>
          <p:cNvPr name="Group 2" id="2"/>
          <p:cNvGrpSpPr/>
          <p:nvPr/>
        </p:nvGrpSpPr>
        <p:grpSpPr>
          <a:xfrm rot="0">
            <a:off x="552450" y="666750"/>
            <a:ext cx="133350" cy="1123950"/>
            <a:chOff x="0" y="0"/>
            <a:chExt cx="177800" cy="1498600"/>
          </a:xfrm>
        </p:grpSpPr>
        <p:sp>
          <p:nvSpPr>
            <p:cNvPr name="Freeform 3" id="3"/>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3B3F"/>
            </a:solidFill>
            <a:ln cap="sq">
              <a:noFill/>
              <a:prstDash val="solid"/>
              <a:miter/>
            </a:ln>
          </p:spPr>
        </p:sp>
        <p:sp>
          <p:nvSpPr>
            <p:cNvPr name="TextBox 4" id="4"/>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952500" y="2381250"/>
            <a:ext cx="3905250" cy="6096000"/>
            <a:chOff x="0" y="0"/>
            <a:chExt cx="5207000" cy="8128000"/>
          </a:xfrm>
        </p:grpSpPr>
        <p:sp>
          <p:nvSpPr>
            <p:cNvPr name="Freeform 6" id="6"/>
            <p:cNvSpPr/>
            <p:nvPr/>
          </p:nvSpPr>
          <p:spPr>
            <a:xfrm flipH="false" flipV="false" rot="0">
              <a:off x="0" y="0"/>
              <a:ext cx="5207000" cy="8128000"/>
            </a:xfrm>
            <a:custGeom>
              <a:avLst/>
              <a:gdLst/>
              <a:ahLst/>
              <a:cxnLst/>
              <a:rect r="r" b="b" t="t" l="l"/>
              <a:pathLst>
                <a:path h="8128000" w="5207000">
                  <a:moveTo>
                    <a:pt x="0" y="0"/>
                  </a:moveTo>
                  <a:lnTo>
                    <a:pt x="5207000" y="0"/>
                  </a:lnTo>
                  <a:lnTo>
                    <a:pt x="5207000" y="8128000"/>
                  </a:lnTo>
                  <a:lnTo>
                    <a:pt x="0" y="8128000"/>
                  </a:lnTo>
                  <a:close/>
                </a:path>
              </a:pathLst>
            </a:custGeom>
            <a:solidFill>
              <a:srgbClr val="221B18"/>
            </a:solidFill>
          </p:spPr>
        </p:sp>
        <p:sp>
          <p:nvSpPr>
            <p:cNvPr name="TextBox 7" id="7"/>
            <p:cNvSpPr txBox="true"/>
            <p:nvPr/>
          </p:nvSpPr>
          <p:spPr>
            <a:xfrm>
              <a:off x="0" y="-38100"/>
              <a:ext cx="5207000" cy="8166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5143500" y="2381250"/>
            <a:ext cx="3905250" cy="6096000"/>
            <a:chOff x="0" y="0"/>
            <a:chExt cx="5207000" cy="8128000"/>
          </a:xfrm>
        </p:grpSpPr>
        <p:sp>
          <p:nvSpPr>
            <p:cNvPr name="Freeform 9" id="9"/>
            <p:cNvSpPr/>
            <p:nvPr/>
          </p:nvSpPr>
          <p:spPr>
            <a:xfrm flipH="false" flipV="false" rot="0">
              <a:off x="0" y="0"/>
              <a:ext cx="5207000" cy="8128000"/>
            </a:xfrm>
            <a:custGeom>
              <a:avLst/>
              <a:gdLst/>
              <a:ahLst/>
              <a:cxnLst/>
              <a:rect r="r" b="b" t="t" l="l"/>
              <a:pathLst>
                <a:path h="8128000" w="5207000">
                  <a:moveTo>
                    <a:pt x="0" y="0"/>
                  </a:moveTo>
                  <a:lnTo>
                    <a:pt x="5207000" y="0"/>
                  </a:lnTo>
                  <a:lnTo>
                    <a:pt x="5207000" y="8128000"/>
                  </a:lnTo>
                  <a:lnTo>
                    <a:pt x="0" y="8128000"/>
                  </a:lnTo>
                  <a:close/>
                </a:path>
              </a:pathLst>
            </a:custGeom>
            <a:solidFill>
              <a:srgbClr val="D92D20"/>
            </a:solidFill>
          </p:spPr>
        </p:sp>
        <p:sp>
          <p:nvSpPr>
            <p:cNvPr name="TextBox 10" id="10"/>
            <p:cNvSpPr txBox="true"/>
            <p:nvPr/>
          </p:nvSpPr>
          <p:spPr>
            <a:xfrm>
              <a:off x="0" y="-38100"/>
              <a:ext cx="5207000" cy="8166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334500" y="2381250"/>
            <a:ext cx="3905250" cy="6096000"/>
            <a:chOff x="0" y="0"/>
            <a:chExt cx="5207000" cy="8128000"/>
          </a:xfrm>
        </p:grpSpPr>
        <p:sp>
          <p:nvSpPr>
            <p:cNvPr name="Freeform 12" id="12"/>
            <p:cNvSpPr/>
            <p:nvPr/>
          </p:nvSpPr>
          <p:spPr>
            <a:xfrm flipH="false" flipV="false" rot="0">
              <a:off x="0" y="0"/>
              <a:ext cx="5207000" cy="8128000"/>
            </a:xfrm>
            <a:custGeom>
              <a:avLst/>
              <a:gdLst/>
              <a:ahLst/>
              <a:cxnLst/>
              <a:rect r="r" b="b" t="t" l="l"/>
              <a:pathLst>
                <a:path h="8128000" w="5207000">
                  <a:moveTo>
                    <a:pt x="0" y="0"/>
                  </a:moveTo>
                  <a:lnTo>
                    <a:pt x="5207000" y="0"/>
                  </a:lnTo>
                  <a:lnTo>
                    <a:pt x="5207000" y="8128000"/>
                  </a:lnTo>
                  <a:lnTo>
                    <a:pt x="0" y="8128000"/>
                  </a:lnTo>
                  <a:close/>
                </a:path>
              </a:pathLst>
            </a:custGeom>
            <a:solidFill>
              <a:srgbClr val="221B18"/>
            </a:solidFill>
          </p:spPr>
        </p:sp>
        <p:sp>
          <p:nvSpPr>
            <p:cNvPr name="TextBox 13" id="13"/>
            <p:cNvSpPr txBox="true"/>
            <p:nvPr/>
          </p:nvSpPr>
          <p:spPr>
            <a:xfrm>
              <a:off x="0" y="-38100"/>
              <a:ext cx="5207000" cy="8166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3525500" y="2381250"/>
            <a:ext cx="3905250" cy="6096000"/>
            <a:chOff x="0" y="0"/>
            <a:chExt cx="5207000" cy="8128000"/>
          </a:xfrm>
        </p:grpSpPr>
        <p:sp>
          <p:nvSpPr>
            <p:cNvPr name="Freeform 15" id="15"/>
            <p:cNvSpPr/>
            <p:nvPr/>
          </p:nvSpPr>
          <p:spPr>
            <a:xfrm flipH="false" flipV="false" rot="0">
              <a:off x="0" y="0"/>
              <a:ext cx="5207000" cy="8128000"/>
            </a:xfrm>
            <a:custGeom>
              <a:avLst/>
              <a:gdLst/>
              <a:ahLst/>
              <a:cxnLst/>
              <a:rect r="r" b="b" t="t" l="l"/>
              <a:pathLst>
                <a:path h="8128000" w="5207000">
                  <a:moveTo>
                    <a:pt x="0" y="0"/>
                  </a:moveTo>
                  <a:lnTo>
                    <a:pt x="5207000" y="0"/>
                  </a:lnTo>
                  <a:lnTo>
                    <a:pt x="5207000" y="8128000"/>
                  </a:lnTo>
                  <a:lnTo>
                    <a:pt x="0" y="8128000"/>
                  </a:lnTo>
                  <a:close/>
                </a:path>
              </a:pathLst>
            </a:custGeom>
            <a:solidFill>
              <a:srgbClr val="221B18"/>
            </a:solidFill>
          </p:spPr>
        </p:sp>
        <p:sp>
          <p:nvSpPr>
            <p:cNvPr name="TextBox 16" id="16"/>
            <p:cNvSpPr txBox="true"/>
            <p:nvPr/>
          </p:nvSpPr>
          <p:spPr>
            <a:xfrm>
              <a:off x="0" y="-38100"/>
              <a:ext cx="5207000" cy="8166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952500" y="762000"/>
            <a:ext cx="14287500" cy="629379"/>
          </a:xfrm>
          <a:prstGeom prst="rect">
            <a:avLst/>
          </a:prstGeom>
        </p:spPr>
        <p:txBody>
          <a:bodyPr anchor="t" rtlCol="false" tIns="0" lIns="0" bIns="0" rIns="0">
            <a:spAutoFit/>
          </a:bodyPr>
          <a:lstStyle/>
          <a:p>
            <a:pPr algn="l">
              <a:lnSpc>
                <a:spcPts val="4704"/>
              </a:lnSpc>
            </a:pPr>
            <a:r>
              <a:rPr lang="en-US" sz="4800" spc="-144" b="true">
                <a:solidFill>
                  <a:srgbClr val="FFF3DF"/>
                </a:solidFill>
                <a:latin typeface="Barlow Condensed Bold"/>
                <a:ea typeface="Barlow Condensed Bold"/>
                <a:cs typeface="Barlow Condensed Bold"/>
                <a:sym typeface="Barlow Condensed Bold"/>
              </a:rPr>
              <a:t>TECNOLOGÍAS UTILIZADAS</a:t>
            </a:r>
          </a:p>
        </p:txBody>
      </p:sp>
      <p:sp>
        <p:nvSpPr>
          <p:cNvPr name="TextBox 18" id="18"/>
          <p:cNvSpPr txBox="true"/>
          <p:nvPr/>
        </p:nvSpPr>
        <p:spPr>
          <a:xfrm rot="0">
            <a:off x="1028700" y="1433512"/>
            <a:ext cx="1238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Lo que usamos en cada componente del sistema</a:t>
            </a:r>
          </a:p>
        </p:txBody>
      </p:sp>
      <p:sp>
        <p:nvSpPr>
          <p:cNvPr name="TextBox 19" id="19"/>
          <p:cNvSpPr txBox="true"/>
          <p:nvPr/>
        </p:nvSpPr>
        <p:spPr>
          <a:xfrm rot="0">
            <a:off x="1219200" y="2600325"/>
            <a:ext cx="3381375" cy="499110"/>
          </a:xfrm>
          <a:prstGeom prst="rect">
            <a:avLst/>
          </a:prstGeom>
        </p:spPr>
        <p:txBody>
          <a:bodyPr anchor="t" rtlCol="false" tIns="0" lIns="0" bIns="0" rIns="0">
            <a:spAutoFit/>
          </a:bodyPr>
          <a:lstStyle/>
          <a:p>
            <a:pPr algn="l">
              <a:lnSpc>
                <a:spcPts val="3990"/>
              </a:lnSpc>
            </a:pPr>
            <a:r>
              <a:rPr lang="en-US" sz="2850" b="true">
                <a:solidFill>
                  <a:srgbClr val="FFB000"/>
                </a:solidFill>
                <a:latin typeface="Arimo Bold"/>
                <a:ea typeface="Arimo Bold"/>
                <a:cs typeface="Arimo Bold"/>
                <a:sym typeface="Arimo Bold"/>
              </a:rPr>
              <a:t>CÁMARA</a:t>
            </a:r>
          </a:p>
        </p:txBody>
      </p:sp>
      <p:sp>
        <p:nvSpPr>
          <p:cNvPr name="TextBox 20" id="20"/>
          <p:cNvSpPr txBox="true"/>
          <p:nvPr/>
        </p:nvSpPr>
        <p:spPr>
          <a:xfrm rot="0">
            <a:off x="1219200" y="3248025"/>
            <a:ext cx="3381375" cy="3853815"/>
          </a:xfrm>
          <a:prstGeom prst="rect">
            <a:avLst/>
          </a:prstGeom>
        </p:spPr>
        <p:txBody>
          <a:bodyPr anchor="t" rtlCol="false" tIns="0" lIns="0" bIns="0" rIns="0">
            <a:spAutoFit/>
          </a:bodyPr>
          <a:lstStyle/>
          <a:p>
            <a:pPr algn="l" marL="388620" indent="-194310" lvl="1">
              <a:lnSpc>
                <a:spcPts val="2340"/>
              </a:lnSpc>
              <a:buFont typeface="Arial"/>
              <a:buChar char="•"/>
            </a:pPr>
            <a:r>
              <a:rPr lang="en-US" sz="1800">
                <a:solidFill>
                  <a:srgbClr val="FFF3DF"/>
                </a:solidFill>
                <a:latin typeface="Arimo"/>
                <a:ea typeface="Arimo"/>
                <a:cs typeface="Arimo"/>
                <a:sym typeface="Arimo"/>
              </a:rPr>
              <a:t>Python · OpenCV</a:t>
            </a:r>
          </a:p>
          <a:p>
            <a:pPr algn="l" marL="388620" indent="-194310" lvl="1">
              <a:lnSpc>
                <a:spcPts val="2340"/>
              </a:lnSpc>
              <a:buFont typeface="Arial"/>
              <a:buChar char="•"/>
            </a:pPr>
            <a:r>
              <a:rPr lang="en-US" sz="1800">
                <a:solidFill>
                  <a:srgbClr val="FFF3DF"/>
                </a:solidFill>
                <a:latin typeface="Arimo"/>
                <a:ea typeface="Arimo"/>
                <a:cs typeface="Arimo"/>
                <a:sym typeface="Arimo"/>
              </a:rPr>
              <a:t>RTSP, archivo de video o URL</a:t>
            </a:r>
          </a:p>
          <a:p>
            <a:pPr algn="l" marL="388620" indent="-194310" lvl="1">
              <a:lnSpc>
                <a:spcPts val="2340"/>
              </a:lnSpc>
              <a:buFont typeface="Arial"/>
              <a:buChar char="•"/>
            </a:pPr>
            <a:r>
              <a:rPr lang="en-US" sz="1800">
                <a:solidFill>
                  <a:srgbClr val="FFF3DF"/>
                </a:solidFill>
                <a:latin typeface="Arimo"/>
                <a:ea typeface="Arimo"/>
                <a:cs typeface="Arimo"/>
                <a:sym typeface="Arimo"/>
              </a:rPr>
              <a:t>ONNX Runtime</a:t>
            </a:r>
          </a:p>
          <a:p>
            <a:pPr algn="l" marL="388620" indent="-194310" lvl="1">
              <a:lnSpc>
                <a:spcPts val="2340"/>
              </a:lnSpc>
              <a:buFont typeface="Arial"/>
              <a:buChar char="•"/>
            </a:pPr>
            <a:r>
              <a:rPr lang="en-US" sz="1800">
                <a:solidFill>
                  <a:srgbClr val="FFF3DF"/>
                </a:solidFill>
                <a:latin typeface="Arimo"/>
                <a:ea typeface="Arimo"/>
                <a:cs typeface="Arimo"/>
                <a:sym typeface="Arimo"/>
              </a:rPr>
              <a:t>2 modelos YOLO a 416 px: fuego y humo</a:t>
            </a:r>
          </a:p>
          <a:p>
            <a:pPr algn="l" marL="388620" indent="-194310" lvl="1">
              <a:lnSpc>
                <a:spcPts val="2340"/>
              </a:lnSpc>
              <a:buFont typeface="Arial"/>
              <a:buChar char="•"/>
            </a:pPr>
            <a:r>
              <a:rPr lang="en-US" sz="1800">
                <a:solidFill>
                  <a:srgbClr val="FFF3DF"/>
                </a:solidFill>
                <a:latin typeface="Arimo"/>
                <a:ea typeface="Arimo"/>
                <a:cs typeface="Arimo"/>
                <a:sym typeface="Arimo"/>
              </a:rPr>
              <a:t>Evaluados con D-Fire y FASDD</a:t>
            </a:r>
          </a:p>
          <a:p>
            <a:pPr algn="l" marL="388620" indent="-194310" lvl="1">
              <a:lnSpc>
                <a:spcPts val="2340"/>
              </a:lnSpc>
              <a:buFont typeface="Arial"/>
              <a:buChar char="•"/>
            </a:pPr>
            <a:r>
              <a:rPr lang="en-US" sz="1800">
                <a:solidFill>
                  <a:srgbClr val="FFF3DF"/>
                </a:solidFill>
                <a:latin typeface="Arimo"/>
                <a:ea typeface="Arimo"/>
                <a:cs typeface="Arimo"/>
                <a:sym typeface="Arimo"/>
              </a:rPr>
              <a:t>Confirmación en varios cuadros seguidos</a:t>
            </a:r>
          </a:p>
          <a:p>
            <a:pPr algn="l" marL="388620" indent="-194310" lvl="1">
              <a:lnSpc>
                <a:spcPts val="2340"/>
              </a:lnSpc>
              <a:buFont typeface="Arial"/>
              <a:buChar char="•"/>
            </a:pPr>
            <a:r>
              <a:rPr lang="en-US" sz="1800">
                <a:solidFill>
                  <a:srgbClr val="FFF3DF"/>
                </a:solidFill>
                <a:latin typeface="Arimo"/>
                <a:ea typeface="Arimo"/>
                <a:cs typeface="Arimo"/>
                <a:sym typeface="Arimo"/>
              </a:rPr>
              <a:t>Interfaz CustomTkinter</a:t>
            </a:r>
          </a:p>
          <a:p>
            <a:pPr algn="l" marL="388620" indent="-194310" lvl="1">
              <a:lnSpc>
                <a:spcPts val="2340"/>
              </a:lnSpc>
              <a:buFont typeface="Arial"/>
              <a:buChar char="•"/>
            </a:pPr>
            <a:r>
              <a:rPr lang="en-US" sz="1800">
                <a:solidFill>
                  <a:srgbClr val="FFF3DF"/>
                </a:solidFill>
                <a:latin typeface="Arimo"/>
                <a:ea typeface="Arimo"/>
                <a:cs typeface="Arimo"/>
                <a:sym typeface="Arimo"/>
              </a:rPr>
              <a:t>Envío al backend con clave por cámara</a:t>
            </a:r>
          </a:p>
        </p:txBody>
      </p:sp>
      <p:sp>
        <p:nvSpPr>
          <p:cNvPr name="TextBox 21" id="21"/>
          <p:cNvSpPr txBox="true"/>
          <p:nvPr/>
        </p:nvSpPr>
        <p:spPr>
          <a:xfrm rot="0">
            <a:off x="5410200" y="2600325"/>
            <a:ext cx="3381375" cy="499110"/>
          </a:xfrm>
          <a:prstGeom prst="rect">
            <a:avLst/>
          </a:prstGeom>
        </p:spPr>
        <p:txBody>
          <a:bodyPr anchor="t" rtlCol="false" tIns="0" lIns="0" bIns="0" rIns="0">
            <a:spAutoFit/>
          </a:bodyPr>
          <a:lstStyle/>
          <a:p>
            <a:pPr algn="l">
              <a:lnSpc>
                <a:spcPts val="3990"/>
              </a:lnSpc>
            </a:pPr>
            <a:r>
              <a:rPr lang="en-US" sz="2850" b="true">
                <a:solidFill>
                  <a:srgbClr val="FFB000"/>
                </a:solidFill>
                <a:latin typeface="Arimo Bold"/>
                <a:ea typeface="Arimo Bold"/>
                <a:cs typeface="Arimo Bold"/>
                <a:sym typeface="Arimo Bold"/>
              </a:rPr>
              <a:t>BACKEND</a:t>
            </a:r>
          </a:p>
        </p:txBody>
      </p:sp>
      <p:sp>
        <p:nvSpPr>
          <p:cNvPr name="TextBox 22" id="22"/>
          <p:cNvSpPr txBox="true"/>
          <p:nvPr/>
        </p:nvSpPr>
        <p:spPr>
          <a:xfrm rot="0">
            <a:off x="5410200" y="3248025"/>
            <a:ext cx="3381375" cy="3263265"/>
          </a:xfrm>
          <a:prstGeom prst="rect">
            <a:avLst/>
          </a:prstGeom>
        </p:spPr>
        <p:txBody>
          <a:bodyPr anchor="t" rtlCol="false" tIns="0" lIns="0" bIns="0" rIns="0">
            <a:spAutoFit/>
          </a:bodyPr>
          <a:lstStyle/>
          <a:p>
            <a:pPr algn="l" marL="388620" indent="-194310" lvl="1">
              <a:lnSpc>
                <a:spcPts val="2340"/>
              </a:lnSpc>
              <a:buFont typeface="Arial"/>
              <a:buChar char="•"/>
            </a:pPr>
            <a:r>
              <a:rPr lang="en-US" sz="1800">
                <a:solidFill>
                  <a:srgbClr val="FFF3DF"/>
                </a:solidFill>
                <a:latin typeface="Arimo"/>
                <a:ea typeface="Arimo"/>
                <a:cs typeface="Arimo"/>
                <a:sym typeface="Arimo"/>
              </a:rPr>
              <a:t>Python · FastAPI · Uvicorn</a:t>
            </a:r>
          </a:p>
          <a:p>
            <a:pPr algn="l" marL="388620" indent="-194310" lvl="1">
              <a:lnSpc>
                <a:spcPts val="2340"/>
              </a:lnSpc>
              <a:buFont typeface="Arial"/>
              <a:buChar char="•"/>
            </a:pPr>
            <a:r>
              <a:rPr lang="en-US" sz="1800">
                <a:solidFill>
                  <a:srgbClr val="FFF3DF"/>
                </a:solidFill>
                <a:latin typeface="Arimo"/>
                <a:ea typeface="Arimo"/>
                <a:cs typeface="Arimo"/>
                <a:sym typeface="Arimo"/>
              </a:rPr>
              <a:t>SQLite</a:t>
            </a:r>
          </a:p>
          <a:p>
            <a:pPr algn="l" marL="388620" indent="-194310" lvl="1">
              <a:lnSpc>
                <a:spcPts val="2340"/>
              </a:lnSpc>
              <a:buFont typeface="Arial"/>
              <a:buChar char="•"/>
            </a:pPr>
            <a:r>
              <a:rPr lang="en-US" sz="1800">
                <a:solidFill>
                  <a:srgbClr val="FFF3DF"/>
                </a:solidFill>
                <a:latin typeface="Arimo"/>
                <a:ea typeface="Arimo"/>
                <a:cs typeface="Arimo"/>
                <a:sym typeface="Arimo"/>
              </a:rPr>
              <a:t>bcrypt; tokens y claves de cámara guardados con hash</a:t>
            </a:r>
          </a:p>
          <a:p>
            <a:pPr algn="l" marL="388620" indent="-194310" lvl="1">
              <a:lnSpc>
                <a:spcPts val="2340"/>
              </a:lnSpc>
              <a:buFont typeface="Arial"/>
              <a:buChar char="•"/>
            </a:pPr>
            <a:r>
              <a:rPr lang="en-US" sz="1800">
                <a:solidFill>
                  <a:srgbClr val="FFF3DF"/>
                </a:solidFill>
                <a:latin typeface="Arimo"/>
                <a:ea typeface="Arimo"/>
                <a:cs typeface="Arimo"/>
                <a:sym typeface="Arimo"/>
              </a:rPr>
              <a:t>Roles y bloqueo tras 5 intentos</a:t>
            </a:r>
          </a:p>
          <a:p>
            <a:pPr algn="l" marL="388620" indent="-194310" lvl="1">
              <a:lnSpc>
                <a:spcPts val="2340"/>
              </a:lnSpc>
              <a:buFont typeface="Arial"/>
              <a:buChar char="•"/>
            </a:pPr>
            <a:r>
              <a:rPr lang="en-US" sz="1800">
                <a:solidFill>
                  <a:srgbClr val="FFF3DF"/>
                </a:solidFill>
                <a:latin typeface="Arimo"/>
                <a:ea typeface="Arimo"/>
                <a:cs typeface="Arimo"/>
                <a:sym typeface="Arimo"/>
              </a:rPr>
              <a:t>Límite de reportes por hora</a:t>
            </a:r>
          </a:p>
          <a:p>
            <a:pPr algn="l" marL="388620" indent="-194310" lvl="1">
              <a:lnSpc>
                <a:spcPts val="2340"/>
              </a:lnSpc>
              <a:buFont typeface="Arial"/>
              <a:buChar char="•"/>
            </a:pPr>
            <a:r>
              <a:rPr lang="en-US" sz="1800">
                <a:solidFill>
                  <a:srgbClr val="FFF3DF"/>
                </a:solidFill>
                <a:latin typeface="Arimo"/>
                <a:ea typeface="Arimo"/>
                <a:cs typeface="Arimo"/>
                <a:sym typeface="Arimo"/>
              </a:rPr>
              <a:t>HTTPS configurable</a:t>
            </a:r>
          </a:p>
          <a:p>
            <a:pPr algn="l" marL="388620" indent="-194310" lvl="1">
              <a:lnSpc>
                <a:spcPts val="2340"/>
              </a:lnSpc>
              <a:buFont typeface="Arial"/>
              <a:buChar char="•"/>
            </a:pPr>
            <a:r>
              <a:rPr lang="en-US" sz="1800">
                <a:solidFill>
                  <a:srgbClr val="FFF3DF"/>
                </a:solidFill>
                <a:latin typeface="Arimo"/>
                <a:ea typeface="Arimo"/>
                <a:cs typeface="Arimo"/>
                <a:sym typeface="Arimo"/>
              </a:rPr>
              <a:t>Modelo M2 de propagación (scikit-learn)</a:t>
            </a:r>
          </a:p>
          <a:p>
            <a:pPr algn="l" marL="388620" indent="-194310" lvl="1">
              <a:lnSpc>
                <a:spcPts val="2340"/>
              </a:lnSpc>
              <a:buFont typeface="Arial"/>
              <a:buChar char="•"/>
            </a:pPr>
            <a:r>
              <a:rPr lang="en-US" sz="1800">
                <a:solidFill>
                  <a:srgbClr val="FFF3DF"/>
                </a:solidFill>
                <a:latin typeface="Arimo"/>
                <a:ea typeface="Arimo"/>
                <a:cs typeface="Arimo"/>
                <a:sym typeface="Arimo"/>
              </a:rPr>
              <a:t>79 pruebas con pytest</a:t>
            </a:r>
          </a:p>
        </p:txBody>
      </p:sp>
      <p:sp>
        <p:nvSpPr>
          <p:cNvPr name="TextBox 23" id="23"/>
          <p:cNvSpPr txBox="true"/>
          <p:nvPr/>
        </p:nvSpPr>
        <p:spPr>
          <a:xfrm rot="0">
            <a:off x="9601200" y="2600325"/>
            <a:ext cx="3381375" cy="499110"/>
          </a:xfrm>
          <a:prstGeom prst="rect">
            <a:avLst/>
          </a:prstGeom>
        </p:spPr>
        <p:txBody>
          <a:bodyPr anchor="t" rtlCol="false" tIns="0" lIns="0" bIns="0" rIns="0">
            <a:spAutoFit/>
          </a:bodyPr>
          <a:lstStyle/>
          <a:p>
            <a:pPr algn="l">
              <a:lnSpc>
                <a:spcPts val="3990"/>
              </a:lnSpc>
            </a:pPr>
            <a:r>
              <a:rPr lang="en-US" sz="2850" b="true">
                <a:solidFill>
                  <a:srgbClr val="FFB000"/>
                </a:solidFill>
                <a:latin typeface="Arimo Bold"/>
                <a:ea typeface="Arimo Bold"/>
                <a:cs typeface="Arimo Bold"/>
                <a:sym typeface="Arimo Bold"/>
              </a:rPr>
              <a:t>ESCRITORIO</a:t>
            </a:r>
          </a:p>
        </p:txBody>
      </p:sp>
      <p:sp>
        <p:nvSpPr>
          <p:cNvPr name="TextBox 24" id="24"/>
          <p:cNvSpPr txBox="true"/>
          <p:nvPr/>
        </p:nvSpPr>
        <p:spPr>
          <a:xfrm rot="0">
            <a:off x="9601200" y="3248025"/>
            <a:ext cx="3381375" cy="2672715"/>
          </a:xfrm>
          <a:prstGeom prst="rect">
            <a:avLst/>
          </a:prstGeom>
        </p:spPr>
        <p:txBody>
          <a:bodyPr anchor="t" rtlCol="false" tIns="0" lIns="0" bIns="0" rIns="0">
            <a:spAutoFit/>
          </a:bodyPr>
          <a:lstStyle/>
          <a:p>
            <a:pPr algn="l" marL="388620" indent="-194310" lvl="1">
              <a:lnSpc>
                <a:spcPts val="2340"/>
              </a:lnSpc>
              <a:buFont typeface="Arial"/>
              <a:buChar char="•"/>
            </a:pPr>
            <a:r>
              <a:rPr lang="en-US" sz="1800">
                <a:solidFill>
                  <a:srgbClr val="FFF3DF"/>
                </a:solidFill>
                <a:latin typeface="Arimo"/>
                <a:ea typeface="Arimo"/>
                <a:cs typeface="Arimo"/>
                <a:sym typeface="Arimo"/>
              </a:rPr>
              <a:t>Python · CustomTkinter</a:t>
            </a:r>
          </a:p>
          <a:p>
            <a:pPr algn="l" marL="388620" indent="-194310" lvl="1">
              <a:lnSpc>
                <a:spcPts val="2340"/>
              </a:lnSpc>
              <a:buFont typeface="Arial"/>
              <a:buChar char="•"/>
            </a:pPr>
            <a:r>
              <a:rPr lang="en-US" sz="1800">
                <a:solidFill>
                  <a:srgbClr val="FFF3DF"/>
                </a:solidFill>
                <a:latin typeface="Arimo"/>
                <a:ea typeface="Arimo"/>
                <a:cs typeface="Arimo"/>
                <a:sym typeface="Arimo"/>
              </a:rPr>
              <a:t>Pillow · requests</a:t>
            </a:r>
          </a:p>
          <a:p>
            <a:pPr algn="l" marL="388620" indent="-194310" lvl="1">
              <a:lnSpc>
                <a:spcPts val="2340"/>
              </a:lnSpc>
              <a:buFont typeface="Arial"/>
              <a:buChar char="•"/>
            </a:pPr>
            <a:r>
              <a:rPr lang="en-US" sz="1800">
                <a:solidFill>
                  <a:srgbClr val="FFF3DF"/>
                </a:solidFill>
                <a:latin typeface="Arimo"/>
                <a:ea typeface="Arimo"/>
                <a:cs typeface="Arimo"/>
                <a:sym typeface="Arimo"/>
              </a:rPr>
              <a:t>Alertas pendientes cada 3 s, con sonido</a:t>
            </a:r>
          </a:p>
          <a:p>
            <a:pPr algn="l" marL="388620" indent="-194310" lvl="1">
              <a:lnSpc>
                <a:spcPts val="2340"/>
              </a:lnSpc>
              <a:buFont typeface="Arial"/>
              <a:buChar char="•"/>
            </a:pPr>
            <a:r>
              <a:rPr lang="en-US" sz="1800">
                <a:solidFill>
                  <a:srgbClr val="FFF3DF"/>
                </a:solidFill>
                <a:latin typeface="Arimo"/>
                <a:ea typeface="Arimo"/>
                <a:cs typeface="Arimo"/>
                <a:sym typeface="Arimo"/>
              </a:rPr>
              <a:t>Confirmar o descartar con motivo</a:t>
            </a:r>
          </a:p>
          <a:p>
            <a:pPr algn="l" marL="388620" indent="-194310" lvl="1">
              <a:lnSpc>
                <a:spcPts val="2340"/>
              </a:lnSpc>
              <a:buFont typeface="Arial"/>
              <a:buChar char="•"/>
            </a:pPr>
            <a:r>
              <a:rPr lang="en-US" sz="1800">
                <a:solidFill>
                  <a:srgbClr val="FFF3DF"/>
                </a:solidFill>
                <a:latin typeface="Arimo"/>
                <a:ea typeface="Arimo"/>
                <a:cs typeface="Arimo"/>
                <a:sym typeface="Arimo"/>
              </a:rPr>
              <a:t>Historial local en SQLite</a:t>
            </a:r>
          </a:p>
          <a:p>
            <a:pPr algn="l" marL="388620" indent="-194310" lvl="1">
              <a:lnSpc>
                <a:spcPts val="2340"/>
              </a:lnSpc>
              <a:buFont typeface="Arial"/>
              <a:buChar char="•"/>
            </a:pPr>
            <a:r>
              <a:rPr lang="en-US" sz="1800">
                <a:solidFill>
                  <a:srgbClr val="FFF3DF"/>
                </a:solidFill>
                <a:latin typeface="Arimo"/>
                <a:ea typeface="Arimo"/>
                <a:cs typeface="Arimo"/>
                <a:sym typeface="Arimo"/>
              </a:rPr>
              <a:t>Inicio de sesión contra el backend</a:t>
            </a:r>
          </a:p>
        </p:txBody>
      </p:sp>
      <p:sp>
        <p:nvSpPr>
          <p:cNvPr name="TextBox 25" id="25"/>
          <p:cNvSpPr txBox="true"/>
          <p:nvPr/>
        </p:nvSpPr>
        <p:spPr>
          <a:xfrm rot="0">
            <a:off x="13792200" y="2600325"/>
            <a:ext cx="3381375" cy="499110"/>
          </a:xfrm>
          <a:prstGeom prst="rect">
            <a:avLst/>
          </a:prstGeom>
        </p:spPr>
        <p:txBody>
          <a:bodyPr anchor="t" rtlCol="false" tIns="0" lIns="0" bIns="0" rIns="0">
            <a:spAutoFit/>
          </a:bodyPr>
          <a:lstStyle/>
          <a:p>
            <a:pPr algn="l">
              <a:lnSpc>
                <a:spcPts val="3990"/>
              </a:lnSpc>
            </a:pPr>
            <a:r>
              <a:rPr lang="en-US" sz="2850" b="true">
                <a:solidFill>
                  <a:srgbClr val="FFB000"/>
                </a:solidFill>
                <a:latin typeface="Arimo Bold"/>
                <a:ea typeface="Arimo Bold"/>
                <a:cs typeface="Arimo Bold"/>
                <a:sym typeface="Arimo Bold"/>
              </a:rPr>
              <a:t>MAPA</a:t>
            </a:r>
          </a:p>
        </p:txBody>
      </p:sp>
      <p:sp>
        <p:nvSpPr>
          <p:cNvPr name="TextBox 26" id="26"/>
          <p:cNvSpPr txBox="true"/>
          <p:nvPr/>
        </p:nvSpPr>
        <p:spPr>
          <a:xfrm rot="0">
            <a:off x="13792200" y="3248025"/>
            <a:ext cx="3381375" cy="4739640"/>
          </a:xfrm>
          <a:prstGeom prst="rect">
            <a:avLst/>
          </a:prstGeom>
        </p:spPr>
        <p:txBody>
          <a:bodyPr anchor="t" rtlCol="false" tIns="0" lIns="0" bIns="0" rIns="0">
            <a:spAutoFit/>
          </a:bodyPr>
          <a:lstStyle/>
          <a:p>
            <a:pPr algn="l" marL="388620" indent="-194310" lvl="1">
              <a:lnSpc>
                <a:spcPts val="2340"/>
              </a:lnSpc>
              <a:buFont typeface="Arial"/>
              <a:buChar char="•"/>
            </a:pPr>
            <a:r>
              <a:rPr lang="en-US" sz="1800">
                <a:solidFill>
                  <a:srgbClr val="FFF3DF"/>
                </a:solidFill>
                <a:latin typeface="Arimo"/>
                <a:ea typeface="Arimo"/>
                <a:cs typeface="Arimo"/>
                <a:sym typeface="Arimo"/>
              </a:rPr>
              <a:t>HTML · JavaScript · MapLibre GL</a:t>
            </a:r>
          </a:p>
          <a:p>
            <a:pPr algn="l" marL="388620" indent="-194310" lvl="1">
              <a:lnSpc>
                <a:spcPts val="2340"/>
              </a:lnSpc>
              <a:buFont typeface="Arial"/>
              <a:buChar char="•"/>
            </a:pPr>
            <a:r>
              <a:rPr lang="en-US" sz="1800">
                <a:solidFill>
                  <a:srgbClr val="FFF3DF"/>
                </a:solidFill>
                <a:latin typeface="Arimo"/>
                <a:ea typeface="Arimo"/>
                <a:cs typeface="Arimo"/>
                <a:sym typeface="Arimo"/>
              </a:rPr>
              <a:t>Terreno 3D y calles de OpenStreetMap</a:t>
            </a:r>
          </a:p>
          <a:p>
            <a:pPr algn="l" marL="388620" indent="-194310" lvl="1">
              <a:lnSpc>
                <a:spcPts val="2340"/>
              </a:lnSpc>
              <a:buFont typeface="Arial"/>
              <a:buChar char="•"/>
            </a:pPr>
            <a:r>
              <a:rPr lang="en-US" sz="1800">
                <a:solidFill>
                  <a:srgbClr val="FFF3DF"/>
                </a:solidFill>
                <a:latin typeface="Arimo"/>
                <a:ea typeface="Arimo"/>
                <a:cs typeface="Arimo"/>
                <a:sym typeface="Arimo"/>
              </a:rPr>
              <a:t>Open-Meteo: viento, temperatura y humedad</a:t>
            </a:r>
          </a:p>
          <a:p>
            <a:pPr algn="l" marL="388620" indent="-194310" lvl="1">
              <a:lnSpc>
                <a:spcPts val="2340"/>
              </a:lnSpc>
              <a:buFont typeface="Arial"/>
              <a:buChar char="•"/>
            </a:pPr>
            <a:r>
              <a:rPr lang="en-US" sz="1800">
                <a:solidFill>
                  <a:srgbClr val="FFF3DF"/>
                </a:solidFill>
                <a:latin typeface="Arimo"/>
                <a:ea typeface="Arimo"/>
                <a:cs typeface="Arimo"/>
                <a:sym typeface="Arimo"/>
              </a:rPr>
              <a:t>NASA FIRMS: focos de calor</a:t>
            </a:r>
          </a:p>
          <a:p>
            <a:pPr algn="l" marL="388620" indent="-194310" lvl="1">
              <a:lnSpc>
                <a:spcPts val="2340"/>
              </a:lnSpc>
              <a:buFont typeface="Arial"/>
              <a:buChar char="•"/>
            </a:pPr>
            <a:r>
              <a:rPr lang="en-US" sz="1800">
                <a:solidFill>
                  <a:srgbClr val="FFF3DF"/>
                </a:solidFill>
                <a:latin typeface="Arimo"/>
                <a:ea typeface="Arimo"/>
                <a:cs typeface="Arimo"/>
                <a:sym typeface="Arimo"/>
              </a:rPr>
              <a:t>ESA WorldCover: vegetación</a:t>
            </a:r>
          </a:p>
          <a:p>
            <a:pPr algn="l" marL="388620" indent="-194310" lvl="1">
              <a:lnSpc>
                <a:spcPts val="2340"/>
              </a:lnSpc>
              <a:buFont typeface="Arial"/>
              <a:buChar char="•"/>
            </a:pPr>
            <a:r>
              <a:rPr lang="en-US" sz="1800">
                <a:solidFill>
                  <a:srgbClr val="FFF3DF"/>
                </a:solidFill>
                <a:latin typeface="Arimo"/>
                <a:ea typeface="Arimo"/>
                <a:cs typeface="Arimo"/>
                <a:sym typeface="Arimo"/>
              </a:rPr>
              <a:t>OpenStreetMap (Overpass): grifos, bomberos y agua</a:t>
            </a:r>
          </a:p>
          <a:p>
            <a:pPr algn="l" marL="388620" indent="-194310" lvl="1">
              <a:lnSpc>
                <a:spcPts val="2340"/>
              </a:lnSpc>
              <a:buFont typeface="Arial"/>
              <a:buChar char="•"/>
            </a:pPr>
            <a:r>
              <a:rPr lang="en-US" sz="1800">
                <a:solidFill>
                  <a:srgbClr val="FFF3DF"/>
                </a:solidFill>
                <a:latin typeface="Arimo"/>
                <a:ea typeface="Arimo"/>
                <a:cs typeface="Arimo"/>
                <a:sym typeface="Arimo"/>
              </a:rPr>
              <a:t>Mapa de calor de riesgo</a:t>
            </a:r>
          </a:p>
          <a:p>
            <a:pPr algn="l" marL="388620" indent="-194310" lvl="1">
              <a:lnSpc>
                <a:spcPts val="2340"/>
              </a:lnSpc>
              <a:buFont typeface="Arial"/>
              <a:buChar char="•"/>
            </a:pPr>
            <a:r>
              <a:rPr lang="en-US" sz="1800">
                <a:solidFill>
                  <a:srgbClr val="FFF3DF"/>
                </a:solidFill>
                <a:latin typeface="Arimo"/>
                <a:ea typeface="Arimo"/>
                <a:cs typeface="Arimo"/>
                <a:sym typeface="Arimo"/>
              </a:rPr>
              <a:t>Propagación por reglas: elipse de Richards en grilla de 250 m</a:t>
            </a:r>
          </a:p>
          <a:p>
            <a:pPr algn="l" marL="388620" indent="-194310" lvl="1">
              <a:lnSpc>
                <a:spcPts val="2340"/>
              </a:lnSpc>
              <a:buFont typeface="Arial"/>
              <a:buChar char="•"/>
            </a:pPr>
            <a:r>
              <a:rPr lang="en-US" sz="1800">
                <a:solidFill>
                  <a:srgbClr val="FFF3DF"/>
                </a:solidFill>
                <a:latin typeface="Arimo"/>
                <a:ea typeface="Arimo"/>
                <a:cs typeface="Arimo"/>
                <a:sym typeface="Arimo"/>
              </a:rPr>
              <a:t>Modelo M2 entrenado, desde el backend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2100F"/>
        </a:solidFill>
      </p:bgPr>
    </p:bg>
    <p:spTree>
      <p:nvGrpSpPr>
        <p:cNvPr id="1" name=""/>
        <p:cNvGrpSpPr/>
        <p:nvPr/>
      </p:nvGrpSpPr>
      <p:grpSpPr>
        <a:xfrm>
          <a:off x="0" y="0"/>
          <a:ext cx="0" cy="0"/>
          <a:chOff x="0" y="0"/>
          <a:chExt cx="0" cy="0"/>
        </a:xfrm>
      </p:grpSpPr>
      <p:grpSp>
        <p:nvGrpSpPr>
          <p:cNvPr name="Group 2" id="2"/>
          <p:cNvGrpSpPr/>
          <p:nvPr/>
        </p:nvGrpSpPr>
        <p:grpSpPr>
          <a:xfrm rot="0">
            <a:off x="552450" y="666750"/>
            <a:ext cx="133350" cy="1123950"/>
            <a:chOff x="0" y="0"/>
            <a:chExt cx="177800" cy="1498600"/>
          </a:xfrm>
        </p:grpSpPr>
        <p:sp>
          <p:nvSpPr>
            <p:cNvPr name="Freeform 3" id="3"/>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a:ln cap="sq">
              <a:noFill/>
              <a:prstDash val="solid"/>
              <a:miter/>
            </a:ln>
          </p:spPr>
        </p:sp>
        <p:sp>
          <p:nvSpPr>
            <p:cNvPr name="TextBox 4" id="4"/>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952500" y="2571750"/>
            <a:ext cx="7505700" cy="5003800"/>
          </a:xfrm>
          <a:custGeom>
            <a:avLst/>
            <a:gdLst/>
            <a:ahLst/>
            <a:cxnLst/>
            <a:rect r="r" b="b" t="t" l="l"/>
            <a:pathLst>
              <a:path h="5003800" w="7505700">
                <a:moveTo>
                  <a:pt x="0" y="0"/>
                </a:moveTo>
                <a:lnTo>
                  <a:pt x="7505700" y="0"/>
                </a:lnTo>
                <a:lnTo>
                  <a:pt x="7505700" y="5003800"/>
                </a:lnTo>
                <a:lnTo>
                  <a:pt x="0" y="5003800"/>
                </a:lnTo>
                <a:lnTo>
                  <a:pt x="0" y="0"/>
                </a:lnTo>
                <a:close/>
              </a:path>
            </a:pathLst>
          </a:custGeom>
          <a:blipFill>
            <a:blip r:embed="rId2"/>
            <a:stretch>
              <a:fillRect l="0" t="0" r="0" b="0"/>
            </a:stretch>
          </a:blipFill>
        </p:spPr>
      </p:sp>
      <p:sp>
        <p:nvSpPr>
          <p:cNvPr name="Freeform 6" id="6"/>
          <p:cNvSpPr/>
          <p:nvPr/>
        </p:nvSpPr>
        <p:spPr>
          <a:xfrm flipH="false" flipV="false" rot="0">
            <a:off x="8857082" y="2584481"/>
            <a:ext cx="8354593" cy="4991069"/>
          </a:xfrm>
          <a:custGeom>
            <a:avLst/>
            <a:gdLst/>
            <a:ahLst/>
            <a:cxnLst/>
            <a:rect r="r" b="b" t="t" l="l"/>
            <a:pathLst>
              <a:path h="4991069" w="8354593">
                <a:moveTo>
                  <a:pt x="0" y="0"/>
                </a:moveTo>
                <a:lnTo>
                  <a:pt x="8354593" y="0"/>
                </a:lnTo>
                <a:lnTo>
                  <a:pt x="8354593" y="4991069"/>
                </a:lnTo>
                <a:lnTo>
                  <a:pt x="0" y="4991069"/>
                </a:lnTo>
                <a:lnTo>
                  <a:pt x="0" y="0"/>
                </a:lnTo>
                <a:close/>
              </a:path>
            </a:pathLst>
          </a:custGeom>
          <a:blipFill>
            <a:blip r:embed="rId3"/>
            <a:stretch>
              <a:fillRect l="-2194" t="0" r="-2351" b="0"/>
            </a:stretch>
          </a:blipFill>
        </p:spPr>
      </p:sp>
      <p:sp>
        <p:nvSpPr>
          <p:cNvPr name="TextBox 7" id="7"/>
          <p:cNvSpPr txBox="true"/>
          <p:nvPr/>
        </p:nvSpPr>
        <p:spPr>
          <a:xfrm rot="0">
            <a:off x="952500" y="762000"/>
            <a:ext cx="14287500" cy="629379"/>
          </a:xfrm>
          <a:prstGeom prst="rect">
            <a:avLst/>
          </a:prstGeom>
        </p:spPr>
        <p:txBody>
          <a:bodyPr anchor="t" rtlCol="false" tIns="0" lIns="0" bIns="0" rIns="0">
            <a:spAutoFit/>
          </a:bodyPr>
          <a:lstStyle/>
          <a:p>
            <a:pPr algn="l">
              <a:lnSpc>
                <a:spcPts val="4704"/>
              </a:lnSpc>
            </a:pPr>
            <a:r>
              <a:rPr lang="en-US" sz="4800" spc="-144" b="true">
                <a:solidFill>
                  <a:srgbClr val="FFF3DF"/>
                </a:solidFill>
                <a:latin typeface="Barlow Condensed Bold"/>
                <a:ea typeface="Barlow Condensed Bold"/>
                <a:cs typeface="Barlow Condensed Bold"/>
                <a:sym typeface="Barlow Condensed Bold"/>
              </a:rPr>
              <a:t>ARQUITECTURA GENERAL</a:t>
            </a:r>
          </a:p>
        </p:txBody>
      </p:sp>
      <p:sp>
        <p:nvSpPr>
          <p:cNvPr name="TextBox 8" id="8"/>
          <p:cNvSpPr txBox="true"/>
          <p:nvPr/>
        </p:nvSpPr>
        <p:spPr>
          <a:xfrm rot="0">
            <a:off x="952500" y="1372329"/>
            <a:ext cx="1238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Cuatro componentes conectados por una API REST</a:t>
            </a:r>
          </a:p>
        </p:txBody>
      </p:sp>
      <p:sp>
        <p:nvSpPr>
          <p:cNvPr name="TextBox 9" id="9"/>
          <p:cNvSpPr txBox="true"/>
          <p:nvPr/>
        </p:nvSpPr>
        <p:spPr>
          <a:xfrm rot="0">
            <a:off x="952500" y="7715250"/>
            <a:ext cx="7505700" cy="365760"/>
          </a:xfrm>
          <a:prstGeom prst="rect">
            <a:avLst/>
          </a:prstGeom>
        </p:spPr>
        <p:txBody>
          <a:bodyPr anchor="t" rtlCol="false" tIns="0" lIns="0" bIns="0" rIns="0">
            <a:spAutoFit/>
          </a:bodyPr>
          <a:lstStyle/>
          <a:p>
            <a:pPr algn="ctr">
              <a:lnSpc>
                <a:spcPts val="2940"/>
              </a:lnSpc>
            </a:pPr>
            <a:r>
              <a:rPr lang="en-US" sz="2100" b="true">
                <a:solidFill>
                  <a:srgbClr val="FFB000"/>
                </a:solidFill>
                <a:latin typeface="Arimo Bold"/>
                <a:ea typeface="Arimo Bold"/>
                <a:cs typeface="Arimo Bold"/>
                <a:sym typeface="Arimo Bold"/>
              </a:rPr>
              <a:t>ARQUITECTURA GENERAL</a:t>
            </a:r>
          </a:p>
        </p:txBody>
      </p:sp>
      <p:sp>
        <p:nvSpPr>
          <p:cNvPr name="TextBox 10" id="10"/>
          <p:cNvSpPr txBox="true"/>
          <p:nvPr/>
        </p:nvSpPr>
        <p:spPr>
          <a:xfrm rot="0">
            <a:off x="8839200" y="7715250"/>
            <a:ext cx="8372475" cy="365760"/>
          </a:xfrm>
          <a:prstGeom prst="rect">
            <a:avLst/>
          </a:prstGeom>
        </p:spPr>
        <p:txBody>
          <a:bodyPr anchor="t" rtlCol="false" tIns="0" lIns="0" bIns="0" rIns="0">
            <a:spAutoFit/>
          </a:bodyPr>
          <a:lstStyle/>
          <a:p>
            <a:pPr algn="ctr">
              <a:lnSpc>
                <a:spcPts val="2940"/>
              </a:lnSpc>
            </a:pPr>
            <a:r>
              <a:rPr lang="en-US" sz="2100" b="true">
                <a:solidFill>
                  <a:srgbClr val="FFB000"/>
                </a:solidFill>
                <a:latin typeface="Arimo Bold"/>
                <a:ea typeface="Arimo Bold"/>
                <a:cs typeface="Arimo Bold"/>
                <a:sym typeface="Arimo Bold"/>
              </a:rPr>
              <a:t>DIAGRAMA DE COMPONENTES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2100F"/>
        </a:solidFill>
      </p:bgPr>
    </p:bg>
    <p:spTree>
      <p:nvGrpSpPr>
        <p:cNvPr id="1" name=""/>
        <p:cNvGrpSpPr/>
        <p:nvPr/>
      </p:nvGrpSpPr>
      <p:grpSpPr>
        <a:xfrm>
          <a:off x="0" y="0"/>
          <a:ext cx="0" cy="0"/>
          <a:chOff x="0" y="0"/>
          <a:chExt cx="0" cy="0"/>
        </a:xfrm>
      </p:grpSpPr>
      <p:grpSp>
        <p:nvGrpSpPr>
          <p:cNvPr name="Group 2" id="2"/>
          <p:cNvGrpSpPr/>
          <p:nvPr/>
        </p:nvGrpSpPr>
        <p:grpSpPr>
          <a:xfrm rot="0">
            <a:off x="552450" y="666750"/>
            <a:ext cx="133350" cy="1123950"/>
            <a:chOff x="0" y="0"/>
            <a:chExt cx="177800" cy="1498600"/>
          </a:xfrm>
        </p:grpSpPr>
        <p:sp>
          <p:nvSpPr>
            <p:cNvPr name="Freeform 3" id="3"/>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3B3F"/>
            </a:solidFill>
            <a:ln cap="sq">
              <a:noFill/>
              <a:prstDash val="solid"/>
              <a:miter/>
            </a:ln>
          </p:spPr>
        </p:sp>
        <p:sp>
          <p:nvSpPr>
            <p:cNvPr name="TextBox 4" id="4"/>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952500" y="2381250"/>
            <a:ext cx="10253667" cy="7025351"/>
          </a:xfrm>
          <a:custGeom>
            <a:avLst/>
            <a:gdLst/>
            <a:ahLst/>
            <a:cxnLst/>
            <a:rect r="r" b="b" t="t" l="l"/>
            <a:pathLst>
              <a:path h="7025351" w="10253667">
                <a:moveTo>
                  <a:pt x="0" y="0"/>
                </a:moveTo>
                <a:lnTo>
                  <a:pt x="10253667" y="0"/>
                </a:lnTo>
                <a:lnTo>
                  <a:pt x="10253667" y="7025351"/>
                </a:lnTo>
                <a:lnTo>
                  <a:pt x="0" y="7025351"/>
                </a:lnTo>
                <a:lnTo>
                  <a:pt x="0" y="0"/>
                </a:lnTo>
                <a:close/>
              </a:path>
            </a:pathLst>
          </a:custGeom>
          <a:blipFill>
            <a:blip r:embed="rId2"/>
            <a:stretch>
              <a:fillRect l="0" t="0" r="0" b="0"/>
            </a:stretch>
          </a:blipFill>
        </p:spPr>
      </p:sp>
      <p:sp>
        <p:nvSpPr>
          <p:cNvPr name="TextBox 6" id="6"/>
          <p:cNvSpPr txBox="true"/>
          <p:nvPr/>
        </p:nvSpPr>
        <p:spPr>
          <a:xfrm rot="0">
            <a:off x="952500" y="762000"/>
            <a:ext cx="14287500" cy="629379"/>
          </a:xfrm>
          <a:prstGeom prst="rect">
            <a:avLst/>
          </a:prstGeom>
        </p:spPr>
        <p:txBody>
          <a:bodyPr anchor="t" rtlCol="false" tIns="0" lIns="0" bIns="0" rIns="0">
            <a:spAutoFit/>
          </a:bodyPr>
          <a:lstStyle/>
          <a:p>
            <a:pPr algn="l">
              <a:lnSpc>
                <a:spcPts val="4704"/>
              </a:lnSpc>
            </a:pPr>
            <a:r>
              <a:rPr lang="en-US" sz="4800" spc="-144" b="true">
                <a:solidFill>
                  <a:srgbClr val="FFF3DF"/>
                </a:solidFill>
                <a:latin typeface="Barlow Condensed Bold"/>
                <a:ea typeface="Barlow Condensed Bold"/>
                <a:cs typeface="Barlow Condensed Bold"/>
                <a:sym typeface="Barlow Condensed Bold"/>
              </a:rPr>
              <a:t>FLUJO DE UNA ALERTA</a:t>
            </a:r>
          </a:p>
        </p:txBody>
      </p:sp>
      <p:sp>
        <p:nvSpPr>
          <p:cNvPr name="TextBox 7" id="7"/>
          <p:cNvSpPr txBox="true"/>
          <p:nvPr/>
        </p:nvSpPr>
        <p:spPr>
          <a:xfrm rot="0">
            <a:off x="952500" y="1480185"/>
            <a:ext cx="1238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Secuencia de punta a punta: de la cámara al operador</a:t>
            </a:r>
          </a:p>
        </p:txBody>
      </p:sp>
      <p:sp>
        <p:nvSpPr>
          <p:cNvPr name="TextBox 8" id="8"/>
          <p:cNvSpPr txBox="true"/>
          <p:nvPr/>
        </p:nvSpPr>
        <p:spPr>
          <a:xfrm rot="0">
            <a:off x="12001500" y="2781300"/>
            <a:ext cx="5334000" cy="4276725"/>
          </a:xfrm>
          <a:prstGeom prst="rect">
            <a:avLst/>
          </a:prstGeom>
        </p:spPr>
        <p:txBody>
          <a:bodyPr anchor="t" rtlCol="false" tIns="0" lIns="0" bIns="0" rIns="0">
            <a:spAutoFit/>
          </a:bodyPr>
          <a:lstStyle/>
          <a:p>
            <a:pPr algn="l">
              <a:lnSpc>
                <a:spcPts val="3375"/>
              </a:lnSpc>
            </a:pPr>
            <a:r>
              <a:rPr lang="en-US" sz="2250">
                <a:solidFill>
                  <a:srgbClr val="FFF3DF"/>
                </a:solidFill>
                <a:latin typeface="Arimo"/>
                <a:ea typeface="Arimo"/>
                <a:cs typeface="Arimo"/>
                <a:sym typeface="Arimo"/>
              </a:rPr>
              <a:t>1. La cámara captura el frame y corre los modelos de fuego y humo.</a:t>
            </a:r>
          </a:p>
          <a:p>
            <a:pPr algn="l">
              <a:lnSpc>
                <a:spcPts val="3375"/>
              </a:lnSpc>
            </a:pPr>
            <a:r>
              <a:rPr lang="en-US" sz="2250">
                <a:solidFill>
                  <a:srgbClr val="FFF3DF"/>
                </a:solidFill>
                <a:latin typeface="Arimo"/>
                <a:ea typeface="Arimo"/>
                <a:cs typeface="Arimo"/>
                <a:sym typeface="Arimo"/>
              </a:rPr>
              <a:t>2. Confirma con una ventana: fuego 3 de 5, humo 2 de 5.</a:t>
            </a:r>
          </a:p>
          <a:p>
            <a:pPr algn="l">
              <a:lnSpc>
                <a:spcPts val="3375"/>
              </a:lnSpc>
            </a:pPr>
            <a:r>
              <a:rPr lang="en-US" sz="2250">
                <a:solidFill>
                  <a:srgbClr val="FFF3DF"/>
                </a:solidFill>
                <a:latin typeface="Arimo"/>
                <a:ea typeface="Arimo"/>
                <a:cs typeface="Arimo"/>
                <a:sym typeface="Arimo"/>
              </a:rPr>
              <a:t>3. Envía el evento con la imagen a la API.</a:t>
            </a:r>
          </a:p>
          <a:p>
            <a:pPr algn="l">
              <a:lnSpc>
                <a:spcPts val="3375"/>
              </a:lnSpc>
            </a:pPr>
            <a:r>
              <a:rPr lang="en-US" sz="2250">
                <a:solidFill>
                  <a:srgbClr val="FFF3DF"/>
                </a:solidFill>
                <a:latin typeface="Arimo"/>
                <a:ea typeface="Arimo"/>
                <a:cs typeface="Arimo"/>
                <a:sym typeface="Arimo"/>
              </a:rPr>
              <a:t>4. La API valida, guarda y registra la alerta.</a:t>
            </a:r>
          </a:p>
          <a:p>
            <a:pPr algn="l">
              <a:lnSpc>
                <a:spcPts val="3375"/>
              </a:lnSpc>
            </a:pPr>
            <a:r>
              <a:rPr lang="en-US" sz="2250">
                <a:solidFill>
                  <a:srgbClr val="FFF3DF"/>
                </a:solidFill>
                <a:latin typeface="Arimo"/>
                <a:ea typeface="Arimo"/>
                <a:cs typeface="Arimo"/>
                <a:sym typeface="Arimo"/>
              </a:rPr>
              <a:t>5. El escritorio la consulta cada 3 segundos y notifica.</a:t>
            </a:r>
          </a:p>
          <a:p>
            <a:pPr algn="l">
              <a:lnSpc>
                <a:spcPts val="3375"/>
              </a:lnSpc>
            </a:pPr>
            <a:r>
              <a:rPr lang="en-US" sz="2250">
                <a:solidFill>
                  <a:srgbClr val="FFF3DF"/>
                </a:solidFill>
                <a:latin typeface="Arimo"/>
                <a:ea typeface="Arimo"/>
                <a:cs typeface="Arimo"/>
                <a:sym typeface="Arimo"/>
              </a:rPr>
              <a:t>6. El operador revisa y cierra la alerta.</a:t>
            </a:r>
          </a:p>
        </p:txBody>
      </p:sp>
      <p:sp>
        <p:nvSpPr>
          <p:cNvPr name="TextBox 9" id="9"/>
          <p:cNvSpPr txBox="true"/>
          <p:nvPr/>
        </p:nvSpPr>
        <p:spPr>
          <a:xfrm rot="0">
            <a:off x="12001500" y="7581900"/>
            <a:ext cx="5334000" cy="1055370"/>
          </a:xfrm>
          <a:prstGeom prst="rect">
            <a:avLst/>
          </a:prstGeom>
        </p:spPr>
        <p:txBody>
          <a:bodyPr anchor="t" rtlCol="false" tIns="0" lIns="0" bIns="0" rIns="0">
            <a:spAutoFit/>
          </a:bodyPr>
          <a:lstStyle/>
          <a:p>
            <a:pPr algn="l">
              <a:lnSpc>
                <a:spcPts val="2835"/>
              </a:lnSpc>
            </a:pPr>
            <a:r>
              <a:rPr lang="en-US" sz="2100" b="true">
                <a:solidFill>
                  <a:srgbClr val="FFB000"/>
                </a:solidFill>
                <a:latin typeface="Arimo Bold"/>
                <a:ea typeface="Arimo Bold"/>
                <a:cs typeface="Arimo Bold"/>
                <a:sym typeface="Arimo Bold"/>
              </a:rPr>
              <a:t>Cada alerta conserva hora, cámara, confianza, evidencia visual y estado de atención.</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4287500" cy="629379"/>
          </a:xfrm>
          <a:prstGeom prst="rect">
            <a:avLst/>
          </a:prstGeom>
        </p:spPr>
        <p:txBody>
          <a:bodyPr anchor="t" rtlCol="false" tIns="0" lIns="0" bIns="0" rIns="0">
            <a:spAutoFit/>
          </a:bodyPr>
          <a:lstStyle/>
          <a:p>
            <a:pPr algn="l" marL="0" indent="0" lvl="0">
              <a:lnSpc>
                <a:spcPts val="4704"/>
              </a:lnSpc>
              <a:spcBef>
                <a:spcPct val="0"/>
              </a:spcBef>
            </a:pPr>
            <a:r>
              <a:rPr lang="en-US" b="true" sz="4800" spc="-144" strike="noStrike" u="none">
                <a:solidFill>
                  <a:srgbClr val="FFF3DF"/>
                </a:solidFill>
                <a:latin typeface="Barlow Condensed Bold"/>
                <a:ea typeface="Barlow Condensed Bold"/>
                <a:cs typeface="Barlow Condensed Bold"/>
                <a:sym typeface="Barlow Condensed Bold"/>
              </a:rPr>
              <a:t>TRES MODELOS, UN FLUJO</a:t>
            </a:r>
          </a:p>
        </p:txBody>
      </p:sp>
      <p:sp>
        <p:nvSpPr>
          <p:cNvPr name="TextBox 3" id="3"/>
          <p:cNvSpPr txBox="true"/>
          <p:nvPr/>
        </p:nvSpPr>
        <p:spPr>
          <a:xfrm rot="0">
            <a:off x="952500" y="1518285"/>
            <a:ext cx="1238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Dos modelos detectan en la cámara y uno proyecta en el mapa</a:t>
            </a:r>
          </a:p>
        </p:txBody>
      </p:sp>
      <p:grpSp>
        <p:nvGrpSpPr>
          <p:cNvPr name="Group 4" id="4"/>
          <p:cNvGrpSpPr/>
          <p:nvPr/>
        </p:nvGrpSpPr>
        <p:grpSpPr>
          <a:xfrm rot="0">
            <a:off x="552450" y="666750"/>
            <a:ext cx="133350" cy="1123950"/>
            <a:chOff x="0" y="0"/>
            <a:chExt cx="177800" cy="1498600"/>
          </a:xfrm>
        </p:grpSpPr>
        <p:sp>
          <p:nvSpPr>
            <p:cNvPr name="Freeform 5" id="5"/>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a:ln cap="sq">
              <a:noFill/>
              <a:prstDash val="solid"/>
              <a:miter/>
            </a:ln>
          </p:spPr>
        </p:sp>
        <p:sp>
          <p:nvSpPr>
            <p:cNvPr name="TextBox 6" id="6"/>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952500" y="3143250"/>
            <a:ext cx="4000500" cy="1428750"/>
            <a:chOff x="0" y="0"/>
            <a:chExt cx="5334000" cy="1905000"/>
          </a:xfrm>
        </p:grpSpPr>
        <p:sp>
          <p:nvSpPr>
            <p:cNvPr name="Freeform 8" id="8"/>
            <p:cNvSpPr/>
            <p:nvPr/>
          </p:nvSpPr>
          <p:spPr>
            <a:xfrm flipH="false" flipV="false" rot="0">
              <a:off x="0" y="0"/>
              <a:ext cx="5334000" cy="1905000"/>
            </a:xfrm>
            <a:custGeom>
              <a:avLst/>
              <a:gdLst/>
              <a:ahLst/>
              <a:cxnLst/>
              <a:rect r="r" b="b" t="t" l="l"/>
              <a:pathLst>
                <a:path h="1905000" w="5334000">
                  <a:moveTo>
                    <a:pt x="0" y="0"/>
                  </a:moveTo>
                  <a:lnTo>
                    <a:pt x="5334000" y="0"/>
                  </a:lnTo>
                  <a:lnTo>
                    <a:pt x="5334000" y="1905000"/>
                  </a:lnTo>
                  <a:lnTo>
                    <a:pt x="0" y="1905000"/>
                  </a:lnTo>
                  <a:close/>
                </a:path>
              </a:pathLst>
            </a:custGeom>
            <a:solidFill>
              <a:srgbClr val="221B18"/>
            </a:solidFill>
          </p:spPr>
        </p:sp>
        <p:sp>
          <p:nvSpPr>
            <p:cNvPr name="TextBox 9" id="9"/>
            <p:cNvSpPr txBox="true"/>
            <p:nvPr/>
          </p:nvSpPr>
          <p:spPr>
            <a:xfrm>
              <a:off x="0" y="-38100"/>
              <a:ext cx="5334000" cy="1943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952500" y="4857750"/>
            <a:ext cx="4000500" cy="1428750"/>
            <a:chOff x="0" y="0"/>
            <a:chExt cx="5334000" cy="1905000"/>
          </a:xfrm>
        </p:grpSpPr>
        <p:sp>
          <p:nvSpPr>
            <p:cNvPr name="Freeform 11" id="11"/>
            <p:cNvSpPr/>
            <p:nvPr/>
          </p:nvSpPr>
          <p:spPr>
            <a:xfrm flipH="false" flipV="false" rot="0">
              <a:off x="0" y="0"/>
              <a:ext cx="5334000" cy="1905000"/>
            </a:xfrm>
            <a:custGeom>
              <a:avLst/>
              <a:gdLst/>
              <a:ahLst/>
              <a:cxnLst/>
              <a:rect r="r" b="b" t="t" l="l"/>
              <a:pathLst>
                <a:path h="1905000" w="5334000">
                  <a:moveTo>
                    <a:pt x="0" y="0"/>
                  </a:moveTo>
                  <a:lnTo>
                    <a:pt x="5334000" y="0"/>
                  </a:lnTo>
                  <a:lnTo>
                    <a:pt x="5334000" y="1905000"/>
                  </a:lnTo>
                  <a:lnTo>
                    <a:pt x="0" y="1905000"/>
                  </a:lnTo>
                  <a:close/>
                </a:path>
              </a:pathLst>
            </a:custGeom>
            <a:solidFill>
              <a:srgbClr val="221B18"/>
            </a:solidFill>
          </p:spPr>
        </p:sp>
        <p:sp>
          <p:nvSpPr>
            <p:cNvPr name="TextBox 12" id="12"/>
            <p:cNvSpPr txBox="true"/>
            <p:nvPr/>
          </p:nvSpPr>
          <p:spPr>
            <a:xfrm>
              <a:off x="0" y="-38100"/>
              <a:ext cx="5334000" cy="1943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5715000" y="3143250"/>
            <a:ext cx="3429000" cy="3143250"/>
            <a:chOff x="0" y="0"/>
            <a:chExt cx="4572000" cy="4191000"/>
          </a:xfrm>
        </p:grpSpPr>
        <p:sp>
          <p:nvSpPr>
            <p:cNvPr name="Freeform 14" id="14"/>
            <p:cNvSpPr/>
            <p:nvPr/>
          </p:nvSpPr>
          <p:spPr>
            <a:xfrm flipH="false" flipV="false" rot="0">
              <a:off x="0" y="0"/>
              <a:ext cx="4572000" cy="4191000"/>
            </a:xfrm>
            <a:custGeom>
              <a:avLst/>
              <a:gdLst/>
              <a:ahLst/>
              <a:cxnLst/>
              <a:rect r="r" b="b" t="t" l="l"/>
              <a:pathLst>
                <a:path h="4191000" w="4572000">
                  <a:moveTo>
                    <a:pt x="0" y="0"/>
                  </a:moveTo>
                  <a:lnTo>
                    <a:pt x="4572000" y="0"/>
                  </a:lnTo>
                  <a:lnTo>
                    <a:pt x="4572000" y="4191000"/>
                  </a:lnTo>
                  <a:lnTo>
                    <a:pt x="0" y="4191000"/>
                  </a:lnTo>
                  <a:close/>
                </a:path>
              </a:pathLst>
            </a:custGeom>
            <a:solidFill>
              <a:srgbClr val="221B18"/>
            </a:solidFill>
          </p:spPr>
        </p:sp>
        <p:sp>
          <p:nvSpPr>
            <p:cNvPr name="TextBox 15" id="15"/>
            <p:cNvSpPr txBox="true"/>
            <p:nvPr/>
          </p:nvSpPr>
          <p:spPr>
            <a:xfrm>
              <a:off x="0" y="-38100"/>
              <a:ext cx="4572000" cy="42291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9906000" y="3143250"/>
            <a:ext cx="3429000" cy="3143250"/>
            <a:chOff x="0" y="0"/>
            <a:chExt cx="4572000" cy="4191000"/>
          </a:xfrm>
        </p:grpSpPr>
        <p:sp>
          <p:nvSpPr>
            <p:cNvPr name="Freeform 17" id="17"/>
            <p:cNvSpPr/>
            <p:nvPr/>
          </p:nvSpPr>
          <p:spPr>
            <a:xfrm flipH="false" flipV="false" rot="0">
              <a:off x="0" y="0"/>
              <a:ext cx="4572000" cy="4191000"/>
            </a:xfrm>
            <a:custGeom>
              <a:avLst/>
              <a:gdLst/>
              <a:ahLst/>
              <a:cxnLst/>
              <a:rect r="r" b="b" t="t" l="l"/>
              <a:pathLst>
                <a:path h="4191000" w="4572000">
                  <a:moveTo>
                    <a:pt x="0" y="0"/>
                  </a:moveTo>
                  <a:lnTo>
                    <a:pt x="4572000" y="0"/>
                  </a:lnTo>
                  <a:lnTo>
                    <a:pt x="4572000" y="4191000"/>
                  </a:lnTo>
                  <a:lnTo>
                    <a:pt x="0" y="4191000"/>
                  </a:lnTo>
                  <a:close/>
                </a:path>
              </a:pathLst>
            </a:custGeom>
            <a:solidFill>
              <a:srgbClr val="221B18"/>
            </a:solidFill>
          </p:spPr>
        </p:sp>
        <p:sp>
          <p:nvSpPr>
            <p:cNvPr name="TextBox 18" id="18"/>
            <p:cNvSpPr txBox="true"/>
            <p:nvPr/>
          </p:nvSpPr>
          <p:spPr>
            <a:xfrm>
              <a:off x="0" y="-38100"/>
              <a:ext cx="4572000" cy="4229100"/>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14097000" y="3143250"/>
            <a:ext cx="3238500" cy="3143250"/>
            <a:chOff x="0" y="0"/>
            <a:chExt cx="4318000" cy="4191000"/>
          </a:xfrm>
        </p:grpSpPr>
        <p:sp>
          <p:nvSpPr>
            <p:cNvPr name="Freeform 20" id="20"/>
            <p:cNvSpPr/>
            <p:nvPr/>
          </p:nvSpPr>
          <p:spPr>
            <a:xfrm flipH="false" flipV="false" rot="0">
              <a:off x="0" y="0"/>
              <a:ext cx="4318000" cy="4191000"/>
            </a:xfrm>
            <a:custGeom>
              <a:avLst/>
              <a:gdLst/>
              <a:ahLst/>
              <a:cxnLst/>
              <a:rect r="r" b="b" t="t" l="l"/>
              <a:pathLst>
                <a:path h="4191000" w="4318000">
                  <a:moveTo>
                    <a:pt x="0" y="0"/>
                  </a:moveTo>
                  <a:lnTo>
                    <a:pt x="4318000" y="0"/>
                  </a:lnTo>
                  <a:lnTo>
                    <a:pt x="4318000" y="4191000"/>
                  </a:lnTo>
                  <a:lnTo>
                    <a:pt x="0" y="4191000"/>
                  </a:lnTo>
                  <a:close/>
                </a:path>
              </a:pathLst>
            </a:custGeom>
            <a:solidFill>
              <a:srgbClr val="D92D20"/>
            </a:solidFill>
          </p:spPr>
        </p:sp>
        <p:sp>
          <p:nvSpPr>
            <p:cNvPr name="TextBox 21" id="21"/>
            <p:cNvSpPr txBox="true"/>
            <p:nvPr/>
          </p:nvSpPr>
          <p:spPr>
            <a:xfrm>
              <a:off x="0" y="-38100"/>
              <a:ext cx="4318000" cy="4229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5124450" y="3857625"/>
            <a:ext cx="419100" cy="476250"/>
            <a:chOff x="0" y="0"/>
            <a:chExt cx="558800" cy="635000"/>
          </a:xfrm>
        </p:grpSpPr>
        <p:sp>
          <p:nvSpPr>
            <p:cNvPr name="Freeform 23" id="23"/>
            <p:cNvSpPr/>
            <p:nvPr/>
          </p:nvSpPr>
          <p:spPr>
            <a:xfrm flipH="false" flipV="false" rot="0">
              <a:off x="0" y="0"/>
              <a:ext cx="558800" cy="635000"/>
            </a:xfrm>
            <a:custGeom>
              <a:avLst/>
              <a:gdLst/>
              <a:ahLst/>
              <a:cxnLst/>
              <a:rect r="r" b="b" t="t" l="l"/>
              <a:pathLst>
                <a:path h="635000" w="558800">
                  <a:moveTo>
                    <a:pt x="0" y="0"/>
                  </a:moveTo>
                  <a:lnTo>
                    <a:pt x="558800" y="317500"/>
                  </a:lnTo>
                  <a:lnTo>
                    <a:pt x="0" y="635000"/>
                  </a:lnTo>
                  <a:close/>
                </a:path>
              </a:pathLst>
            </a:custGeom>
            <a:solidFill>
              <a:srgbClr val="FFB000"/>
            </a:solidFill>
          </p:spPr>
        </p:sp>
        <p:sp>
          <p:nvSpPr>
            <p:cNvPr name="TextBox 24" id="24"/>
            <p:cNvSpPr txBox="true"/>
            <p:nvPr/>
          </p:nvSpPr>
          <p:spPr>
            <a:xfrm>
              <a:off x="0" y="-38100"/>
              <a:ext cx="558800" cy="673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5124450" y="5334000"/>
            <a:ext cx="419100" cy="476250"/>
            <a:chOff x="0" y="0"/>
            <a:chExt cx="558800" cy="635000"/>
          </a:xfrm>
        </p:grpSpPr>
        <p:sp>
          <p:nvSpPr>
            <p:cNvPr name="Freeform 26" id="26"/>
            <p:cNvSpPr/>
            <p:nvPr/>
          </p:nvSpPr>
          <p:spPr>
            <a:xfrm flipH="false" flipV="false" rot="0">
              <a:off x="0" y="0"/>
              <a:ext cx="558800" cy="635000"/>
            </a:xfrm>
            <a:custGeom>
              <a:avLst/>
              <a:gdLst/>
              <a:ahLst/>
              <a:cxnLst/>
              <a:rect r="r" b="b" t="t" l="l"/>
              <a:pathLst>
                <a:path h="635000" w="558800">
                  <a:moveTo>
                    <a:pt x="0" y="0"/>
                  </a:moveTo>
                  <a:lnTo>
                    <a:pt x="558800" y="317500"/>
                  </a:lnTo>
                  <a:lnTo>
                    <a:pt x="0" y="635000"/>
                  </a:lnTo>
                  <a:close/>
                </a:path>
              </a:pathLst>
            </a:custGeom>
            <a:solidFill>
              <a:srgbClr val="FFB000"/>
            </a:solidFill>
          </p:spPr>
        </p:sp>
        <p:sp>
          <p:nvSpPr>
            <p:cNvPr name="TextBox 27" id="27"/>
            <p:cNvSpPr txBox="true"/>
            <p:nvPr/>
          </p:nvSpPr>
          <p:spPr>
            <a:xfrm>
              <a:off x="0" y="-38100"/>
              <a:ext cx="558800" cy="6731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9315450" y="4476750"/>
            <a:ext cx="419100" cy="476250"/>
            <a:chOff x="0" y="0"/>
            <a:chExt cx="558800" cy="635000"/>
          </a:xfrm>
        </p:grpSpPr>
        <p:sp>
          <p:nvSpPr>
            <p:cNvPr name="Freeform 29" id="29"/>
            <p:cNvSpPr/>
            <p:nvPr/>
          </p:nvSpPr>
          <p:spPr>
            <a:xfrm flipH="false" flipV="false" rot="0">
              <a:off x="0" y="0"/>
              <a:ext cx="558800" cy="635000"/>
            </a:xfrm>
            <a:custGeom>
              <a:avLst/>
              <a:gdLst/>
              <a:ahLst/>
              <a:cxnLst/>
              <a:rect r="r" b="b" t="t" l="l"/>
              <a:pathLst>
                <a:path h="635000" w="558800">
                  <a:moveTo>
                    <a:pt x="0" y="0"/>
                  </a:moveTo>
                  <a:lnTo>
                    <a:pt x="558800" y="317500"/>
                  </a:lnTo>
                  <a:lnTo>
                    <a:pt x="0" y="635000"/>
                  </a:lnTo>
                  <a:close/>
                </a:path>
              </a:pathLst>
            </a:custGeom>
            <a:solidFill>
              <a:srgbClr val="FFB000"/>
            </a:solidFill>
          </p:spPr>
        </p:sp>
        <p:sp>
          <p:nvSpPr>
            <p:cNvPr name="TextBox 30" id="30"/>
            <p:cNvSpPr txBox="true"/>
            <p:nvPr/>
          </p:nvSpPr>
          <p:spPr>
            <a:xfrm>
              <a:off x="0" y="-38100"/>
              <a:ext cx="558800" cy="673100"/>
            </a:xfrm>
            <a:prstGeom prst="rect">
              <a:avLst/>
            </a:prstGeom>
          </p:spPr>
          <p:txBody>
            <a:bodyPr anchor="ctr" rtlCol="false" tIns="50800" lIns="50800" bIns="50800" rIns="50800"/>
            <a:lstStyle/>
            <a:p>
              <a:pPr algn="l">
                <a:lnSpc>
                  <a:spcPts val="1679"/>
                </a:lnSpc>
              </a:pPr>
            </a:p>
          </p:txBody>
        </p:sp>
      </p:grpSp>
      <p:grpSp>
        <p:nvGrpSpPr>
          <p:cNvPr name="Group 31" id="31"/>
          <p:cNvGrpSpPr/>
          <p:nvPr/>
        </p:nvGrpSpPr>
        <p:grpSpPr>
          <a:xfrm rot="0">
            <a:off x="13506450" y="4476750"/>
            <a:ext cx="419100" cy="476250"/>
            <a:chOff x="0" y="0"/>
            <a:chExt cx="558800" cy="635000"/>
          </a:xfrm>
        </p:grpSpPr>
        <p:sp>
          <p:nvSpPr>
            <p:cNvPr name="Freeform 32" id="32"/>
            <p:cNvSpPr/>
            <p:nvPr/>
          </p:nvSpPr>
          <p:spPr>
            <a:xfrm flipH="false" flipV="false" rot="0">
              <a:off x="0" y="0"/>
              <a:ext cx="558800" cy="635000"/>
            </a:xfrm>
            <a:custGeom>
              <a:avLst/>
              <a:gdLst/>
              <a:ahLst/>
              <a:cxnLst/>
              <a:rect r="r" b="b" t="t" l="l"/>
              <a:pathLst>
                <a:path h="635000" w="558800">
                  <a:moveTo>
                    <a:pt x="0" y="0"/>
                  </a:moveTo>
                  <a:lnTo>
                    <a:pt x="558800" y="317500"/>
                  </a:lnTo>
                  <a:lnTo>
                    <a:pt x="0" y="635000"/>
                  </a:lnTo>
                  <a:close/>
                </a:path>
              </a:pathLst>
            </a:custGeom>
            <a:solidFill>
              <a:srgbClr val="FFB000"/>
            </a:solidFill>
          </p:spPr>
        </p:sp>
        <p:sp>
          <p:nvSpPr>
            <p:cNvPr name="TextBox 33" id="33"/>
            <p:cNvSpPr txBox="true"/>
            <p:nvPr/>
          </p:nvSpPr>
          <p:spPr>
            <a:xfrm>
              <a:off x="0" y="-38100"/>
              <a:ext cx="558800" cy="6731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952500" y="2524125"/>
            <a:ext cx="8191500" cy="365760"/>
          </a:xfrm>
          <a:prstGeom prst="rect">
            <a:avLst/>
          </a:prstGeom>
        </p:spPr>
        <p:txBody>
          <a:bodyPr anchor="t" rtlCol="false" tIns="0" lIns="0" bIns="0" rIns="0">
            <a:spAutoFit/>
          </a:bodyPr>
          <a:lstStyle/>
          <a:p>
            <a:pPr algn="l">
              <a:lnSpc>
                <a:spcPts val="2940"/>
              </a:lnSpc>
            </a:pPr>
            <a:r>
              <a:rPr lang="en-US" sz="2100" b="true">
                <a:solidFill>
                  <a:srgbClr val="FF5A1F"/>
                </a:solidFill>
                <a:latin typeface="Arimo Bold"/>
                <a:ea typeface="Arimo Bold"/>
                <a:cs typeface="Arimo Bold"/>
                <a:sym typeface="Arimo Bold"/>
              </a:rPr>
              <a:t>EN LA CÁMARA</a:t>
            </a:r>
          </a:p>
        </p:txBody>
      </p:sp>
      <p:sp>
        <p:nvSpPr>
          <p:cNvPr name="TextBox 35" id="35"/>
          <p:cNvSpPr txBox="true"/>
          <p:nvPr/>
        </p:nvSpPr>
        <p:spPr>
          <a:xfrm rot="0">
            <a:off x="9906000" y="2524125"/>
            <a:ext cx="7429500" cy="365760"/>
          </a:xfrm>
          <a:prstGeom prst="rect">
            <a:avLst/>
          </a:prstGeom>
        </p:spPr>
        <p:txBody>
          <a:bodyPr anchor="t" rtlCol="false" tIns="0" lIns="0" bIns="0" rIns="0">
            <a:spAutoFit/>
          </a:bodyPr>
          <a:lstStyle/>
          <a:p>
            <a:pPr algn="l">
              <a:lnSpc>
                <a:spcPts val="2940"/>
              </a:lnSpc>
            </a:pPr>
            <a:r>
              <a:rPr lang="en-US" sz="2100" b="true">
                <a:solidFill>
                  <a:srgbClr val="FF5A1F"/>
                </a:solidFill>
                <a:latin typeface="Arimo Bold"/>
                <a:ea typeface="Arimo Bold"/>
                <a:cs typeface="Arimo Bold"/>
                <a:sym typeface="Arimo Bold"/>
              </a:rPr>
              <a:t>EN BACKEND, ESCRITORIO Y MAPA</a:t>
            </a:r>
          </a:p>
        </p:txBody>
      </p:sp>
      <p:sp>
        <p:nvSpPr>
          <p:cNvPr name="TextBox 36" id="36"/>
          <p:cNvSpPr txBox="true"/>
          <p:nvPr/>
        </p:nvSpPr>
        <p:spPr>
          <a:xfrm rot="0">
            <a:off x="1219200" y="3228975"/>
            <a:ext cx="3476625" cy="440055"/>
          </a:xfrm>
          <a:prstGeom prst="rect">
            <a:avLst/>
          </a:prstGeom>
        </p:spPr>
        <p:txBody>
          <a:bodyPr anchor="t" rtlCol="false" tIns="0" lIns="0" bIns="0" rIns="0">
            <a:spAutoFit/>
          </a:bodyPr>
          <a:lstStyle/>
          <a:p>
            <a:pPr algn="l">
              <a:lnSpc>
                <a:spcPts val="3569"/>
              </a:lnSpc>
            </a:pPr>
            <a:r>
              <a:rPr lang="en-US" sz="2550" b="true">
                <a:solidFill>
                  <a:srgbClr val="FFB000"/>
                </a:solidFill>
                <a:latin typeface="Arimo Bold"/>
                <a:ea typeface="Arimo Bold"/>
                <a:cs typeface="Arimo Bold"/>
                <a:sym typeface="Arimo Bold"/>
              </a:rPr>
              <a:t>MODELO DE FUEGO</a:t>
            </a:r>
          </a:p>
        </p:txBody>
      </p:sp>
      <p:sp>
        <p:nvSpPr>
          <p:cNvPr name="TextBox 37" id="37"/>
          <p:cNvSpPr txBox="true"/>
          <p:nvPr/>
        </p:nvSpPr>
        <p:spPr>
          <a:xfrm rot="0">
            <a:off x="1219200" y="3800475"/>
            <a:ext cx="3476625" cy="350520"/>
          </a:xfrm>
          <a:prstGeom prst="rect">
            <a:avLst/>
          </a:prstGeom>
        </p:spPr>
        <p:txBody>
          <a:bodyPr anchor="t" rtlCol="false" tIns="0" lIns="0" bIns="0" rIns="0">
            <a:spAutoFit/>
          </a:bodyPr>
          <a:lstStyle/>
          <a:p>
            <a:pPr algn="l">
              <a:lnSpc>
                <a:spcPts val="2729"/>
              </a:lnSpc>
            </a:pPr>
            <a:r>
              <a:rPr lang="en-US" sz="1950">
                <a:solidFill>
                  <a:srgbClr val="FFF3DF"/>
                </a:solidFill>
                <a:latin typeface="Arimo"/>
                <a:ea typeface="Arimo"/>
                <a:cs typeface="Arimo"/>
                <a:sym typeface="Arimo"/>
              </a:rPr>
              <a:t>Detecta llama visible</a:t>
            </a:r>
          </a:p>
        </p:txBody>
      </p:sp>
      <p:sp>
        <p:nvSpPr>
          <p:cNvPr name="TextBox 38" id="38"/>
          <p:cNvSpPr txBox="true"/>
          <p:nvPr/>
        </p:nvSpPr>
        <p:spPr>
          <a:xfrm rot="0">
            <a:off x="1219200" y="4943475"/>
            <a:ext cx="3476625" cy="440055"/>
          </a:xfrm>
          <a:prstGeom prst="rect">
            <a:avLst/>
          </a:prstGeom>
        </p:spPr>
        <p:txBody>
          <a:bodyPr anchor="t" rtlCol="false" tIns="0" lIns="0" bIns="0" rIns="0">
            <a:spAutoFit/>
          </a:bodyPr>
          <a:lstStyle/>
          <a:p>
            <a:pPr algn="l">
              <a:lnSpc>
                <a:spcPts val="3569"/>
              </a:lnSpc>
            </a:pPr>
            <a:r>
              <a:rPr lang="en-US" sz="2550" b="true">
                <a:solidFill>
                  <a:srgbClr val="FFB000"/>
                </a:solidFill>
                <a:latin typeface="Arimo Bold"/>
                <a:ea typeface="Arimo Bold"/>
                <a:cs typeface="Arimo Bold"/>
                <a:sym typeface="Arimo Bold"/>
              </a:rPr>
              <a:t>MODELO DE HUMO</a:t>
            </a:r>
          </a:p>
        </p:txBody>
      </p:sp>
      <p:sp>
        <p:nvSpPr>
          <p:cNvPr name="TextBox 39" id="39"/>
          <p:cNvSpPr txBox="true"/>
          <p:nvPr/>
        </p:nvSpPr>
        <p:spPr>
          <a:xfrm rot="0">
            <a:off x="1219200" y="5514975"/>
            <a:ext cx="3476625" cy="350520"/>
          </a:xfrm>
          <a:prstGeom prst="rect">
            <a:avLst/>
          </a:prstGeom>
        </p:spPr>
        <p:txBody>
          <a:bodyPr anchor="t" rtlCol="false" tIns="0" lIns="0" bIns="0" rIns="0">
            <a:spAutoFit/>
          </a:bodyPr>
          <a:lstStyle/>
          <a:p>
            <a:pPr algn="l">
              <a:lnSpc>
                <a:spcPts val="2729"/>
              </a:lnSpc>
            </a:pPr>
            <a:r>
              <a:rPr lang="en-US" sz="1950">
                <a:solidFill>
                  <a:srgbClr val="FFF3DF"/>
                </a:solidFill>
                <a:latin typeface="Arimo"/>
                <a:ea typeface="Arimo"/>
                <a:cs typeface="Arimo"/>
                <a:sym typeface="Arimo"/>
              </a:rPr>
              <a:t>Detecta humo, señal temprana</a:t>
            </a:r>
          </a:p>
        </p:txBody>
      </p:sp>
      <p:sp>
        <p:nvSpPr>
          <p:cNvPr name="TextBox 40" id="40"/>
          <p:cNvSpPr txBox="true"/>
          <p:nvPr/>
        </p:nvSpPr>
        <p:spPr>
          <a:xfrm rot="0">
            <a:off x="5981700" y="3324225"/>
            <a:ext cx="2905125" cy="440055"/>
          </a:xfrm>
          <a:prstGeom prst="rect">
            <a:avLst/>
          </a:prstGeom>
        </p:spPr>
        <p:txBody>
          <a:bodyPr anchor="t" rtlCol="false" tIns="0" lIns="0" bIns="0" rIns="0">
            <a:spAutoFit/>
          </a:bodyPr>
          <a:lstStyle/>
          <a:p>
            <a:pPr algn="l">
              <a:lnSpc>
                <a:spcPts val="3569"/>
              </a:lnSpc>
            </a:pPr>
            <a:r>
              <a:rPr lang="en-US" sz="2550" b="true">
                <a:solidFill>
                  <a:srgbClr val="FFB000"/>
                </a:solidFill>
                <a:latin typeface="Arimo Bold"/>
                <a:ea typeface="Arimo Bold"/>
                <a:cs typeface="Arimo Bold"/>
                <a:sym typeface="Arimo Bold"/>
              </a:rPr>
              <a:t>CONFIRMACIÓN</a:t>
            </a:r>
          </a:p>
        </p:txBody>
      </p:sp>
      <p:sp>
        <p:nvSpPr>
          <p:cNvPr name="TextBox 41" id="41"/>
          <p:cNvSpPr txBox="true"/>
          <p:nvPr/>
        </p:nvSpPr>
        <p:spPr>
          <a:xfrm rot="0">
            <a:off x="5981700" y="4010025"/>
            <a:ext cx="2905125" cy="1270635"/>
          </a:xfrm>
          <a:prstGeom prst="rect">
            <a:avLst/>
          </a:prstGeom>
        </p:spPr>
        <p:txBody>
          <a:bodyPr anchor="t" rtlCol="false" tIns="0" lIns="0" bIns="0" rIns="0">
            <a:spAutoFit/>
          </a:bodyPr>
          <a:lstStyle/>
          <a:p>
            <a:pPr algn="l">
              <a:lnSpc>
                <a:spcPts val="2535"/>
              </a:lnSpc>
            </a:pPr>
            <a:r>
              <a:rPr lang="en-US" sz="1950">
                <a:solidFill>
                  <a:srgbClr val="FFF3DF"/>
                </a:solidFill>
                <a:latin typeface="Arimo"/>
                <a:ea typeface="Arimo"/>
                <a:cs typeface="Arimo"/>
                <a:sym typeface="Arimo"/>
              </a:rPr>
              <a:t>Fuego: 3 de 5 cuadros</a:t>
            </a:r>
          </a:p>
          <a:p>
            <a:pPr algn="l">
              <a:lnSpc>
                <a:spcPts val="2535"/>
              </a:lnSpc>
            </a:pPr>
            <a:r>
              <a:rPr lang="en-US" sz="1950">
                <a:solidFill>
                  <a:srgbClr val="FFF3DF"/>
                </a:solidFill>
                <a:latin typeface="Arimo"/>
                <a:ea typeface="Arimo"/>
                <a:cs typeface="Arimo"/>
                <a:sym typeface="Arimo"/>
              </a:rPr>
              <a:t>Humo: 2 de 5 cuadros</a:t>
            </a:r>
          </a:p>
          <a:p>
            <a:pPr algn="l">
              <a:lnSpc>
                <a:spcPts val="2535"/>
              </a:lnSpc>
            </a:pPr>
            <a:r>
              <a:rPr lang="en-US" sz="1950">
                <a:solidFill>
                  <a:srgbClr val="FFF3DF"/>
                </a:solidFill>
                <a:latin typeface="Arimo"/>
                <a:ea typeface="Arimo"/>
                <a:cs typeface="Arimo"/>
                <a:sym typeface="Arimo"/>
              </a:rPr>
              <a:t>Evita alertas por un solo cuadro</a:t>
            </a:r>
          </a:p>
        </p:txBody>
      </p:sp>
      <p:sp>
        <p:nvSpPr>
          <p:cNvPr name="TextBox 42" id="42"/>
          <p:cNvSpPr txBox="true"/>
          <p:nvPr/>
        </p:nvSpPr>
        <p:spPr>
          <a:xfrm rot="0">
            <a:off x="10172700" y="3324225"/>
            <a:ext cx="2905125" cy="440055"/>
          </a:xfrm>
          <a:prstGeom prst="rect">
            <a:avLst/>
          </a:prstGeom>
        </p:spPr>
        <p:txBody>
          <a:bodyPr anchor="t" rtlCol="false" tIns="0" lIns="0" bIns="0" rIns="0">
            <a:spAutoFit/>
          </a:bodyPr>
          <a:lstStyle/>
          <a:p>
            <a:pPr algn="l">
              <a:lnSpc>
                <a:spcPts val="3569"/>
              </a:lnSpc>
            </a:pPr>
            <a:r>
              <a:rPr lang="en-US" sz="2550" b="true">
                <a:solidFill>
                  <a:srgbClr val="FFB000"/>
                </a:solidFill>
                <a:latin typeface="Arimo Bold"/>
                <a:ea typeface="Arimo Bold"/>
                <a:cs typeface="Arimo Bold"/>
                <a:sym typeface="Arimo Bold"/>
              </a:rPr>
              <a:t>ALERTA</a:t>
            </a:r>
          </a:p>
        </p:txBody>
      </p:sp>
      <p:sp>
        <p:nvSpPr>
          <p:cNvPr name="TextBox 43" id="43"/>
          <p:cNvSpPr txBox="true"/>
          <p:nvPr/>
        </p:nvSpPr>
        <p:spPr>
          <a:xfrm rot="0">
            <a:off x="10172700" y="4010025"/>
            <a:ext cx="2905125" cy="1270635"/>
          </a:xfrm>
          <a:prstGeom prst="rect">
            <a:avLst/>
          </a:prstGeom>
        </p:spPr>
        <p:txBody>
          <a:bodyPr anchor="t" rtlCol="false" tIns="0" lIns="0" bIns="0" rIns="0">
            <a:spAutoFit/>
          </a:bodyPr>
          <a:lstStyle/>
          <a:p>
            <a:pPr algn="l">
              <a:lnSpc>
                <a:spcPts val="2535"/>
              </a:lnSpc>
            </a:pPr>
            <a:r>
              <a:rPr lang="en-US" sz="1950">
                <a:solidFill>
                  <a:srgbClr val="FFF3DF"/>
                </a:solidFill>
                <a:latin typeface="Arimo"/>
                <a:ea typeface="Arimo"/>
                <a:cs typeface="Arimo"/>
                <a:sym typeface="Arimo"/>
              </a:rPr>
              <a:t>Foto, hora, cámara y ubicación llegan al escritorio. Una persona confirma o descarta.</a:t>
            </a:r>
          </a:p>
        </p:txBody>
      </p:sp>
      <p:sp>
        <p:nvSpPr>
          <p:cNvPr name="TextBox 44" id="44"/>
          <p:cNvSpPr txBox="true"/>
          <p:nvPr/>
        </p:nvSpPr>
        <p:spPr>
          <a:xfrm rot="0">
            <a:off x="14363700" y="3324225"/>
            <a:ext cx="2714625" cy="440055"/>
          </a:xfrm>
          <a:prstGeom prst="rect">
            <a:avLst/>
          </a:prstGeom>
        </p:spPr>
        <p:txBody>
          <a:bodyPr anchor="t" rtlCol="false" tIns="0" lIns="0" bIns="0" rIns="0">
            <a:spAutoFit/>
          </a:bodyPr>
          <a:lstStyle/>
          <a:p>
            <a:pPr algn="l">
              <a:lnSpc>
                <a:spcPts val="3569"/>
              </a:lnSpc>
            </a:pPr>
            <a:r>
              <a:rPr lang="en-US" sz="2550" b="true">
                <a:solidFill>
                  <a:srgbClr val="FFF3DF"/>
                </a:solidFill>
                <a:latin typeface="Arimo Bold"/>
                <a:ea typeface="Arimo Bold"/>
                <a:cs typeface="Arimo Bold"/>
                <a:sym typeface="Arimo Bold"/>
              </a:rPr>
              <a:t>MODELO M2</a:t>
            </a:r>
          </a:p>
        </p:txBody>
      </p:sp>
      <p:sp>
        <p:nvSpPr>
          <p:cNvPr name="TextBox 45" id="45"/>
          <p:cNvSpPr txBox="true"/>
          <p:nvPr/>
        </p:nvSpPr>
        <p:spPr>
          <a:xfrm rot="0">
            <a:off x="14363700" y="4010025"/>
            <a:ext cx="2714625" cy="956310"/>
          </a:xfrm>
          <a:prstGeom prst="rect">
            <a:avLst/>
          </a:prstGeom>
        </p:spPr>
        <p:txBody>
          <a:bodyPr anchor="t" rtlCol="false" tIns="0" lIns="0" bIns="0" rIns="0">
            <a:spAutoFit/>
          </a:bodyPr>
          <a:lstStyle/>
          <a:p>
            <a:pPr algn="l">
              <a:lnSpc>
                <a:spcPts val="2535"/>
              </a:lnSpc>
            </a:pPr>
            <a:r>
              <a:rPr lang="en-US" sz="1950">
                <a:solidFill>
                  <a:srgbClr val="FFF3DF"/>
                </a:solidFill>
                <a:latin typeface="Arimo"/>
                <a:ea typeface="Arimo"/>
                <a:cs typeface="Arimo"/>
                <a:sym typeface="Arimo"/>
              </a:rPr>
              <a:t>No detecta: proyecta la continuación probable del foco sobre el mapa</a:t>
            </a:r>
          </a:p>
        </p:txBody>
      </p:sp>
      <p:sp>
        <p:nvSpPr>
          <p:cNvPr name="TextBox 46" id="46"/>
          <p:cNvSpPr txBox="true"/>
          <p:nvPr/>
        </p:nvSpPr>
        <p:spPr>
          <a:xfrm rot="0">
            <a:off x="952500" y="7172325"/>
            <a:ext cx="16383000" cy="474345"/>
          </a:xfrm>
          <a:prstGeom prst="rect">
            <a:avLst/>
          </a:prstGeom>
        </p:spPr>
        <p:txBody>
          <a:bodyPr anchor="t" rtlCol="false" tIns="0" lIns="0" bIns="0" rIns="0">
            <a:spAutoFit/>
          </a:bodyPr>
          <a:lstStyle/>
          <a:p>
            <a:pPr algn="ctr">
              <a:lnSpc>
                <a:spcPts val="3779"/>
              </a:lnSpc>
            </a:pPr>
            <a:r>
              <a:rPr lang="en-US" sz="2700" b="true">
                <a:solidFill>
                  <a:srgbClr val="FFB000"/>
                </a:solidFill>
                <a:latin typeface="Arimo Bold"/>
                <a:ea typeface="Arimo Bold"/>
                <a:cs typeface="Arimo Bold"/>
                <a:sym typeface="Arimo Bold"/>
              </a:rPr>
              <a:t>Detectar, confirmar y proyectar: la decisión final siempre es de una persona.</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4287500" cy="629379"/>
          </a:xfrm>
          <a:prstGeom prst="rect">
            <a:avLst/>
          </a:prstGeom>
        </p:spPr>
        <p:txBody>
          <a:bodyPr anchor="t" rtlCol="false" tIns="0" lIns="0" bIns="0" rIns="0">
            <a:spAutoFit/>
          </a:bodyPr>
          <a:lstStyle/>
          <a:p>
            <a:pPr algn="l" marL="0" indent="0" lvl="0">
              <a:lnSpc>
                <a:spcPts val="4704"/>
              </a:lnSpc>
              <a:spcBef>
                <a:spcPct val="0"/>
              </a:spcBef>
            </a:pPr>
            <a:r>
              <a:rPr lang="en-US" b="true" sz="4800" spc="-144" strike="noStrike" u="none">
                <a:solidFill>
                  <a:srgbClr val="FFF3DF"/>
                </a:solidFill>
                <a:latin typeface="Barlow Condensed Bold"/>
                <a:ea typeface="Barlow Condensed Bold"/>
                <a:cs typeface="Barlow Condensed Bold"/>
                <a:sym typeface="Barlow Condensed Bold"/>
              </a:rPr>
              <a:t>MODELOS DE IA</a:t>
            </a:r>
          </a:p>
        </p:txBody>
      </p:sp>
      <p:sp>
        <p:nvSpPr>
          <p:cNvPr name="TextBox 3" id="3"/>
          <p:cNvSpPr txBox="true"/>
          <p:nvPr/>
        </p:nvSpPr>
        <p:spPr>
          <a:xfrm rot="0">
            <a:off x="952500" y="1489710"/>
            <a:ext cx="1238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Qué hace cada modelo hoy y en qué estado está</a:t>
            </a:r>
          </a:p>
        </p:txBody>
      </p:sp>
      <p:grpSp>
        <p:nvGrpSpPr>
          <p:cNvPr name="Group 4" id="4"/>
          <p:cNvGrpSpPr/>
          <p:nvPr/>
        </p:nvGrpSpPr>
        <p:grpSpPr>
          <a:xfrm rot="0">
            <a:off x="552450" y="666750"/>
            <a:ext cx="133350" cy="1123950"/>
            <a:chOff x="0" y="0"/>
            <a:chExt cx="177800" cy="1498600"/>
          </a:xfrm>
        </p:grpSpPr>
        <p:sp>
          <p:nvSpPr>
            <p:cNvPr name="Freeform 5" id="5"/>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3B3F"/>
            </a:solidFill>
            <a:ln cap="sq">
              <a:noFill/>
              <a:prstDash val="solid"/>
              <a:miter/>
            </a:ln>
          </p:spPr>
        </p:sp>
        <p:sp>
          <p:nvSpPr>
            <p:cNvPr name="TextBox 6" id="6"/>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952500" y="2381250"/>
            <a:ext cx="5200650" cy="3810000"/>
            <a:chOff x="0" y="0"/>
            <a:chExt cx="6934200" cy="5080000"/>
          </a:xfrm>
        </p:grpSpPr>
        <p:sp>
          <p:nvSpPr>
            <p:cNvPr name="Freeform 8" id="8"/>
            <p:cNvSpPr/>
            <p:nvPr/>
          </p:nvSpPr>
          <p:spPr>
            <a:xfrm flipH="false" flipV="false" rot="0">
              <a:off x="0" y="0"/>
              <a:ext cx="6934200" cy="5080000"/>
            </a:xfrm>
            <a:custGeom>
              <a:avLst/>
              <a:gdLst/>
              <a:ahLst/>
              <a:cxnLst/>
              <a:rect r="r" b="b" t="t" l="l"/>
              <a:pathLst>
                <a:path h="5080000" w="6934200">
                  <a:moveTo>
                    <a:pt x="0" y="0"/>
                  </a:moveTo>
                  <a:lnTo>
                    <a:pt x="6934200" y="0"/>
                  </a:lnTo>
                  <a:lnTo>
                    <a:pt x="6934200" y="5080000"/>
                  </a:lnTo>
                  <a:lnTo>
                    <a:pt x="0" y="5080000"/>
                  </a:lnTo>
                  <a:close/>
                </a:path>
              </a:pathLst>
            </a:custGeom>
            <a:solidFill>
              <a:srgbClr val="221B18"/>
            </a:solidFill>
          </p:spPr>
        </p:sp>
        <p:sp>
          <p:nvSpPr>
            <p:cNvPr name="TextBox 9" id="9"/>
            <p:cNvSpPr txBox="true"/>
            <p:nvPr/>
          </p:nvSpPr>
          <p:spPr>
            <a:xfrm>
              <a:off x="0" y="-38100"/>
              <a:ext cx="6934200" cy="511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534150" y="2381250"/>
            <a:ext cx="5200650" cy="3810000"/>
            <a:chOff x="0" y="0"/>
            <a:chExt cx="6934200" cy="5080000"/>
          </a:xfrm>
        </p:grpSpPr>
        <p:sp>
          <p:nvSpPr>
            <p:cNvPr name="Freeform 11" id="11"/>
            <p:cNvSpPr/>
            <p:nvPr/>
          </p:nvSpPr>
          <p:spPr>
            <a:xfrm flipH="false" flipV="false" rot="0">
              <a:off x="0" y="0"/>
              <a:ext cx="6934200" cy="5080000"/>
            </a:xfrm>
            <a:custGeom>
              <a:avLst/>
              <a:gdLst/>
              <a:ahLst/>
              <a:cxnLst/>
              <a:rect r="r" b="b" t="t" l="l"/>
              <a:pathLst>
                <a:path h="5080000" w="6934200">
                  <a:moveTo>
                    <a:pt x="0" y="0"/>
                  </a:moveTo>
                  <a:lnTo>
                    <a:pt x="6934200" y="0"/>
                  </a:lnTo>
                  <a:lnTo>
                    <a:pt x="6934200" y="5080000"/>
                  </a:lnTo>
                  <a:lnTo>
                    <a:pt x="0" y="5080000"/>
                  </a:lnTo>
                  <a:close/>
                </a:path>
              </a:pathLst>
            </a:custGeom>
            <a:solidFill>
              <a:srgbClr val="221B18"/>
            </a:solidFill>
          </p:spPr>
        </p:sp>
        <p:sp>
          <p:nvSpPr>
            <p:cNvPr name="TextBox 12" id="12"/>
            <p:cNvSpPr txBox="true"/>
            <p:nvPr/>
          </p:nvSpPr>
          <p:spPr>
            <a:xfrm>
              <a:off x="0" y="-38100"/>
              <a:ext cx="6934200" cy="5118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2115800" y="2381250"/>
            <a:ext cx="5200650" cy="3810000"/>
            <a:chOff x="0" y="0"/>
            <a:chExt cx="6934200" cy="5080000"/>
          </a:xfrm>
        </p:grpSpPr>
        <p:sp>
          <p:nvSpPr>
            <p:cNvPr name="Freeform 14" id="14"/>
            <p:cNvSpPr/>
            <p:nvPr/>
          </p:nvSpPr>
          <p:spPr>
            <a:xfrm flipH="false" flipV="false" rot="0">
              <a:off x="0" y="0"/>
              <a:ext cx="6934200" cy="5080000"/>
            </a:xfrm>
            <a:custGeom>
              <a:avLst/>
              <a:gdLst/>
              <a:ahLst/>
              <a:cxnLst/>
              <a:rect r="r" b="b" t="t" l="l"/>
              <a:pathLst>
                <a:path h="5080000" w="6934200">
                  <a:moveTo>
                    <a:pt x="0" y="0"/>
                  </a:moveTo>
                  <a:lnTo>
                    <a:pt x="6934200" y="0"/>
                  </a:lnTo>
                  <a:lnTo>
                    <a:pt x="6934200" y="5080000"/>
                  </a:lnTo>
                  <a:lnTo>
                    <a:pt x="0" y="5080000"/>
                  </a:lnTo>
                  <a:close/>
                </a:path>
              </a:pathLst>
            </a:custGeom>
            <a:solidFill>
              <a:srgbClr val="221B18"/>
            </a:solidFill>
          </p:spPr>
        </p:sp>
        <p:sp>
          <p:nvSpPr>
            <p:cNvPr name="TextBox 15" id="15"/>
            <p:cNvSpPr txBox="true"/>
            <p:nvPr/>
          </p:nvSpPr>
          <p:spPr>
            <a:xfrm>
              <a:off x="0" y="-38100"/>
              <a:ext cx="6934200" cy="5118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1219200" y="2524125"/>
            <a:ext cx="4667250" cy="499110"/>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FFB000"/>
                </a:solidFill>
                <a:latin typeface="Arimo Bold"/>
                <a:ea typeface="Arimo Bold"/>
                <a:cs typeface="Arimo Bold"/>
                <a:sym typeface="Arimo Bold"/>
              </a:rPr>
              <a:t>MODELO DE FUEGO</a:t>
            </a:r>
          </a:p>
        </p:txBody>
      </p:sp>
      <p:sp>
        <p:nvSpPr>
          <p:cNvPr name="TextBox 17" id="17"/>
          <p:cNvSpPr txBox="true"/>
          <p:nvPr/>
        </p:nvSpPr>
        <p:spPr>
          <a:xfrm rot="0">
            <a:off x="1219200" y="3200400"/>
            <a:ext cx="4667250" cy="2527935"/>
          </a:xfrm>
          <a:prstGeom prst="rect">
            <a:avLst/>
          </a:prstGeom>
        </p:spPr>
        <p:txBody>
          <a:bodyPr anchor="t" rtlCol="false" tIns="0" lIns="0" bIns="0" rIns="0">
            <a:spAutoFit/>
          </a:bodyPr>
          <a:lstStyle/>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Detecta llama visible en cada cuadro</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YOLO en ONNX a 416 px, umbral 0,35</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Alerta si aparece en 3 de los últimos 5 cuadros</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Entrenado por rondas, con refuerzo contra falsos positivos: nubes, ciudad y niebla</a:t>
            </a:r>
          </a:p>
        </p:txBody>
      </p:sp>
      <p:sp>
        <p:nvSpPr>
          <p:cNvPr name="TextBox 18" id="18"/>
          <p:cNvSpPr txBox="true"/>
          <p:nvPr/>
        </p:nvSpPr>
        <p:spPr>
          <a:xfrm rot="0">
            <a:off x="6800850" y="2524125"/>
            <a:ext cx="4667250" cy="499110"/>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FFB000"/>
                </a:solidFill>
                <a:latin typeface="Arimo Bold"/>
                <a:ea typeface="Arimo Bold"/>
                <a:cs typeface="Arimo Bold"/>
                <a:sym typeface="Arimo Bold"/>
              </a:rPr>
              <a:t>MODELO DE HUMO</a:t>
            </a:r>
          </a:p>
        </p:txBody>
      </p:sp>
      <p:sp>
        <p:nvSpPr>
          <p:cNvPr name="TextBox 19" id="19"/>
          <p:cNvSpPr txBox="true"/>
          <p:nvPr/>
        </p:nvSpPr>
        <p:spPr>
          <a:xfrm rot="0">
            <a:off x="6800850" y="3200400"/>
            <a:ext cx="4667250" cy="2527935"/>
          </a:xfrm>
          <a:prstGeom prst="rect">
            <a:avLst/>
          </a:prstGeom>
        </p:spPr>
        <p:txBody>
          <a:bodyPr anchor="t" rtlCol="false" tIns="0" lIns="0" bIns="0" rIns="0">
            <a:spAutoFit/>
          </a:bodyPr>
          <a:lstStyle/>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Detecta humo como señal temprana, antes de la llama</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YOLO en ONNX a 416 px, umbral 0,55</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Alerta si aparece en 2 de 5 cuadros dentro de 30 s</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Entrenado con datasets públicos y refuerzo contra falsos positivos</a:t>
            </a:r>
          </a:p>
        </p:txBody>
      </p:sp>
      <p:sp>
        <p:nvSpPr>
          <p:cNvPr name="TextBox 20" id="20"/>
          <p:cNvSpPr txBox="true"/>
          <p:nvPr/>
        </p:nvSpPr>
        <p:spPr>
          <a:xfrm rot="0">
            <a:off x="12382500" y="2524125"/>
            <a:ext cx="4667250" cy="499110"/>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FFB000"/>
                </a:solidFill>
                <a:latin typeface="Arimo Bold"/>
                <a:ea typeface="Arimo Bold"/>
                <a:cs typeface="Arimo Bold"/>
                <a:sym typeface="Arimo Bold"/>
              </a:rPr>
              <a:t>MODELO M2</a:t>
            </a:r>
          </a:p>
        </p:txBody>
      </p:sp>
      <p:sp>
        <p:nvSpPr>
          <p:cNvPr name="TextBox 21" id="21"/>
          <p:cNvSpPr txBox="true"/>
          <p:nvPr/>
        </p:nvSpPr>
        <p:spPr>
          <a:xfrm rot="0">
            <a:off x="12382500" y="3200400"/>
            <a:ext cx="4667250" cy="2842260"/>
          </a:xfrm>
          <a:prstGeom prst="rect">
            <a:avLst/>
          </a:prstGeom>
        </p:spPr>
        <p:txBody>
          <a:bodyPr anchor="t" rtlCol="false" tIns="0" lIns="0" bIns="0" rIns="0">
            <a:spAutoFit/>
          </a:bodyPr>
          <a:lstStyle/>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Proyecta la continuación probable de un foco ya detectado</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Usa focos NASA FIRMS, clima, elevación y cobertura vegetal</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scikit-learn, servido por el backend y mostrado en el mapa</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Se contrasta con la propagación por reglas (elipse de Richards, grilla de 250 m)</a:t>
            </a:r>
          </a:p>
        </p:txBody>
      </p:sp>
      <p:grpSp>
        <p:nvGrpSpPr>
          <p:cNvPr name="Group 22" id="22"/>
          <p:cNvGrpSpPr/>
          <p:nvPr/>
        </p:nvGrpSpPr>
        <p:grpSpPr>
          <a:xfrm rot="0">
            <a:off x="952500" y="6381750"/>
            <a:ext cx="5200650" cy="2190750"/>
            <a:chOff x="0" y="0"/>
            <a:chExt cx="6934200" cy="2921000"/>
          </a:xfrm>
        </p:grpSpPr>
        <p:sp>
          <p:nvSpPr>
            <p:cNvPr name="Freeform 23" id="23"/>
            <p:cNvSpPr/>
            <p:nvPr/>
          </p:nvSpPr>
          <p:spPr>
            <a:xfrm flipH="false" flipV="false" rot="0">
              <a:off x="0" y="0"/>
              <a:ext cx="6934200" cy="2921000"/>
            </a:xfrm>
            <a:custGeom>
              <a:avLst/>
              <a:gdLst/>
              <a:ahLst/>
              <a:cxnLst/>
              <a:rect r="r" b="b" t="t" l="l"/>
              <a:pathLst>
                <a:path h="2921000" w="6934200">
                  <a:moveTo>
                    <a:pt x="0" y="0"/>
                  </a:moveTo>
                  <a:lnTo>
                    <a:pt x="6934200" y="0"/>
                  </a:lnTo>
                  <a:lnTo>
                    <a:pt x="6934200" y="2921000"/>
                  </a:lnTo>
                  <a:lnTo>
                    <a:pt x="0" y="2921000"/>
                  </a:lnTo>
                  <a:close/>
                </a:path>
              </a:pathLst>
            </a:custGeom>
            <a:solidFill>
              <a:srgbClr val="331F17"/>
            </a:solidFill>
          </p:spPr>
        </p:sp>
        <p:sp>
          <p:nvSpPr>
            <p:cNvPr name="TextBox 24" id="24"/>
            <p:cNvSpPr txBox="true"/>
            <p:nvPr/>
          </p:nvSpPr>
          <p:spPr>
            <a:xfrm>
              <a:off x="0" y="-38100"/>
              <a:ext cx="6934200" cy="2959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6534150" y="6381750"/>
            <a:ext cx="5200650" cy="2190750"/>
            <a:chOff x="0" y="0"/>
            <a:chExt cx="6934200" cy="2921000"/>
          </a:xfrm>
        </p:grpSpPr>
        <p:sp>
          <p:nvSpPr>
            <p:cNvPr name="Freeform 26" id="26"/>
            <p:cNvSpPr/>
            <p:nvPr/>
          </p:nvSpPr>
          <p:spPr>
            <a:xfrm flipH="false" flipV="false" rot="0">
              <a:off x="0" y="0"/>
              <a:ext cx="6934200" cy="2921000"/>
            </a:xfrm>
            <a:custGeom>
              <a:avLst/>
              <a:gdLst/>
              <a:ahLst/>
              <a:cxnLst/>
              <a:rect r="r" b="b" t="t" l="l"/>
              <a:pathLst>
                <a:path h="2921000" w="6934200">
                  <a:moveTo>
                    <a:pt x="0" y="0"/>
                  </a:moveTo>
                  <a:lnTo>
                    <a:pt x="6934200" y="0"/>
                  </a:lnTo>
                  <a:lnTo>
                    <a:pt x="6934200" y="2921000"/>
                  </a:lnTo>
                  <a:lnTo>
                    <a:pt x="0" y="2921000"/>
                  </a:lnTo>
                  <a:close/>
                </a:path>
              </a:pathLst>
            </a:custGeom>
            <a:solidFill>
              <a:srgbClr val="331F17"/>
            </a:solidFill>
          </p:spPr>
        </p:sp>
        <p:sp>
          <p:nvSpPr>
            <p:cNvPr name="TextBox 27" id="27"/>
            <p:cNvSpPr txBox="true"/>
            <p:nvPr/>
          </p:nvSpPr>
          <p:spPr>
            <a:xfrm>
              <a:off x="0" y="-38100"/>
              <a:ext cx="6934200" cy="29591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12115800" y="6381750"/>
            <a:ext cx="5200650" cy="2190750"/>
            <a:chOff x="0" y="0"/>
            <a:chExt cx="6934200" cy="2921000"/>
          </a:xfrm>
        </p:grpSpPr>
        <p:sp>
          <p:nvSpPr>
            <p:cNvPr name="Freeform 29" id="29"/>
            <p:cNvSpPr/>
            <p:nvPr/>
          </p:nvSpPr>
          <p:spPr>
            <a:xfrm flipH="false" flipV="false" rot="0">
              <a:off x="0" y="0"/>
              <a:ext cx="6934200" cy="2921000"/>
            </a:xfrm>
            <a:custGeom>
              <a:avLst/>
              <a:gdLst/>
              <a:ahLst/>
              <a:cxnLst/>
              <a:rect r="r" b="b" t="t" l="l"/>
              <a:pathLst>
                <a:path h="2921000" w="6934200">
                  <a:moveTo>
                    <a:pt x="0" y="0"/>
                  </a:moveTo>
                  <a:lnTo>
                    <a:pt x="6934200" y="0"/>
                  </a:lnTo>
                  <a:lnTo>
                    <a:pt x="6934200" y="2921000"/>
                  </a:lnTo>
                  <a:lnTo>
                    <a:pt x="0" y="2921000"/>
                  </a:lnTo>
                  <a:close/>
                </a:path>
              </a:pathLst>
            </a:custGeom>
            <a:solidFill>
              <a:srgbClr val="331F17"/>
            </a:solidFill>
          </p:spPr>
        </p:sp>
        <p:sp>
          <p:nvSpPr>
            <p:cNvPr name="TextBox 30" id="30"/>
            <p:cNvSpPr txBox="true"/>
            <p:nvPr/>
          </p:nvSpPr>
          <p:spPr>
            <a:xfrm>
              <a:off x="0" y="-38100"/>
              <a:ext cx="6934200" cy="29591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219200" y="6534150"/>
            <a:ext cx="4667250" cy="640080"/>
          </a:xfrm>
          <a:prstGeom prst="rect">
            <a:avLst/>
          </a:prstGeom>
        </p:spPr>
        <p:txBody>
          <a:bodyPr anchor="t" rtlCol="false" tIns="0" lIns="0" bIns="0" rIns="0">
            <a:spAutoFit/>
          </a:bodyPr>
          <a:lstStyle/>
          <a:p>
            <a:pPr algn="l">
              <a:lnSpc>
                <a:spcPts val="2520"/>
              </a:lnSpc>
            </a:pPr>
            <a:r>
              <a:rPr lang="en-US" sz="1800">
                <a:solidFill>
                  <a:srgbClr val="FFF3DF"/>
                </a:solidFill>
                <a:latin typeface="Arimo"/>
                <a:ea typeface="Arimo"/>
                <a:cs typeface="Arimo"/>
                <a:sym typeface="Arimo"/>
              </a:rPr>
              <a:t>ESTADO · Detecta entre 28 y 50% en la evaluación con D-Fire y FASDD</a:t>
            </a:r>
          </a:p>
        </p:txBody>
      </p:sp>
      <p:sp>
        <p:nvSpPr>
          <p:cNvPr name="TextBox 32" id="32"/>
          <p:cNvSpPr txBox="true"/>
          <p:nvPr/>
        </p:nvSpPr>
        <p:spPr>
          <a:xfrm rot="0">
            <a:off x="1219200" y="7600950"/>
            <a:ext cx="4667250" cy="640080"/>
          </a:xfrm>
          <a:prstGeom prst="rect">
            <a:avLst/>
          </a:prstGeom>
        </p:spPr>
        <p:txBody>
          <a:bodyPr anchor="t" rtlCol="false" tIns="0" lIns="0" bIns="0" rIns="0">
            <a:spAutoFit/>
          </a:bodyPr>
          <a:lstStyle/>
          <a:p>
            <a:pPr algn="l">
              <a:lnSpc>
                <a:spcPts val="2520"/>
              </a:lnSpc>
            </a:pPr>
            <a:r>
              <a:rPr lang="en-US" sz="1800" b="true">
                <a:solidFill>
                  <a:srgbClr val="FFB000"/>
                </a:solidFill>
                <a:latin typeface="Arimo Bold"/>
                <a:ea typeface="Arimo Bold"/>
                <a:cs typeface="Arimo Bold"/>
                <a:sym typeface="Arimo Bold"/>
              </a:rPr>
              <a:t>BRECHA · Falsas alarmas por hora aún sin medir</a:t>
            </a:r>
          </a:p>
        </p:txBody>
      </p:sp>
      <p:sp>
        <p:nvSpPr>
          <p:cNvPr name="TextBox 33" id="33"/>
          <p:cNvSpPr txBox="true"/>
          <p:nvPr/>
        </p:nvSpPr>
        <p:spPr>
          <a:xfrm rot="0">
            <a:off x="6800850" y="6534150"/>
            <a:ext cx="4667250" cy="640080"/>
          </a:xfrm>
          <a:prstGeom prst="rect">
            <a:avLst/>
          </a:prstGeom>
        </p:spPr>
        <p:txBody>
          <a:bodyPr anchor="t" rtlCol="false" tIns="0" lIns="0" bIns="0" rIns="0">
            <a:spAutoFit/>
          </a:bodyPr>
          <a:lstStyle/>
          <a:p>
            <a:pPr algn="l">
              <a:lnSpc>
                <a:spcPts val="2520"/>
              </a:lnSpc>
            </a:pPr>
            <a:r>
              <a:rPr lang="en-US" sz="1800">
                <a:solidFill>
                  <a:srgbClr val="FFF3DF"/>
                </a:solidFill>
                <a:latin typeface="Arimo"/>
                <a:ea typeface="Arimo"/>
                <a:cs typeface="Arimo"/>
                <a:sym typeface="Arimo"/>
              </a:rPr>
              <a:t>ESTADO · Detección baja en la evaluación con D-Fire y FASDD</a:t>
            </a:r>
          </a:p>
        </p:txBody>
      </p:sp>
      <p:sp>
        <p:nvSpPr>
          <p:cNvPr name="TextBox 34" id="34"/>
          <p:cNvSpPr txBox="true"/>
          <p:nvPr/>
        </p:nvSpPr>
        <p:spPr>
          <a:xfrm rot="0">
            <a:off x="6800850" y="7600950"/>
            <a:ext cx="4667250" cy="640080"/>
          </a:xfrm>
          <a:prstGeom prst="rect">
            <a:avLst/>
          </a:prstGeom>
        </p:spPr>
        <p:txBody>
          <a:bodyPr anchor="t" rtlCol="false" tIns="0" lIns="0" bIns="0" rIns="0">
            <a:spAutoFit/>
          </a:bodyPr>
          <a:lstStyle/>
          <a:p>
            <a:pPr algn="l">
              <a:lnSpc>
                <a:spcPts val="2520"/>
              </a:lnSpc>
            </a:pPr>
            <a:r>
              <a:rPr lang="en-US" sz="1800" b="true">
                <a:solidFill>
                  <a:srgbClr val="FFB000"/>
                </a:solidFill>
                <a:latin typeface="Arimo Bold"/>
                <a:ea typeface="Arimo Bold"/>
                <a:cs typeface="Arimo Bold"/>
                <a:sym typeface="Arimo Bold"/>
              </a:rPr>
              <a:t>BRECHA · Se confunde con vapor y niebla; faltan datos locales</a:t>
            </a:r>
          </a:p>
        </p:txBody>
      </p:sp>
      <p:sp>
        <p:nvSpPr>
          <p:cNvPr name="TextBox 35" id="35"/>
          <p:cNvSpPr txBox="true"/>
          <p:nvPr/>
        </p:nvSpPr>
        <p:spPr>
          <a:xfrm rot="0">
            <a:off x="12382500" y="6534150"/>
            <a:ext cx="4667250" cy="640080"/>
          </a:xfrm>
          <a:prstGeom prst="rect">
            <a:avLst/>
          </a:prstGeom>
        </p:spPr>
        <p:txBody>
          <a:bodyPr anchor="t" rtlCol="false" tIns="0" lIns="0" bIns="0" rIns="0">
            <a:spAutoFit/>
          </a:bodyPr>
          <a:lstStyle/>
          <a:p>
            <a:pPr algn="l">
              <a:lnSpc>
                <a:spcPts val="2520"/>
              </a:lnSpc>
            </a:pPr>
            <a:r>
              <a:rPr lang="en-US" sz="1800">
                <a:solidFill>
                  <a:srgbClr val="FFF3DF"/>
                </a:solidFill>
                <a:latin typeface="Arimo"/>
                <a:ea typeface="Arimo"/>
                <a:cs typeface="Arimo"/>
                <a:sym typeface="Arimo"/>
              </a:rPr>
              <a:t>ESTADO · Experimental: AUC PR ≈ 0,20, calibrado con Valparaíso 2024</a:t>
            </a:r>
          </a:p>
        </p:txBody>
      </p:sp>
      <p:sp>
        <p:nvSpPr>
          <p:cNvPr name="TextBox 36" id="36"/>
          <p:cNvSpPr txBox="true"/>
          <p:nvPr/>
        </p:nvSpPr>
        <p:spPr>
          <a:xfrm rot="0">
            <a:off x="12382500" y="7600950"/>
            <a:ext cx="4667250" cy="640080"/>
          </a:xfrm>
          <a:prstGeom prst="rect">
            <a:avLst/>
          </a:prstGeom>
        </p:spPr>
        <p:txBody>
          <a:bodyPr anchor="t" rtlCol="false" tIns="0" lIns="0" bIns="0" rIns="0">
            <a:spAutoFit/>
          </a:bodyPr>
          <a:lstStyle/>
          <a:p>
            <a:pPr algn="l">
              <a:lnSpc>
                <a:spcPts val="2520"/>
              </a:lnSpc>
            </a:pPr>
            <a:r>
              <a:rPr lang="en-US" sz="1800" b="true">
                <a:solidFill>
                  <a:srgbClr val="FFB000"/>
                </a:solidFill>
                <a:latin typeface="Arimo Bold"/>
                <a:ea typeface="Arimo Bold"/>
                <a:cs typeface="Arimo Bold"/>
                <a:sym typeface="Arimo Bold"/>
              </a:rPr>
              <a:t>BRECHA · Falta segunda calibración y validar por fechas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52475"/>
            <a:ext cx="12858750" cy="645729"/>
          </a:xfrm>
          <a:prstGeom prst="rect">
            <a:avLst/>
          </a:prstGeom>
        </p:spPr>
        <p:txBody>
          <a:bodyPr anchor="t" rtlCol="false" tIns="0" lIns="0" bIns="0" rIns="0">
            <a:spAutoFit/>
          </a:bodyPr>
          <a:lstStyle/>
          <a:p>
            <a:pPr algn="l">
              <a:lnSpc>
                <a:spcPts val="4800"/>
              </a:lnSpc>
            </a:pPr>
            <a:r>
              <a:rPr lang="en-US" sz="4800" b="true">
                <a:solidFill>
                  <a:srgbClr val="FFF4DF"/>
                </a:solidFill>
                <a:latin typeface="Barlow Condensed Bold"/>
                <a:ea typeface="Barlow Condensed Bold"/>
                <a:cs typeface="Barlow Condensed Bold"/>
                <a:sym typeface="Barlow Condensed Bold"/>
              </a:rPr>
              <a:t>CALIDAD: 21 DE 26 CASOS</a:t>
            </a:r>
          </a:p>
        </p:txBody>
      </p:sp>
      <p:sp>
        <p:nvSpPr>
          <p:cNvPr name="TextBox 3" id="3"/>
          <p:cNvSpPr txBox="true"/>
          <p:nvPr/>
        </p:nvSpPr>
        <p:spPr>
          <a:xfrm rot="0">
            <a:off x="952500" y="2619375"/>
            <a:ext cx="5905500" cy="994410"/>
          </a:xfrm>
          <a:prstGeom prst="rect">
            <a:avLst/>
          </a:prstGeom>
        </p:spPr>
        <p:txBody>
          <a:bodyPr anchor="t" rtlCol="false" tIns="0" lIns="0" bIns="0" rIns="0">
            <a:spAutoFit/>
          </a:bodyPr>
          <a:lstStyle/>
          <a:p>
            <a:pPr algn="l">
              <a:lnSpc>
                <a:spcPts val="7290"/>
              </a:lnSpc>
            </a:pPr>
            <a:r>
              <a:rPr lang="en-US" sz="8100">
                <a:solidFill>
                  <a:srgbClr val="FF5A1F"/>
                </a:solidFill>
                <a:latin typeface="Archivo Black"/>
                <a:ea typeface="Archivo Black"/>
                <a:cs typeface="Archivo Black"/>
                <a:sym typeface="Archivo Black"/>
              </a:rPr>
              <a:t>81%</a:t>
            </a:r>
          </a:p>
        </p:txBody>
      </p:sp>
      <p:sp>
        <p:nvSpPr>
          <p:cNvPr name="TextBox 4" id="4"/>
          <p:cNvSpPr txBox="true"/>
          <p:nvPr/>
        </p:nvSpPr>
        <p:spPr>
          <a:xfrm rot="0">
            <a:off x="9525000" y="2228850"/>
            <a:ext cx="7810500" cy="1384935"/>
          </a:xfrm>
          <a:prstGeom prst="rect">
            <a:avLst/>
          </a:prstGeom>
        </p:spPr>
        <p:txBody>
          <a:bodyPr anchor="t" rtlCol="false" tIns="0" lIns="0" bIns="0" rIns="0">
            <a:spAutoFit/>
          </a:bodyPr>
          <a:lstStyle/>
          <a:p>
            <a:pPr algn="l">
              <a:lnSpc>
                <a:spcPts val="11340"/>
              </a:lnSpc>
            </a:pPr>
            <a:r>
              <a:rPr lang="en-US" sz="8100">
                <a:solidFill>
                  <a:srgbClr val="FFB000"/>
                </a:solidFill>
                <a:latin typeface="Archivo Black"/>
                <a:ea typeface="Archivo Black"/>
                <a:cs typeface="Archivo Black"/>
                <a:sym typeface="Archivo Black"/>
              </a:rPr>
              <a:t>0 FALLAS</a:t>
            </a:r>
          </a:p>
        </p:txBody>
      </p:sp>
      <p:sp>
        <p:nvSpPr>
          <p:cNvPr name="TextBox 5" id="5"/>
          <p:cNvSpPr txBox="true"/>
          <p:nvPr/>
        </p:nvSpPr>
        <p:spPr>
          <a:xfrm rot="0">
            <a:off x="952500" y="3638550"/>
            <a:ext cx="7810500" cy="340995"/>
          </a:xfrm>
          <a:prstGeom prst="rect">
            <a:avLst/>
          </a:prstGeom>
        </p:spPr>
        <p:txBody>
          <a:bodyPr anchor="t" rtlCol="false" tIns="0" lIns="0" bIns="0" rIns="0">
            <a:spAutoFit/>
          </a:bodyPr>
          <a:lstStyle/>
          <a:p>
            <a:pPr algn="l" marL="0" indent="0" lvl="0">
              <a:lnSpc>
                <a:spcPts val="2835"/>
              </a:lnSpc>
              <a:spcBef>
                <a:spcPct val="0"/>
              </a:spcBef>
            </a:pPr>
            <a:r>
              <a:rPr lang="en-US" sz="2100" strike="noStrike" u="none">
                <a:solidFill>
                  <a:srgbClr val="FFF4DF"/>
                </a:solidFill>
                <a:latin typeface="Open Sans"/>
                <a:ea typeface="Open Sans"/>
                <a:cs typeface="Open Sans"/>
                <a:sym typeface="Open Sans"/>
              </a:rPr>
              <a:t>de los casos de prueba realizados (meta del equipo: 80%)</a:t>
            </a:r>
          </a:p>
        </p:txBody>
      </p:sp>
      <p:grpSp>
        <p:nvGrpSpPr>
          <p:cNvPr name="Group 6" id="6"/>
          <p:cNvGrpSpPr/>
          <p:nvPr/>
        </p:nvGrpSpPr>
        <p:grpSpPr>
          <a:xfrm rot="0">
            <a:off x="552450" y="666750"/>
            <a:ext cx="133350" cy="1123950"/>
            <a:chOff x="0" y="0"/>
            <a:chExt cx="177800" cy="1498600"/>
          </a:xfrm>
        </p:grpSpPr>
        <p:sp>
          <p:nvSpPr>
            <p:cNvPr name="Freeform 7" id="7"/>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p:spPr>
        </p:sp>
        <p:sp>
          <p:nvSpPr>
            <p:cNvPr name="TextBox 8" id="8"/>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952500" y="1491681"/>
            <a:ext cx="12382500" cy="365694"/>
          </a:xfrm>
          <a:prstGeom prst="rect">
            <a:avLst/>
          </a:prstGeom>
        </p:spPr>
        <p:txBody>
          <a:bodyPr anchor="t" rtlCol="false" tIns="0" lIns="0" bIns="0" rIns="0">
            <a:spAutoFit/>
          </a:bodyPr>
          <a:lstStyle/>
          <a:p>
            <a:pPr algn="l">
              <a:lnSpc>
                <a:spcPts val="2940"/>
              </a:lnSpc>
            </a:pPr>
            <a:r>
              <a:rPr lang="en-US" sz="2100">
                <a:solidFill>
                  <a:srgbClr val="FFB000"/>
                </a:solidFill>
                <a:latin typeface="IBM Plex Mono"/>
                <a:ea typeface="IBM Plex Mono"/>
                <a:cs typeface="IBM Plex Mono"/>
                <a:sym typeface="IBM Plex Mono"/>
              </a:rPr>
              <a:t>Pruebas automáticas, manuales y de evaluación de modelos</a:t>
            </a:r>
          </a:p>
        </p:txBody>
      </p:sp>
      <p:sp>
        <p:nvSpPr>
          <p:cNvPr name="TextBox 10" id="10"/>
          <p:cNvSpPr txBox="true"/>
          <p:nvPr/>
        </p:nvSpPr>
        <p:spPr>
          <a:xfrm rot="0">
            <a:off x="9525000" y="3619500"/>
            <a:ext cx="7810500" cy="365760"/>
          </a:xfrm>
          <a:prstGeom prst="rect">
            <a:avLst/>
          </a:prstGeom>
        </p:spPr>
        <p:txBody>
          <a:bodyPr anchor="t" rtlCol="false" tIns="0" lIns="0" bIns="0" rIns="0">
            <a:spAutoFit/>
          </a:bodyPr>
          <a:lstStyle/>
          <a:p>
            <a:pPr algn="l">
              <a:lnSpc>
                <a:spcPts val="2940"/>
              </a:lnSpc>
            </a:pPr>
            <a:r>
              <a:rPr lang="en-US" sz="2100">
                <a:solidFill>
                  <a:srgbClr val="FFF4DF"/>
                </a:solidFill>
                <a:latin typeface="Arimo"/>
                <a:ea typeface="Arimo"/>
                <a:cs typeface="Arimo"/>
                <a:sym typeface="Arimo"/>
              </a:rPr>
              <a:t>ninguna de las pruebas ejecutadas falló</a:t>
            </a:r>
          </a:p>
        </p:txBody>
      </p:sp>
      <p:grpSp>
        <p:nvGrpSpPr>
          <p:cNvPr name="Group 11" id="11"/>
          <p:cNvGrpSpPr/>
          <p:nvPr/>
        </p:nvGrpSpPr>
        <p:grpSpPr>
          <a:xfrm rot="0">
            <a:off x="952500" y="4476750"/>
            <a:ext cx="16383000" cy="381000"/>
            <a:chOff x="0" y="0"/>
            <a:chExt cx="21844000" cy="508000"/>
          </a:xfrm>
        </p:grpSpPr>
        <p:sp>
          <p:nvSpPr>
            <p:cNvPr name="Freeform 12" id="12"/>
            <p:cNvSpPr/>
            <p:nvPr/>
          </p:nvSpPr>
          <p:spPr>
            <a:xfrm flipH="false" flipV="false" rot="0">
              <a:off x="0" y="0"/>
              <a:ext cx="21844000" cy="508000"/>
            </a:xfrm>
            <a:custGeom>
              <a:avLst/>
              <a:gdLst/>
              <a:ahLst/>
              <a:cxnLst/>
              <a:rect r="r" b="b" t="t" l="l"/>
              <a:pathLst>
                <a:path h="508000" w="21844000">
                  <a:moveTo>
                    <a:pt x="0" y="0"/>
                  </a:moveTo>
                  <a:lnTo>
                    <a:pt x="21844000" y="0"/>
                  </a:lnTo>
                  <a:lnTo>
                    <a:pt x="21844000" y="508000"/>
                  </a:lnTo>
                  <a:lnTo>
                    <a:pt x="0" y="508000"/>
                  </a:lnTo>
                  <a:close/>
                </a:path>
              </a:pathLst>
            </a:custGeom>
            <a:solidFill>
              <a:srgbClr val="3A2D28"/>
            </a:solidFill>
          </p:spPr>
        </p:sp>
        <p:sp>
          <p:nvSpPr>
            <p:cNvPr name="TextBox 13" id="13"/>
            <p:cNvSpPr txBox="true"/>
            <p:nvPr/>
          </p:nvSpPr>
          <p:spPr>
            <a:xfrm>
              <a:off x="0" y="-38100"/>
              <a:ext cx="21844000" cy="546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4476750"/>
            <a:ext cx="13230225" cy="381000"/>
            <a:chOff x="0" y="0"/>
            <a:chExt cx="17640300" cy="508000"/>
          </a:xfrm>
        </p:grpSpPr>
        <p:sp>
          <p:nvSpPr>
            <p:cNvPr name="Freeform 15" id="15"/>
            <p:cNvSpPr/>
            <p:nvPr/>
          </p:nvSpPr>
          <p:spPr>
            <a:xfrm flipH="false" flipV="false" rot="0">
              <a:off x="0" y="0"/>
              <a:ext cx="17640300" cy="508000"/>
            </a:xfrm>
            <a:custGeom>
              <a:avLst/>
              <a:gdLst/>
              <a:ahLst/>
              <a:cxnLst/>
              <a:rect r="r" b="b" t="t" l="l"/>
              <a:pathLst>
                <a:path h="508000" w="17640300">
                  <a:moveTo>
                    <a:pt x="0" y="0"/>
                  </a:moveTo>
                  <a:lnTo>
                    <a:pt x="17640300" y="0"/>
                  </a:lnTo>
                  <a:lnTo>
                    <a:pt x="17640300" y="508000"/>
                  </a:lnTo>
                  <a:lnTo>
                    <a:pt x="0" y="508000"/>
                  </a:lnTo>
                  <a:close/>
                </a:path>
              </a:pathLst>
            </a:custGeom>
            <a:solidFill>
              <a:srgbClr val="FF5A1F"/>
            </a:solidFill>
          </p:spPr>
        </p:sp>
        <p:sp>
          <p:nvSpPr>
            <p:cNvPr name="TextBox 16" id="16"/>
            <p:cNvSpPr txBox="true"/>
            <p:nvPr/>
          </p:nvSpPr>
          <p:spPr>
            <a:xfrm>
              <a:off x="0" y="-38100"/>
              <a:ext cx="17640300" cy="546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952500" y="4905375"/>
            <a:ext cx="4762500" cy="365760"/>
          </a:xfrm>
          <a:prstGeom prst="rect">
            <a:avLst/>
          </a:prstGeom>
        </p:spPr>
        <p:txBody>
          <a:bodyPr anchor="t" rtlCol="false" tIns="0" lIns="0" bIns="0" rIns="0">
            <a:spAutoFit/>
          </a:bodyPr>
          <a:lstStyle/>
          <a:p>
            <a:pPr algn="l">
              <a:lnSpc>
                <a:spcPts val="2940"/>
              </a:lnSpc>
            </a:pPr>
            <a:r>
              <a:rPr lang="en-US" sz="2100" b="true">
                <a:solidFill>
                  <a:srgbClr val="FF5A1F"/>
                </a:solidFill>
                <a:latin typeface="Arimo Bold"/>
                <a:ea typeface="Arimo Bold"/>
                <a:cs typeface="Arimo Bold"/>
                <a:sym typeface="Arimo Bold"/>
              </a:rPr>
              <a:t>21 realizadas</a:t>
            </a:r>
          </a:p>
        </p:txBody>
      </p:sp>
      <p:sp>
        <p:nvSpPr>
          <p:cNvPr name="TextBox 18" id="18"/>
          <p:cNvSpPr txBox="true"/>
          <p:nvPr/>
        </p:nvSpPr>
        <p:spPr>
          <a:xfrm rot="0">
            <a:off x="12573000" y="4905375"/>
            <a:ext cx="4762500" cy="365760"/>
          </a:xfrm>
          <a:prstGeom prst="rect">
            <a:avLst/>
          </a:prstGeom>
        </p:spPr>
        <p:txBody>
          <a:bodyPr anchor="t" rtlCol="false" tIns="0" lIns="0" bIns="0" rIns="0">
            <a:spAutoFit/>
          </a:bodyPr>
          <a:lstStyle/>
          <a:p>
            <a:pPr algn="r">
              <a:lnSpc>
                <a:spcPts val="2940"/>
              </a:lnSpc>
            </a:pPr>
            <a:r>
              <a:rPr lang="en-US" sz="2100" b="true">
                <a:solidFill>
                  <a:srgbClr val="CBBBAD"/>
                </a:solidFill>
                <a:latin typeface="Arimo Bold"/>
                <a:ea typeface="Arimo Bold"/>
                <a:cs typeface="Arimo Bold"/>
                <a:sym typeface="Arimo Bold"/>
              </a:rPr>
              <a:t>5 pendientes</a:t>
            </a:r>
          </a:p>
        </p:txBody>
      </p:sp>
      <p:grpSp>
        <p:nvGrpSpPr>
          <p:cNvPr name="Group 19" id="19"/>
          <p:cNvGrpSpPr/>
          <p:nvPr/>
        </p:nvGrpSpPr>
        <p:grpSpPr>
          <a:xfrm rot="0">
            <a:off x="952500" y="5619750"/>
            <a:ext cx="5200650" cy="2000250"/>
            <a:chOff x="0" y="0"/>
            <a:chExt cx="6934200" cy="2667000"/>
          </a:xfrm>
        </p:grpSpPr>
        <p:sp>
          <p:nvSpPr>
            <p:cNvPr name="Freeform 20" id="20"/>
            <p:cNvSpPr/>
            <p:nvPr/>
          </p:nvSpPr>
          <p:spPr>
            <a:xfrm flipH="false" flipV="false" rot="0">
              <a:off x="0" y="0"/>
              <a:ext cx="6934200" cy="2667000"/>
            </a:xfrm>
            <a:custGeom>
              <a:avLst/>
              <a:gdLst/>
              <a:ahLst/>
              <a:cxnLst/>
              <a:rect r="r" b="b" t="t" l="l"/>
              <a:pathLst>
                <a:path h="2667000" w="6934200">
                  <a:moveTo>
                    <a:pt x="0" y="0"/>
                  </a:moveTo>
                  <a:lnTo>
                    <a:pt x="6934200" y="0"/>
                  </a:lnTo>
                  <a:lnTo>
                    <a:pt x="6934200" y="2667000"/>
                  </a:lnTo>
                  <a:lnTo>
                    <a:pt x="0" y="2667000"/>
                  </a:lnTo>
                  <a:close/>
                </a:path>
              </a:pathLst>
            </a:custGeom>
            <a:solidFill>
              <a:srgbClr val="221B18"/>
            </a:solidFill>
          </p:spPr>
        </p:sp>
        <p:sp>
          <p:nvSpPr>
            <p:cNvPr name="TextBox 21" id="21"/>
            <p:cNvSpPr txBox="true"/>
            <p:nvPr/>
          </p:nvSpPr>
          <p:spPr>
            <a:xfrm>
              <a:off x="0" y="-38100"/>
              <a:ext cx="6934200" cy="2705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6534150" y="5619750"/>
            <a:ext cx="5200650" cy="2000250"/>
            <a:chOff x="0" y="0"/>
            <a:chExt cx="6934200" cy="2667000"/>
          </a:xfrm>
        </p:grpSpPr>
        <p:sp>
          <p:nvSpPr>
            <p:cNvPr name="Freeform 23" id="23"/>
            <p:cNvSpPr/>
            <p:nvPr/>
          </p:nvSpPr>
          <p:spPr>
            <a:xfrm flipH="false" flipV="false" rot="0">
              <a:off x="0" y="0"/>
              <a:ext cx="6934200" cy="2667000"/>
            </a:xfrm>
            <a:custGeom>
              <a:avLst/>
              <a:gdLst/>
              <a:ahLst/>
              <a:cxnLst/>
              <a:rect r="r" b="b" t="t" l="l"/>
              <a:pathLst>
                <a:path h="2667000" w="6934200">
                  <a:moveTo>
                    <a:pt x="0" y="0"/>
                  </a:moveTo>
                  <a:lnTo>
                    <a:pt x="6934200" y="0"/>
                  </a:lnTo>
                  <a:lnTo>
                    <a:pt x="6934200" y="2667000"/>
                  </a:lnTo>
                  <a:lnTo>
                    <a:pt x="0" y="2667000"/>
                  </a:lnTo>
                  <a:close/>
                </a:path>
              </a:pathLst>
            </a:custGeom>
            <a:solidFill>
              <a:srgbClr val="221B18"/>
            </a:solidFill>
          </p:spPr>
        </p:sp>
        <p:sp>
          <p:nvSpPr>
            <p:cNvPr name="TextBox 24" id="24"/>
            <p:cNvSpPr txBox="true"/>
            <p:nvPr/>
          </p:nvSpPr>
          <p:spPr>
            <a:xfrm>
              <a:off x="0" y="-38100"/>
              <a:ext cx="6934200" cy="2705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2115800" y="5619750"/>
            <a:ext cx="5200650" cy="2000250"/>
            <a:chOff x="0" y="0"/>
            <a:chExt cx="6934200" cy="2667000"/>
          </a:xfrm>
        </p:grpSpPr>
        <p:sp>
          <p:nvSpPr>
            <p:cNvPr name="Freeform 26" id="26"/>
            <p:cNvSpPr/>
            <p:nvPr/>
          </p:nvSpPr>
          <p:spPr>
            <a:xfrm flipH="false" flipV="false" rot="0">
              <a:off x="0" y="0"/>
              <a:ext cx="6934200" cy="2667000"/>
            </a:xfrm>
            <a:custGeom>
              <a:avLst/>
              <a:gdLst/>
              <a:ahLst/>
              <a:cxnLst/>
              <a:rect r="r" b="b" t="t" l="l"/>
              <a:pathLst>
                <a:path h="2667000" w="6934200">
                  <a:moveTo>
                    <a:pt x="0" y="0"/>
                  </a:moveTo>
                  <a:lnTo>
                    <a:pt x="6934200" y="0"/>
                  </a:lnTo>
                  <a:lnTo>
                    <a:pt x="6934200" y="2667000"/>
                  </a:lnTo>
                  <a:lnTo>
                    <a:pt x="0" y="2667000"/>
                  </a:lnTo>
                  <a:close/>
                </a:path>
              </a:pathLst>
            </a:custGeom>
            <a:solidFill>
              <a:srgbClr val="221B18"/>
            </a:solidFill>
          </p:spPr>
        </p:sp>
        <p:sp>
          <p:nvSpPr>
            <p:cNvPr name="TextBox 27" id="27"/>
            <p:cNvSpPr txBox="true"/>
            <p:nvPr/>
          </p:nvSpPr>
          <p:spPr>
            <a:xfrm>
              <a:off x="0" y="-38100"/>
              <a:ext cx="6934200" cy="2705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1219200" y="5734050"/>
            <a:ext cx="4667250" cy="415290"/>
          </a:xfrm>
          <a:prstGeom prst="rect">
            <a:avLst/>
          </a:prstGeom>
        </p:spPr>
        <p:txBody>
          <a:bodyPr anchor="t" rtlCol="false" tIns="0" lIns="0" bIns="0" rIns="0">
            <a:spAutoFit/>
          </a:bodyPr>
          <a:lstStyle/>
          <a:p>
            <a:pPr algn="l">
              <a:lnSpc>
                <a:spcPts val="3359"/>
              </a:lnSpc>
            </a:pPr>
            <a:r>
              <a:rPr lang="en-US" sz="2400" b="true">
                <a:solidFill>
                  <a:srgbClr val="FFB000"/>
                </a:solidFill>
                <a:latin typeface="Arimo Bold"/>
                <a:ea typeface="Arimo Bold"/>
                <a:cs typeface="Arimo Bold"/>
                <a:sym typeface="Arimo Bold"/>
              </a:rPr>
              <a:t>AUTOMÁTICAS</a:t>
            </a:r>
          </a:p>
        </p:txBody>
      </p:sp>
      <p:sp>
        <p:nvSpPr>
          <p:cNvPr name="TextBox 29" id="29"/>
          <p:cNvSpPr txBox="true"/>
          <p:nvPr/>
        </p:nvSpPr>
        <p:spPr>
          <a:xfrm rot="0">
            <a:off x="1219200" y="6286500"/>
            <a:ext cx="4667250" cy="901065"/>
          </a:xfrm>
          <a:prstGeom prst="rect">
            <a:avLst/>
          </a:prstGeom>
        </p:spPr>
        <p:txBody>
          <a:bodyPr anchor="t" rtlCol="false" tIns="0" lIns="0" bIns="0" rIns="0">
            <a:spAutoFit/>
          </a:bodyPr>
          <a:lstStyle/>
          <a:p>
            <a:pPr algn="l">
              <a:lnSpc>
                <a:spcPts val="2340"/>
              </a:lnSpc>
            </a:pPr>
            <a:r>
              <a:rPr lang="en-US" sz="1800">
                <a:solidFill>
                  <a:srgbClr val="FFF4DF"/>
                </a:solidFill>
                <a:latin typeface="Arimo"/>
                <a:ea typeface="Arimo"/>
                <a:cs typeface="Arimo"/>
                <a:sym typeface="Arimo"/>
              </a:rPr>
              <a:t>13 casos con pytest sobre la API: login, roles, alertas, reintentos y claves de cámara. En total, 79 pruebas.</a:t>
            </a:r>
          </a:p>
        </p:txBody>
      </p:sp>
      <p:sp>
        <p:nvSpPr>
          <p:cNvPr name="TextBox 30" id="30"/>
          <p:cNvSpPr txBox="true"/>
          <p:nvPr/>
        </p:nvSpPr>
        <p:spPr>
          <a:xfrm rot="0">
            <a:off x="6800850" y="5734050"/>
            <a:ext cx="4667250" cy="415290"/>
          </a:xfrm>
          <a:prstGeom prst="rect">
            <a:avLst/>
          </a:prstGeom>
        </p:spPr>
        <p:txBody>
          <a:bodyPr anchor="t" rtlCol="false" tIns="0" lIns="0" bIns="0" rIns="0">
            <a:spAutoFit/>
          </a:bodyPr>
          <a:lstStyle/>
          <a:p>
            <a:pPr algn="l">
              <a:lnSpc>
                <a:spcPts val="3359"/>
              </a:lnSpc>
            </a:pPr>
            <a:r>
              <a:rPr lang="en-US" sz="2400" b="true">
                <a:solidFill>
                  <a:srgbClr val="FFB000"/>
                </a:solidFill>
                <a:latin typeface="Arimo Bold"/>
                <a:ea typeface="Arimo Bold"/>
                <a:cs typeface="Arimo Bold"/>
                <a:sym typeface="Arimo Bold"/>
              </a:rPr>
              <a:t>MANUALES</a:t>
            </a:r>
          </a:p>
        </p:txBody>
      </p:sp>
      <p:sp>
        <p:nvSpPr>
          <p:cNvPr name="TextBox 31" id="31"/>
          <p:cNvSpPr txBox="true"/>
          <p:nvPr/>
        </p:nvSpPr>
        <p:spPr>
          <a:xfrm rot="0">
            <a:off x="6800850" y="6286500"/>
            <a:ext cx="4667250" cy="901065"/>
          </a:xfrm>
          <a:prstGeom prst="rect">
            <a:avLst/>
          </a:prstGeom>
        </p:spPr>
        <p:txBody>
          <a:bodyPr anchor="t" rtlCol="false" tIns="0" lIns="0" bIns="0" rIns="0">
            <a:spAutoFit/>
          </a:bodyPr>
          <a:lstStyle/>
          <a:p>
            <a:pPr algn="l">
              <a:lnSpc>
                <a:spcPts val="2340"/>
              </a:lnSpc>
            </a:pPr>
            <a:r>
              <a:rPr lang="en-US" sz="1800">
                <a:solidFill>
                  <a:srgbClr val="FFF4DF"/>
                </a:solidFill>
                <a:latin typeface="Arimo"/>
                <a:ea typeface="Arimo"/>
                <a:cs typeface="Arimo"/>
                <a:sym typeface="Arimo"/>
              </a:rPr>
              <a:t>Reconexión de la cámara, agregar una cámara real con un celular y el flujo de punta a punta hasta el escritorio.</a:t>
            </a:r>
          </a:p>
        </p:txBody>
      </p:sp>
      <p:sp>
        <p:nvSpPr>
          <p:cNvPr name="TextBox 32" id="32"/>
          <p:cNvSpPr txBox="true"/>
          <p:nvPr/>
        </p:nvSpPr>
        <p:spPr>
          <a:xfrm rot="0">
            <a:off x="12382500" y="5734050"/>
            <a:ext cx="4667250" cy="415290"/>
          </a:xfrm>
          <a:prstGeom prst="rect">
            <a:avLst/>
          </a:prstGeom>
        </p:spPr>
        <p:txBody>
          <a:bodyPr anchor="t" rtlCol="false" tIns="0" lIns="0" bIns="0" rIns="0">
            <a:spAutoFit/>
          </a:bodyPr>
          <a:lstStyle/>
          <a:p>
            <a:pPr algn="l">
              <a:lnSpc>
                <a:spcPts val="3359"/>
              </a:lnSpc>
            </a:pPr>
            <a:r>
              <a:rPr lang="en-US" sz="2400" b="true">
                <a:solidFill>
                  <a:srgbClr val="FFB000"/>
                </a:solidFill>
                <a:latin typeface="Arimo Bold"/>
                <a:ea typeface="Arimo Bold"/>
                <a:cs typeface="Arimo Bold"/>
                <a:sym typeface="Arimo Bold"/>
              </a:rPr>
              <a:t>MODELOS</a:t>
            </a:r>
          </a:p>
        </p:txBody>
      </p:sp>
      <p:sp>
        <p:nvSpPr>
          <p:cNvPr name="TextBox 33" id="33"/>
          <p:cNvSpPr txBox="true"/>
          <p:nvPr/>
        </p:nvSpPr>
        <p:spPr>
          <a:xfrm rot="0">
            <a:off x="12382500" y="6286500"/>
            <a:ext cx="4667250" cy="901065"/>
          </a:xfrm>
          <a:prstGeom prst="rect">
            <a:avLst/>
          </a:prstGeom>
        </p:spPr>
        <p:txBody>
          <a:bodyPr anchor="t" rtlCol="false" tIns="0" lIns="0" bIns="0" rIns="0">
            <a:spAutoFit/>
          </a:bodyPr>
          <a:lstStyle/>
          <a:p>
            <a:pPr algn="l">
              <a:lnSpc>
                <a:spcPts val="2340"/>
              </a:lnSpc>
            </a:pPr>
            <a:r>
              <a:rPr lang="en-US" sz="1800">
                <a:solidFill>
                  <a:srgbClr val="FFF4DF"/>
                </a:solidFill>
                <a:latin typeface="Arimo"/>
                <a:ea typeface="Arimo"/>
                <a:cs typeface="Arimo"/>
                <a:sym typeface="Arimo"/>
              </a:rPr>
              <a:t>Fuego y humo sobre D-Fire y FASDD, calibración del mapa con Valparaíso 2024 y validación del M2.</a:t>
            </a:r>
          </a:p>
        </p:txBody>
      </p:sp>
      <p:grpSp>
        <p:nvGrpSpPr>
          <p:cNvPr name="Group 34" id="34"/>
          <p:cNvGrpSpPr/>
          <p:nvPr/>
        </p:nvGrpSpPr>
        <p:grpSpPr>
          <a:xfrm rot="0">
            <a:off x="952500" y="7905750"/>
            <a:ext cx="16383000" cy="1619250"/>
            <a:chOff x="0" y="0"/>
            <a:chExt cx="21844000" cy="2159000"/>
          </a:xfrm>
        </p:grpSpPr>
        <p:sp>
          <p:nvSpPr>
            <p:cNvPr name="Freeform 35" id="35"/>
            <p:cNvSpPr/>
            <p:nvPr/>
          </p:nvSpPr>
          <p:spPr>
            <a:xfrm flipH="false" flipV="false" rot="0">
              <a:off x="0" y="0"/>
              <a:ext cx="21844000" cy="2159000"/>
            </a:xfrm>
            <a:custGeom>
              <a:avLst/>
              <a:gdLst/>
              <a:ahLst/>
              <a:cxnLst/>
              <a:rect r="r" b="b" t="t" l="l"/>
              <a:pathLst>
                <a:path h="2159000" w="21844000">
                  <a:moveTo>
                    <a:pt x="0" y="0"/>
                  </a:moveTo>
                  <a:lnTo>
                    <a:pt x="21844000" y="0"/>
                  </a:lnTo>
                  <a:lnTo>
                    <a:pt x="21844000" y="2159000"/>
                  </a:lnTo>
                  <a:lnTo>
                    <a:pt x="0" y="2159000"/>
                  </a:lnTo>
                  <a:close/>
                </a:path>
              </a:pathLst>
            </a:custGeom>
            <a:solidFill>
              <a:srgbClr val="331F17"/>
            </a:solidFill>
          </p:spPr>
        </p:sp>
        <p:sp>
          <p:nvSpPr>
            <p:cNvPr name="TextBox 36" id="36"/>
            <p:cNvSpPr txBox="true"/>
            <p:nvPr/>
          </p:nvSpPr>
          <p:spPr>
            <a:xfrm>
              <a:off x="0" y="-38100"/>
              <a:ext cx="21844000" cy="21971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219200" y="8039100"/>
            <a:ext cx="15811500" cy="400050"/>
          </a:xfrm>
          <a:prstGeom prst="rect">
            <a:avLst/>
          </a:prstGeom>
        </p:spPr>
        <p:txBody>
          <a:bodyPr anchor="t" rtlCol="false" tIns="0" lIns="0" bIns="0" rIns="0">
            <a:spAutoFit/>
          </a:bodyPr>
          <a:lstStyle/>
          <a:p>
            <a:pPr algn="l">
              <a:lnSpc>
                <a:spcPts val="3149"/>
              </a:lnSpc>
            </a:pPr>
            <a:r>
              <a:rPr lang="en-US" sz="2250" b="true">
                <a:solidFill>
                  <a:srgbClr val="FF5A1F"/>
                </a:solidFill>
                <a:latin typeface="Arimo Bold"/>
                <a:ea typeface="Arimo Bold"/>
                <a:cs typeface="Arimo Bold"/>
                <a:sym typeface="Arimo Bold"/>
              </a:rPr>
              <a:t>PENDIENTES</a:t>
            </a:r>
          </a:p>
        </p:txBody>
      </p:sp>
      <p:sp>
        <p:nvSpPr>
          <p:cNvPr name="TextBox 38" id="38"/>
          <p:cNvSpPr txBox="true"/>
          <p:nvPr/>
        </p:nvSpPr>
        <p:spPr>
          <a:xfrm rot="0">
            <a:off x="1219200" y="8591550"/>
            <a:ext cx="15811500" cy="687705"/>
          </a:xfrm>
          <a:prstGeom prst="rect">
            <a:avLst/>
          </a:prstGeom>
        </p:spPr>
        <p:txBody>
          <a:bodyPr anchor="t" rtlCol="false" tIns="0" lIns="0" bIns="0" rIns="0">
            <a:spAutoFit/>
          </a:bodyPr>
          <a:lstStyle/>
          <a:p>
            <a:pPr algn="l">
              <a:lnSpc>
                <a:spcPts val="2730"/>
              </a:lnSpc>
            </a:pPr>
            <a:r>
              <a:rPr lang="en-US" sz="2100">
                <a:solidFill>
                  <a:srgbClr val="FFF4DF"/>
                </a:solidFill>
                <a:latin typeface="Arimo"/>
                <a:ea typeface="Arimo"/>
                <a:cs typeface="Arimo"/>
                <a:sym typeface="Arimo"/>
              </a:rPr>
              <a:t>Capas de contexto · Sitio web · HTTPS y credenciales · Rendimiento con varias cámaras · Falsas alarmas por hora con video sin fuego</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52475"/>
            <a:ext cx="14287500" cy="645729"/>
          </a:xfrm>
          <a:prstGeom prst="rect">
            <a:avLst/>
          </a:prstGeom>
        </p:spPr>
        <p:txBody>
          <a:bodyPr anchor="t" rtlCol="false" tIns="0" lIns="0" bIns="0" rIns="0">
            <a:spAutoFit/>
          </a:bodyPr>
          <a:lstStyle/>
          <a:p>
            <a:pPr algn="l">
              <a:lnSpc>
                <a:spcPts val="4800"/>
              </a:lnSpc>
            </a:pPr>
            <a:r>
              <a:rPr lang="en-US" sz="4800" b="true">
                <a:solidFill>
                  <a:srgbClr val="FFF4DF"/>
                </a:solidFill>
                <a:latin typeface="Barlow Condensed Bold"/>
                <a:ea typeface="Barlow Condensed Bold"/>
                <a:cs typeface="Barlow Condensed Bold"/>
                <a:sym typeface="Barlow Condensed Bold"/>
              </a:rPr>
              <a:t>4 RIESGOS CRÍTICOS</a:t>
            </a:r>
          </a:p>
        </p:txBody>
      </p:sp>
      <p:sp>
        <p:nvSpPr>
          <p:cNvPr name="TextBox 3" id="3"/>
          <p:cNvSpPr txBox="true"/>
          <p:nvPr/>
        </p:nvSpPr>
        <p:spPr>
          <a:xfrm rot="0">
            <a:off x="952500" y="1425006"/>
            <a:ext cx="14287500" cy="365694"/>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B000"/>
                </a:solidFill>
                <a:latin typeface="IBM Plex Mono"/>
                <a:ea typeface="IBM Plex Mono"/>
                <a:cs typeface="IBM Plex Mono"/>
                <a:sym typeface="IBM Plex Mono"/>
              </a:rPr>
              <a:t>De 17 riesgos registrados, estos son los que más pesan</a:t>
            </a:r>
          </a:p>
        </p:txBody>
      </p:sp>
      <p:sp>
        <p:nvSpPr>
          <p:cNvPr name="TextBox 4" id="4"/>
          <p:cNvSpPr txBox="true"/>
          <p:nvPr/>
        </p:nvSpPr>
        <p:spPr>
          <a:xfrm rot="0">
            <a:off x="952500" y="7391400"/>
            <a:ext cx="8572500" cy="331470"/>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FFB000"/>
                </a:solidFill>
                <a:latin typeface="Archivo Black"/>
                <a:ea typeface="Archivo Black"/>
                <a:cs typeface="Archivo Black"/>
                <a:sym typeface="Archivo Black"/>
              </a:rPr>
              <a:t>MITIGACIÓN OPERATIVA GENERAL</a:t>
            </a:r>
          </a:p>
        </p:txBody>
      </p:sp>
      <p:sp>
        <p:nvSpPr>
          <p:cNvPr name="TextBox 5" id="5"/>
          <p:cNvSpPr txBox="true"/>
          <p:nvPr/>
        </p:nvSpPr>
        <p:spPr>
          <a:xfrm rot="0">
            <a:off x="952500" y="7839075"/>
            <a:ext cx="16383000" cy="523875"/>
          </a:xfrm>
          <a:prstGeom prst="rect">
            <a:avLst/>
          </a:prstGeom>
        </p:spPr>
        <p:txBody>
          <a:bodyPr anchor="t" rtlCol="false" tIns="0" lIns="0" bIns="0" rIns="0">
            <a:spAutoFit/>
          </a:bodyPr>
          <a:lstStyle/>
          <a:p>
            <a:pPr algn="l" marL="0" indent="0" lvl="0">
              <a:lnSpc>
                <a:spcPts val="4200"/>
              </a:lnSpc>
              <a:spcBef>
                <a:spcPct val="0"/>
              </a:spcBef>
            </a:pPr>
            <a:r>
              <a:rPr lang="en-US" sz="3000" strike="noStrike" u="none">
                <a:solidFill>
                  <a:srgbClr val="FFF4DF"/>
                </a:solidFill>
                <a:latin typeface="Archivo Black"/>
                <a:ea typeface="Archivo Black"/>
                <a:cs typeface="Archivo Black"/>
                <a:sym typeface="Archivo Black"/>
              </a:rPr>
              <a:t>Metodología ágil iterativa, con ciclos semanales e hitos fijos</a:t>
            </a:r>
          </a:p>
        </p:txBody>
      </p:sp>
      <p:grpSp>
        <p:nvGrpSpPr>
          <p:cNvPr name="Group 6" id="6"/>
          <p:cNvGrpSpPr/>
          <p:nvPr/>
        </p:nvGrpSpPr>
        <p:grpSpPr>
          <a:xfrm rot="0">
            <a:off x="552450" y="666750"/>
            <a:ext cx="133350" cy="1123950"/>
            <a:chOff x="0" y="0"/>
            <a:chExt cx="177800" cy="1498600"/>
          </a:xfrm>
        </p:grpSpPr>
        <p:sp>
          <p:nvSpPr>
            <p:cNvPr name="Freeform 7" id="7"/>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3B3F"/>
            </a:solidFill>
          </p:spPr>
        </p:sp>
        <p:sp>
          <p:nvSpPr>
            <p:cNvPr name="TextBox 8" id="8"/>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952500" y="2381250"/>
            <a:ext cx="3895725" cy="4572000"/>
            <a:chOff x="0" y="0"/>
            <a:chExt cx="5194300" cy="6096000"/>
          </a:xfrm>
        </p:grpSpPr>
        <p:sp>
          <p:nvSpPr>
            <p:cNvPr name="Freeform 10" id="10"/>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11" id="11"/>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5114925" y="2381250"/>
            <a:ext cx="3895725" cy="4572000"/>
            <a:chOff x="0" y="0"/>
            <a:chExt cx="5194300" cy="6096000"/>
          </a:xfrm>
        </p:grpSpPr>
        <p:sp>
          <p:nvSpPr>
            <p:cNvPr name="Freeform 13" id="13"/>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14" id="14"/>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9277350" y="2381250"/>
            <a:ext cx="3895725" cy="4572000"/>
            <a:chOff x="0" y="0"/>
            <a:chExt cx="5194300" cy="6096000"/>
          </a:xfrm>
        </p:grpSpPr>
        <p:sp>
          <p:nvSpPr>
            <p:cNvPr name="Freeform 16" id="16"/>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17" id="17"/>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13439775" y="2381250"/>
            <a:ext cx="3895725" cy="4572000"/>
            <a:chOff x="0" y="0"/>
            <a:chExt cx="5194300" cy="6096000"/>
          </a:xfrm>
        </p:grpSpPr>
        <p:sp>
          <p:nvSpPr>
            <p:cNvPr name="Freeform 19" id="19"/>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20" id="20"/>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952500" y="2381250"/>
            <a:ext cx="3895725" cy="95250"/>
            <a:chOff x="0" y="0"/>
            <a:chExt cx="5194300" cy="127000"/>
          </a:xfrm>
        </p:grpSpPr>
        <p:sp>
          <p:nvSpPr>
            <p:cNvPr name="Freeform 22" id="22"/>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D92D20"/>
            </a:solidFill>
          </p:spPr>
        </p:sp>
        <p:sp>
          <p:nvSpPr>
            <p:cNvPr name="TextBox 23" id="23"/>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5114925" y="2381250"/>
            <a:ext cx="3895725" cy="95250"/>
            <a:chOff x="0" y="0"/>
            <a:chExt cx="5194300" cy="127000"/>
          </a:xfrm>
        </p:grpSpPr>
        <p:sp>
          <p:nvSpPr>
            <p:cNvPr name="Freeform 25" id="25"/>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D92D20"/>
            </a:solidFill>
          </p:spPr>
        </p:sp>
        <p:sp>
          <p:nvSpPr>
            <p:cNvPr name="TextBox 26" id="26"/>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9277350" y="2381250"/>
            <a:ext cx="3895725" cy="95250"/>
            <a:chOff x="0" y="0"/>
            <a:chExt cx="5194300" cy="127000"/>
          </a:xfrm>
        </p:grpSpPr>
        <p:sp>
          <p:nvSpPr>
            <p:cNvPr name="Freeform 28" id="28"/>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FF5A1F"/>
            </a:solidFill>
          </p:spPr>
        </p:sp>
        <p:sp>
          <p:nvSpPr>
            <p:cNvPr name="TextBox 29" id="29"/>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13439775" y="2381250"/>
            <a:ext cx="3895725" cy="95250"/>
            <a:chOff x="0" y="0"/>
            <a:chExt cx="5194300" cy="127000"/>
          </a:xfrm>
        </p:grpSpPr>
        <p:sp>
          <p:nvSpPr>
            <p:cNvPr name="Freeform 31" id="31"/>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FF5A1F"/>
            </a:solidFill>
          </p:spPr>
        </p:sp>
        <p:sp>
          <p:nvSpPr>
            <p:cNvPr name="TextBox 32" id="32"/>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1181100" y="2667000"/>
            <a:ext cx="3438525" cy="365760"/>
          </a:xfrm>
          <a:prstGeom prst="rect">
            <a:avLst/>
          </a:prstGeom>
        </p:spPr>
        <p:txBody>
          <a:bodyPr anchor="t" rtlCol="false" tIns="0" lIns="0" bIns="0" rIns="0">
            <a:spAutoFit/>
          </a:bodyPr>
          <a:lstStyle/>
          <a:p>
            <a:pPr algn="l">
              <a:lnSpc>
                <a:spcPts val="2940"/>
              </a:lnSpc>
            </a:pPr>
            <a:r>
              <a:rPr lang="en-US" sz="2100" b="true">
                <a:solidFill>
                  <a:srgbClr val="FFB000"/>
                </a:solidFill>
                <a:latin typeface="Arimo Bold"/>
                <a:ea typeface="Arimo Bold"/>
                <a:cs typeface="Arimo Bold"/>
                <a:sym typeface="Arimo Bold"/>
              </a:rPr>
              <a:t>R-01</a:t>
            </a:r>
          </a:p>
        </p:txBody>
      </p:sp>
      <p:sp>
        <p:nvSpPr>
          <p:cNvPr name="TextBox 34" id="34"/>
          <p:cNvSpPr txBox="true"/>
          <p:nvPr/>
        </p:nvSpPr>
        <p:spPr>
          <a:xfrm rot="0">
            <a:off x="5343525" y="2667000"/>
            <a:ext cx="3438525" cy="365760"/>
          </a:xfrm>
          <a:prstGeom prst="rect">
            <a:avLst/>
          </a:prstGeom>
        </p:spPr>
        <p:txBody>
          <a:bodyPr anchor="t" rtlCol="false" tIns="0" lIns="0" bIns="0" rIns="0">
            <a:spAutoFit/>
          </a:bodyPr>
          <a:lstStyle/>
          <a:p>
            <a:pPr algn="l">
              <a:lnSpc>
                <a:spcPts val="2940"/>
              </a:lnSpc>
            </a:pPr>
            <a:r>
              <a:rPr lang="en-US" sz="2100" b="true">
                <a:solidFill>
                  <a:srgbClr val="FFB000"/>
                </a:solidFill>
                <a:latin typeface="Arimo Bold"/>
                <a:ea typeface="Arimo Bold"/>
                <a:cs typeface="Arimo Bold"/>
                <a:sym typeface="Arimo Bold"/>
              </a:rPr>
              <a:t>R-03</a:t>
            </a:r>
          </a:p>
        </p:txBody>
      </p:sp>
      <p:sp>
        <p:nvSpPr>
          <p:cNvPr name="TextBox 35" id="35"/>
          <p:cNvSpPr txBox="true"/>
          <p:nvPr/>
        </p:nvSpPr>
        <p:spPr>
          <a:xfrm rot="0">
            <a:off x="9505950" y="2667000"/>
            <a:ext cx="3438525" cy="365760"/>
          </a:xfrm>
          <a:prstGeom prst="rect">
            <a:avLst/>
          </a:prstGeom>
        </p:spPr>
        <p:txBody>
          <a:bodyPr anchor="t" rtlCol="false" tIns="0" lIns="0" bIns="0" rIns="0">
            <a:spAutoFit/>
          </a:bodyPr>
          <a:lstStyle/>
          <a:p>
            <a:pPr algn="l">
              <a:lnSpc>
                <a:spcPts val="2940"/>
              </a:lnSpc>
            </a:pPr>
            <a:r>
              <a:rPr lang="en-US" sz="2100" b="true">
                <a:solidFill>
                  <a:srgbClr val="FFB000"/>
                </a:solidFill>
                <a:latin typeface="Arimo Bold"/>
                <a:ea typeface="Arimo Bold"/>
                <a:cs typeface="Arimo Bold"/>
                <a:sym typeface="Arimo Bold"/>
              </a:rPr>
              <a:t>R-04</a:t>
            </a:r>
          </a:p>
        </p:txBody>
      </p:sp>
      <p:sp>
        <p:nvSpPr>
          <p:cNvPr name="TextBox 36" id="36"/>
          <p:cNvSpPr txBox="true"/>
          <p:nvPr/>
        </p:nvSpPr>
        <p:spPr>
          <a:xfrm rot="0">
            <a:off x="13668375" y="2667000"/>
            <a:ext cx="3438525" cy="365760"/>
          </a:xfrm>
          <a:prstGeom prst="rect">
            <a:avLst/>
          </a:prstGeom>
        </p:spPr>
        <p:txBody>
          <a:bodyPr anchor="t" rtlCol="false" tIns="0" lIns="0" bIns="0" rIns="0">
            <a:spAutoFit/>
          </a:bodyPr>
          <a:lstStyle/>
          <a:p>
            <a:pPr algn="l">
              <a:lnSpc>
                <a:spcPts val="2940"/>
              </a:lnSpc>
            </a:pPr>
            <a:r>
              <a:rPr lang="en-US" sz="2100" b="true">
                <a:solidFill>
                  <a:srgbClr val="FFB000"/>
                </a:solidFill>
                <a:latin typeface="Arimo Bold"/>
                <a:ea typeface="Arimo Bold"/>
                <a:cs typeface="Arimo Bold"/>
                <a:sym typeface="Arimo Bold"/>
              </a:rPr>
              <a:t>R-02</a:t>
            </a:r>
          </a:p>
        </p:txBody>
      </p:sp>
      <p:sp>
        <p:nvSpPr>
          <p:cNvPr name="TextBox 37" id="37"/>
          <p:cNvSpPr txBox="true"/>
          <p:nvPr/>
        </p:nvSpPr>
        <p:spPr>
          <a:xfrm rot="0">
            <a:off x="1181100" y="3200400"/>
            <a:ext cx="3438525" cy="807720"/>
          </a:xfrm>
          <a:prstGeom prst="rect">
            <a:avLst/>
          </a:prstGeom>
        </p:spPr>
        <p:txBody>
          <a:bodyPr anchor="t" rtlCol="false" tIns="0" lIns="0" bIns="0" rIns="0">
            <a:spAutoFit/>
          </a:bodyPr>
          <a:lstStyle/>
          <a:p>
            <a:pPr algn="l">
              <a:lnSpc>
                <a:spcPts val="3135"/>
              </a:lnSpc>
            </a:pPr>
            <a:r>
              <a:rPr lang="en-US" sz="2850" b="true">
                <a:solidFill>
                  <a:srgbClr val="FFF4DF"/>
                </a:solidFill>
                <a:latin typeface="Arimo Bold"/>
                <a:ea typeface="Arimo Bold"/>
                <a:cs typeface="Arimo Bold"/>
                <a:sym typeface="Arimo Bold"/>
              </a:rPr>
              <a:t>Modelos con poca detección</a:t>
            </a:r>
          </a:p>
        </p:txBody>
      </p:sp>
      <p:sp>
        <p:nvSpPr>
          <p:cNvPr name="TextBox 38" id="38"/>
          <p:cNvSpPr txBox="true"/>
          <p:nvPr/>
        </p:nvSpPr>
        <p:spPr>
          <a:xfrm rot="0">
            <a:off x="5343525" y="3200400"/>
            <a:ext cx="3438525" cy="807720"/>
          </a:xfrm>
          <a:prstGeom prst="rect">
            <a:avLst/>
          </a:prstGeom>
        </p:spPr>
        <p:txBody>
          <a:bodyPr anchor="t" rtlCol="false" tIns="0" lIns="0" bIns="0" rIns="0">
            <a:spAutoFit/>
          </a:bodyPr>
          <a:lstStyle/>
          <a:p>
            <a:pPr algn="l">
              <a:lnSpc>
                <a:spcPts val="3135"/>
              </a:lnSpc>
            </a:pPr>
            <a:r>
              <a:rPr lang="en-US" sz="2850" b="true">
                <a:solidFill>
                  <a:srgbClr val="FFF4DF"/>
                </a:solidFill>
                <a:latin typeface="Arimo Bold"/>
                <a:ea typeface="Arimo Bold"/>
                <a:cs typeface="Arimo Bold"/>
                <a:sym typeface="Arimo Bold"/>
              </a:rPr>
              <a:t>Falsas alarmas reales no medidas</a:t>
            </a:r>
          </a:p>
        </p:txBody>
      </p:sp>
      <p:sp>
        <p:nvSpPr>
          <p:cNvPr name="TextBox 39" id="39"/>
          <p:cNvSpPr txBox="true"/>
          <p:nvPr/>
        </p:nvSpPr>
        <p:spPr>
          <a:xfrm rot="0">
            <a:off x="9505950" y="3200400"/>
            <a:ext cx="3438525" cy="417195"/>
          </a:xfrm>
          <a:prstGeom prst="rect">
            <a:avLst/>
          </a:prstGeom>
        </p:spPr>
        <p:txBody>
          <a:bodyPr anchor="t" rtlCol="false" tIns="0" lIns="0" bIns="0" rIns="0">
            <a:spAutoFit/>
          </a:bodyPr>
          <a:lstStyle/>
          <a:p>
            <a:pPr algn="l">
              <a:lnSpc>
                <a:spcPts val="3135"/>
              </a:lnSpc>
            </a:pPr>
            <a:r>
              <a:rPr lang="en-US" sz="2850" b="true">
                <a:solidFill>
                  <a:srgbClr val="FFF4DF"/>
                </a:solidFill>
                <a:latin typeface="Arimo Bold"/>
                <a:ea typeface="Arimo Bold"/>
                <a:cs typeface="Arimo Bold"/>
                <a:sym typeface="Arimo Bold"/>
              </a:rPr>
              <a:t>Plazo corto</a:t>
            </a:r>
          </a:p>
        </p:txBody>
      </p:sp>
      <p:sp>
        <p:nvSpPr>
          <p:cNvPr name="TextBox 40" id="40"/>
          <p:cNvSpPr txBox="true"/>
          <p:nvPr/>
        </p:nvSpPr>
        <p:spPr>
          <a:xfrm rot="0">
            <a:off x="13668375" y="3200400"/>
            <a:ext cx="3438525" cy="1198245"/>
          </a:xfrm>
          <a:prstGeom prst="rect">
            <a:avLst/>
          </a:prstGeom>
        </p:spPr>
        <p:txBody>
          <a:bodyPr anchor="t" rtlCol="false" tIns="0" lIns="0" bIns="0" rIns="0">
            <a:spAutoFit/>
          </a:bodyPr>
          <a:lstStyle/>
          <a:p>
            <a:pPr algn="l">
              <a:lnSpc>
                <a:spcPts val="3135"/>
              </a:lnSpc>
            </a:pPr>
            <a:r>
              <a:rPr lang="en-US" sz="2850" b="true">
                <a:solidFill>
                  <a:srgbClr val="FFF4DF"/>
                </a:solidFill>
                <a:latin typeface="Arimo Bold"/>
                <a:ea typeface="Arimo Bold"/>
                <a:cs typeface="Arimo Bold"/>
                <a:sym typeface="Arimo Bold"/>
              </a:rPr>
              <a:t>Material de entrenamiento limitado</a:t>
            </a:r>
          </a:p>
        </p:txBody>
      </p:sp>
      <p:sp>
        <p:nvSpPr>
          <p:cNvPr name="TextBox 41" id="41"/>
          <p:cNvSpPr txBox="true"/>
          <p:nvPr/>
        </p:nvSpPr>
        <p:spPr>
          <a:xfrm rot="0">
            <a:off x="1181100" y="4705350"/>
            <a:ext cx="3438525" cy="325755"/>
          </a:xfrm>
          <a:prstGeom prst="rect">
            <a:avLst/>
          </a:prstGeom>
        </p:spPr>
        <p:txBody>
          <a:bodyPr anchor="t" rtlCol="false" tIns="0" lIns="0" bIns="0" rIns="0">
            <a:spAutoFit/>
          </a:bodyPr>
          <a:lstStyle/>
          <a:p>
            <a:pPr algn="l">
              <a:lnSpc>
                <a:spcPts val="2520"/>
              </a:lnSpc>
            </a:pPr>
            <a:r>
              <a:rPr lang="en-US" sz="1800" b="true">
                <a:solidFill>
                  <a:srgbClr val="FFB000"/>
                </a:solidFill>
                <a:latin typeface="Arimo Bold"/>
                <a:ea typeface="Arimo Bold"/>
                <a:cs typeface="Arimo Bold"/>
                <a:sym typeface="Arimo Bold"/>
              </a:rPr>
              <a:t>MITIGACIÓN</a:t>
            </a:r>
          </a:p>
        </p:txBody>
      </p:sp>
      <p:sp>
        <p:nvSpPr>
          <p:cNvPr name="TextBox 42" id="42"/>
          <p:cNvSpPr txBox="true"/>
          <p:nvPr/>
        </p:nvSpPr>
        <p:spPr>
          <a:xfrm rot="0">
            <a:off x="5343525" y="4705350"/>
            <a:ext cx="3438525" cy="325755"/>
          </a:xfrm>
          <a:prstGeom prst="rect">
            <a:avLst/>
          </a:prstGeom>
        </p:spPr>
        <p:txBody>
          <a:bodyPr anchor="t" rtlCol="false" tIns="0" lIns="0" bIns="0" rIns="0">
            <a:spAutoFit/>
          </a:bodyPr>
          <a:lstStyle/>
          <a:p>
            <a:pPr algn="l">
              <a:lnSpc>
                <a:spcPts val="2520"/>
              </a:lnSpc>
            </a:pPr>
            <a:r>
              <a:rPr lang="en-US" sz="1800" b="true">
                <a:solidFill>
                  <a:srgbClr val="FFB000"/>
                </a:solidFill>
                <a:latin typeface="Arimo Bold"/>
                <a:ea typeface="Arimo Bold"/>
                <a:cs typeface="Arimo Bold"/>
                <a:sym typeface="Arimo Bold"/>
              </a:rPr>
              <a:t>MITIGACIÓN</a:t>
            </a:r>
          </a:p>
        </p:txBody>
      </p:sp>
      <p:sp>
        <p:nvSpPr>
          <p:cNvPr name="TextBox 43" id="43"/>
          <p:cNvSpPr txBox="true"/>
          <p:nvPr/>
        </p:nvSpPr>
        <p:spPr>
          <a:xfrm rot="0">
            <a:off x="9505950" y="4705350"/>
            <a:ext cx="3438525" cy="325755"/>
          </a:xfrm>
          <a:prstGeom prst="rect">
            <a:avLst/>
          </a:prstGeom>
        </p:spPr>
        <p:txBody>
          <a:bodyPr anchor="t" rtlCol="false" tIns="0" lIns="0" bIns="0" rIns="0">
            <a:spAutoFit/>
          </a:bodyPr>
          <a:lstStyle/>
          <a:p>
            <a:pPr algn="l">
              <a:lnSpc>
                <a:spcPts val="2520"/>
              </a:lnSpc>
            </a:pPr>
            <a:r>
              <a:rPr lang="en-US" sz="1800" b="true">
                <a:solidFill>
                  <a:srgbClr val="FFB000"/>
                </a:solidFill>
                <a:latin typeface="Arimo Bold"/>
                <a:ea typeface="Arimo Bold"/>
                <a:cs typeface="Arimo Bold"/>
                <a:sym typeface="Arimo Bold"/>
              </a:rPr>
              <a:t>MITIGACIÓN</a:t>
            </a:r>
          </a:p>
        </p:txBody>
      </p:sp>
      <p:sp>
        <p:nvSpPr>
          <p:cNvPr name="TextBox 44" id="44"/>
          <p:cNvSpPr txBox="true"/>
          <p:nvPr/>
        </p:nvSpPr>
        <p:spPr>
          <a:xfrm rot="0">
            <a:off x="13668375" y="4705350"/>
            <a:ext cx="3438525" cy="325755"/>
          </a:xfrm>
          <a:prstGeom prst="rect">
            <a:avLst/>
          </a:prstGeom>
        </p:spPr>
        <p:txBody>
          <a:bodyPr anchor="t" rtlCol="false" tIns="0" lIns="0" bIns="0" rIns="0">
            <a:spAutoFit/>
          </a:bodyPr>
          <a:lstStyle/>
          <a:p>
            <a:pPr algn="l">
              <a:lnSpc>
                <a:spcPts val="2520"/>
              </a:lnSpc>
            </a:pPr>
            <a:r>
              <a:rPr lang="en-US" sz="1800" b="true">
                <a:solidFill>
                  <a:srgbClr val="FFB000"/>
                </a:solidFill>
                <a:latin typeface="Arimo Bold"/>
                <a:ea typeface="Arimo Bold"/>
                <a:cs typeface="Arimo Bold"/>
                <a:sym typeface="Arimo Bold"/>
              </a:rPr>
              <a:t>MITIGACIÓN</a:t>
            </a:r>
          </a:p>
        </p:txBody>
      </p:sp>
      <p:sp>
        <p:nvSpPr>
          <p:cNvPr name="TextBox 45" id="45"/>
          <p:cNvSpPr txBox="true"/>
          <p:nvPr/>
        </p:nvSpPr>
        <p:spPr>
          <a:xfrm rot="0">
            <a:off x="1181100" y="5114925"/>
            <a:ext cx="3438525" cy="1071563"/>
          </a:xfrm>
          <a:prstGeom prst="rect">
            <a:avLst/>
          </a:prstGeom>
        </p:spPr>
        <p:txBody>
          <a:bodyPr anchor="t" rtlCol="false" tIns="0" lIns="0" bIns="0" rIns="0">
            <a:spAutoFit/>
          </a:bodyPr>
          <a:lstStyle/>
          <a:p>
            <a:pPr algn="l">
              <a:lnSpc>
                <a:spcPts val="2812"/>
              </a:lnSpc>
            </a:pPr>
            <a:r>
              <a:rPr lang="en-US" sz="2250">
                <a:solidFill>
                  <a:srgbClr val="FFF4DF"/>
                </a:solidFill>
                <a:latin typeface="Arimo"/>
                <a:ea typeface="Arimo"/>
                <a:cs typeface="Arimo"/>
                <a:sym typeface="Arimo"/>
              </a:rPr>
              <a:t>Confirmar en varios cuadros y dejar la decisión final en una persona.</a:t>
            </a:r>
          </a:p>
        </p:txBody>
      </p:sp>
      <p:sp>
        <p:nvSpPr>
          <p:cNvPr name="TextBox 46" id="46"/>
          <p:cNvSpPr txBox="true"/>
          <p:nvPr/>
        </p:nvSpPr>
        <p:spPr>
          <a:xfrm rot="0">
            <a:off x="5343525" y="5114925"/>
            <a:ext cx="3438525" cy="1423987"/>
          </a:xfrm>
          <a:prstGeom prst="rect">
            <a:avLst/>
          </a:prstGeom>
        </p:spPr>
        <p:txBody>
          <a:bodyPr anchor="t" rtlCol="false" tIns="0" lIns="0" bIns="0" rIns="0">
            <a:spAutoFit/>
          </a:bodyPr>
          <a:lstStyle/>
          <a:p>
            <a:pPr algn="l">
              <a:lnSpc>
                <a:spcPts val="2812"/>
              </a:lnSpc>
            </a:pPr>
            <a:r>
              <a:rPr lang="en-US" sz="2250">
                <a:solidFill>
                  <a:srgbClr val="FFF4DF"/>
                </a:solidFill>
                <a:latin typeface="Arimo"/>
                <a:ea typeface="Arimo"/>
                <a:cs typeface="Arimo"/>
                <a:sym typeface="Arimo"/>
              </a:rPr>
              <a:t>Medir las falsas alarmas por hora con videos de prueba antes de la entrega.</a:t>
            </a:r>
          </a:p>
        </p:txBody>
      </p:sp>
      <p:sp>
        <p:nvSpPr>
          <p:cNvPr name="TextBox 47" id="47"/>
          <p:cNvSpPr txBox="true"/>
          <p:nvPr/>
        </p:nvSpPr>
        <p:spPr>
          <a:xfrm rot="0">
            <a:off x="9505950" y="5114925"/>
            <a:ext cx="3438525" cy="1071563"/>
          </a:xfrm>
          <a:prstGeom prst="rect">
            <a:avLst/>
          </a:prstGeom>
        </p:spPr>
        <p:txBody>
          <a:bodyPr anchor="t" rtlCol="false" tIns="0" lIns="0" bIns="0" rIns="0">
            <a:spAutoFit/>
          </a:bodyPr>
          <a:lstStyle/>
          <a:p>
            <a:pPr algn="l">
              <a:lnSpc>
                <a:spcPts val="2812"/>
              </a:lnSpc>
            </a:pPr>
            <a:r>
              <a:rPr lang="en-US" sz="2250">
                <a:solidFill>
                  <a:srgbClr val="FFF4DF"/>
                </a:solidFill>
                <a:latin typeface="Arimo"/>
                <a:ea typeface="Arimo"/>
                <a:cs typeface="Arimo"/>
                <a:sym typeface="Arimo"/>
              </a:rPr>
              <a:t>Priorizar lo esencial y revisar el avance cada semana.</a:t>
            </a:r>
          </a:p>
        </p:txBody>
      </p:sp>
      <p:sp>
        <p:nvSpPr>
          <p:cNvPr name="TextBox 48" id="48"/>
          <p:cNvSpPr txBox="true"/>
          <p:nvPr/>
        </p:nvSpPr>
        <p:spPr>
          <a:xfrm rot="0">
            <a:off x="13668375" y="5114925"/>
            <a:ext cx="3438525" cy="1071563"/>
          </a:xfrm>
          <a:prstGeom prst="rect">
            <a:avLst/>
          </a:prstGeom>
        </p:spPr>
        <p:txBody>
          <a:bodyPr anchor="t" rtlCol="false" tIns="0" lIns="0" bIns="0" rIns="0">
            <a:spAutoFit/>
          </a:bodyPr>
          <a:lstStyle/>
          <a:p>
            <a:pPr algn="l">
              <a:lnSpc>
                <a:spcPts val="2812"/>
              </a:lnSpc>
            </a:pPr>
            <a:r>
              <a:rPr lang="en-US" sz="2250">
                <a:solidFill>
                  <a:srgbClr val="FFF4DF"/>
                </a:solidFill>
                <a:latin typeface="Arimo"/>
                <a:ea typeface="Arimo"/>
                <a:cs typeface="Arimo"/>
                <a:sym typeface="Arimo"/>
              </a:rPr>
              <a:t>Sumar datos locales y declarar la brecha con claridad.</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52475"/>
            <a:ext cx="16192500" cy="645729"/>
          </a:xfrm>
          <a:prstGeom prst="rect">
            <a:avLst/>
          </a:prstGeom>
        </p:spPr>
        <p:txBody>
          <a:bodyPr anchor="t" rtlCol="false" tIns="0" lIns="0" bIns="0" rIns="0">
            <a:spAutoFit/>
          </a:bodyPr>
          <a:lstStyle/>
          <a:p>
            <a:pPr algn="l" marL="0" indent="0" lvl="0">
              <a:lnSpc>
                <a:spcPts val="4800"/>
              </a:lnSpc>
              <a:spcBef>
                <a:spcPct val="0"/>
              </a:spcBef>
            </a:pPr>
            <a:r>
              <a:rPr lang="en-US" b="true" sz="4800" strike="noStrike" u="none">
                <a:solidFill>
                  <a:srgbClr val="FFF4DF"/>
                </a:solidFill>
                <a:latin typeface="Barlow Condensed Bold"/>
                <a:ea typeface="Barlow Condensed Bold"/>
                <a:cs typeface="Barlow Condensed Bold"/>
                <a:sym typeface="Barlow Condensed Bold"/>
              </a:rPr>
              <a:t>REQUISITOS Y TRAZABILIDAD</a:t>
            </a:r>
          </a:p>
        </p:txBody>
      </p:sp>
      <p:sp>
        <p:nvSpPr>
          <p:cNvPr name="TextBox 3" id="3"/>
          <p:cNvSpPr txBox="true"/>
          <p:nvPr/>
        </p:nvSpPr>
        <p:spPr>
          <a:xfrm rot="0">
            <a:off x="952500" y="2809875"/>
            <a:ext cx="4953000" cy="994410"/>
          </a:xfrm>
          <a:prstGeom prst="rect">
            <a:avLst/>
          </a:prstGeom>
        </p:spPr>
        <p:txBody>
          <a:bodyPr anchor="t" rtlCol="false" tIns="0" lIns="0" bIns="0" rIns="0">
            <a:spAutoFit/>
          </a:bodyPr>
          <a:lstStyle/>
          <a:p>
            <a:pPr algn="l">
              <a:lnSpc>
                <a:spcPts val="7290"/>
              </a:lnSpc>
            </a:pPr>
            <a:r>
              <a:rPr lang="en-US" sz="8100">
                <a:solidFill>
                  <a:srgbClr val="FF5A1F"/>
                </a:solidFill>
                <a:latin typeface="Archivo Black"/>
                <a:ea typeface="Archivo Black"/>
                <a:cs typeface="Archivo Black"/>
                <a:sym typeface="Archivo Black"/>
              </a:rPr>
              <a:t>94%</a:t>
            </a:r>
          </a:p>
        </p:txBody>
      </p:sp>
      <p:sp>
        <p:nvSpPr>
          <p:cNvPr name="TextBox 4" id="4"/>
          <p:cNvSpPr txBox="true"/>
          <p:nvPr/>
        </p:nvSpPr>
        <p:spPr>
          <a:xfrm rot="0">
            <a:off x="952500" y="3781425"/>
            <a:ext cx="5715000" cy="340995"/>
          </a:xfrm>
          <a:prstGeom prst="rect">
            <a:avLst/>
          </a:prstGeom>
        </p:spPr>
        <p:txBody>
          <a:bodyPr anchor="t" rtlCol="false" tIns="0" lIns="0" bIns="0" rIns="0">
            <a:spAutoFit/>
          </a:bodyPr>
          <a:lstStyle/>
          <a:p>
            <a:pPr algn="l">
              <a:lnSpc>
                <a:spcPts val="2835"/>
              </a:lnSpc>
            </a:pPr>
            <a:r>
              <a:rPr lang="en-US" sz="2100">
                <a:solidFill>
                  <a:srgbClr val="FFF4DF"/>
                </a:solidFill>
                <a:latin typeface="Open Sans"/>
                <a:ea typeface="Open Sans"/>
                <a:cs typeface="Open Sans"/>
                <a:sym typeface="Open Sans"/>
              </a:rPr>
              <a:t>16 de 17 funcionales implementados</a:t>
            </a:r>
          </a:p>
        </p:txBody>
      </p:sp>
      <p:sp>
        <p:nvSpPr>
          <p:cNvPr name="TextBox 5" id="5"/>
          <p:cNvSpPr txBox="true"/>
          <p:nvPr/>
        </p:nvSpPr>
        <p:spPr>
          <a:xfrm rot="0">
            <a:off x="6953250" y="2809875"/>
            <a:ext cx="4095750" cy="994410"/>
          </a:xfrm>
          <a:prstGeom prst="rect">
            <a:avLst/>
          </a:prstGeom>
        </p:spPr>
        <p:txBody>
          <a:bodyPr anchor="t" rtlCol="false" tIns="0" lIns="0" bIns="0" rIns="0">
            <a:spAutoFit/>
          </a:bodyPr>
          <a:lstStyle/>
          <a:p>
            <a:pPr algn="l">
              <a:lnSpc>
                <a:spcPts val="7290"/>
              </a:lnSpc>
            </a:pPr>
            <a:r>
              <a:rPr lang="en-US" sz="8100">
                <a:solidFill>
                  <a:srgbClr val="FFB000"/>
                </a:solidFill>
                <a:latin typeface="Archivo Black"/>
                <a:ea typeface="Archivo Black"/>
                <a:cs typeface="Archivo Black"/>
                <a:sym typeface="Archivo Black"/>
              </a:rPr>
              <a:t>8/12</a:t>
            </a:r>
          </a:p>
        </p:txBody>
      </p:sp>
      <p:sp>
        <p:nvSpPr>
          <p:cNvPr name="TextBox 6" id="6"/>
          <p:cNvSpPr txBox="true"/>
          <p:nvPr/>
        </p:nvSpPr>
        <p:spPr>
          <a:xfrm rot="0">
            <a:off x="6953250" y="3781425"/>
            <a:ext cx="4095750" cy="340995"/>
          </a:xfrm>
          <a:prstGeom prst="rect">
            <a:avLst/>
          </a:prstGeom>
        </p:spPr>
        <p:txBody>
          <a:bodyPr anchor="t" rtlCol="false" tIns="0" lIns="0" bIns="0" rIns="0">
            <a:spAutoFit/>
          </a:bodyPr>
          <a:lstStyle/>
          <a:p>
            <a:pPr algn="l">
              <a:lnSpc>
                <a:spcPts val="2835"/>
              </a:lnSpc>
            </a:pPr>
            <a:r>
              <a:rPr lang="en-US" sz="2100">
                <a:solidFill>
                  <a:srgbClr val="FFF4DF"/>
                </a:solidFill>
                <a:latin typeface="Open Sans"/>
                <a:ea typeface="Open Sans"/>
                <a:cs typeface="Open Sans"/>
                <a:sym typeface="Open Sans"/>
              </a:rPr>
              <a:t>no funcionales cumplidos</a:t>
            </a:r>
          </a:p>
        </p:txBody>
      </p:sp>
      <p:sp>
        <p:nvSpPr>
          <p:cNvPr name="TextBox 7" id="7"/>
          <p:cNvSpPr txBox="true"/>
          <p:nvPr/>
        </p:nvSpPr>
        <p:spPr>
          <a:xfrm rot="0">
            <a:off x="12573000" y="2809875"/>
            <a:ext cx="3048000" cy="994410"/>
          </a:xfrm>
          <a:prstGeom prst="rect">
            <a:avLst/>
          </a:prstGeom>
        </p:spPr>
        <p:txBody>
          <a:bodyPr anchor="t" rtlCol="false" tIns="0" lIns="0" bIns="0" rIns="0">
            <a:spAutoFit/>
          </a:bodyPr>
          <a:lstStyle/>
          <a:p>
            <a:pPr algn="l">
              <a:lnSpc>
                <a:spcPts val="7290"/>
              </a:lnSpc>
            </a:pPr>
            <a:r>
              <a:rPr lang="en-US" sz="8100">
                <a:solidFill>
                  <a:srgbClr val="D92D20"/>
                </a:solidFill>
                <a:latin typeface="Archivo Black"/>
                <a:ea typeface="Archivo Black"/>
                <a:cs typeface="Archivo Black"/>
                <a:sym typeface="Archivo Black"/>
              </a:rPr>
              <a:t>11</a:t>
            </a:r>
          </a:p>
        </p:txBody>
      </p:sp>
      <p:sp>
        <p:nvSpPr>
          <p:cNvPr name="TextBox 8" id="8"/>
          <p:cNvSpPr txBox="true"/>
          <p:nvPr/>
        </p:nvSpPr>
        <p:spPr>
          <a:xfrm rot="0">
            <a:off x="12573000" y="3781425"/>
            <a:ext cx="3429000" cy="340995"/>
          </a:xfrm>
          <a:prstGeom prst="rect">
            <a:avLst/>
          </a:prstGeom>
        </p:spPr>
        <p:txBody>
          <a:bodyPr anchor="t" rtlCol="false" tIns="0" lIns="0" bIns="0" rIns="0">
            <a:spAutoFit/>
          </a:bodyPr>
          <a:lstStyle/>
          <a:p>
            <a:pPr algn="l">
              <a:lnSpc>
                <a:spcPts val="2835"/>
              </a:lnSpc>
            </a:pPr>
            <a:r>
              <a:rPr lang="en-US" sz="2100">
                <a:solidFill>
                  <a:srgbClr val="FFF4DF"/>
                </a:solidFill>
                <a:latin typeface="Open Sans"/>
                <a:ea typeface="Open Sans"/>
                <a:cs typeface="Open Sans"/>
                <a:sym typeface="Open Sans"/>
              </a:rPr>
              <a:t>casos de uso</a:t>
            </a:r>
          </a:p>
        </p:txBody>
      </p:sp>
      <p:sp>
        <p:nvSpPr>
          <p:cNvPr name="TextBox 9" id="9"/>
          <p:cNvSpPr txBox="true"/>
          <p:nvPr/>
        </p:nvSpPr>
        <p:spPr>
          <a:xfrm rot="0">
            <a:off x="952500" y="7762875"/>
            <a:ext cx="16383000" cy="430530"/>
          </a:xfrm>
          <a:prstGeom prst="rect">
            <a:avLst/>
          </a:prstGeom>
        </p:spPr>
        <p:txBody>
          <a:bodyPr anchor="t" rtlCol="false" tIns="0" lIns="0" bIns="0" rIns="0">
            <a:spAutoFit/>
          </a:bodyPr>
          <a:lstStyle/>
          <a:p>
            <a:pPr algn="l">
              <a:lnSpc>
                <a:spcPts val="3569"/>
              </a:lnSpc>
            </a:pPr>
            <a:r>
              <a:rPr lang="en-US" sz="2550" b="true">
                <a:solidFill>
                  <a:srgbClr val="FFF4DF"/>
                </a:solidFill>
                <a:latin typeface="Open Sans Bold"/>
                <a:ea typeface="Open Sans Bold"/>
                <a:cs typeface="Open Sans Bold"/>
                <a:sym typeface="Open Sans Bold"/>
              </a:rPr>
              <a:t>La matriz conecta requisito → caso de uso → prueba → evidencia.</a:t>
            </a:r>
          </a:p>
        </p:txBody>
      </p:sp>
      <p:grpSp>
        <p:nvGrpSpPr>
          <p:cNvPr name="Group 10" id="10"/>
          <p:cNvGrpSpPr/>
          <p:nvPr/>
        </p:nvGrpSpPr>
        <p:grpSpPr>
          <a:xfrm rot="0">
            <a:off x="552450" y="666750"/>
            <a:ext cx="133350" cy="1123950"/>
            <a:chOff x="0" y="0"/>
            <a:chExt cx="177800" cy="1498600"/>
          </a:xfrm>
        </p:grpSpPr>
        <p:sp>
          <p:nvSpPr>
            <p:cNvPr name="Freeform 11" id="11"/>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p:spPr>
        </p:sp>
        <p:sp>
          <p:nvSpPr>
            <p:cNvPr name="TextBox 12" id="12"/>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952500" y="1419225"/>
            <a:ext cx="14287500" cy="365694"/>
          </a:xfrm>
          <a:prstGeom prst="rect">
            <a:avLst/>
          </a:prstGeom>
        </p:spPr>
        <p:txBody>
          <a:bodyPr anchor="t" rtlCol="false" tIns="0" lIns="0" bIns="0" rIns="0">
            <a:spAutoFit/>
          </a:bodyPr>
          <a:lstStyle/>
          <a:p>
            <a:pPr algn="l">
              <a:lnSpc>
                <a:spcPts val="2940"/>
              </a:lnSpc>
            </a:pPr>
            <a:r>
              <a:rPr lang="en-US" sz="2100">
                <a:solidFill>
                  <a:srgbClr val="FFB000"/>
                </a:solidFill>
                <a:latin typeface="IBM Plex Mono"/>
                <a:ea typeface="IBM Plex Mono"/>
                <a:cs typeface="IBM Plex Mono"/>
                <a:sym typeface="IBM Plex Mono"/>
              </a:rPr>
              <a:t>Qué pedimos, qué construimos y cómo lo comprobamos</a:t>
            </a:r>
          </a:p>
        </p:txBody>
      </p:sp>
      <p:sp>
        <p:nvSpPr>
          <p:cNvPr name="TextBox 14" id="14"/>
          <p:cNvSpPr txBox="true"/>
          <p:nvPr/>
        </p:nvSpPr>
        <p:spPr>
          <a:xfrm rot="0">
            <a:off x="952500" y="4857750"/>
            <a:ext cx="8572500" cy="365760"/>
          </a:xfrm>
          <a:prstGeom prst="rect">
            <a:avLst/>
          </a:prstGeom>
        </p:spPr>
        <p:txBody>
          <a:bodyPr anchor="t" rtlCol="false" tIns="0" lIns="0" bIns="0" rIns="0">
            <a:spAutoFit/>
          </a:bodyPr>
          <a:lstStyle/>
          <a:p>
            <a:pPr algn="l">
              <a:lnSpc>
                <a:spcPts val="2940"/>
              </a:lnSpc>
            </a:pPr>
            <a:r>
              <a:rPr lang="en-US" sz="2100" b="true">
                <a:solidFill>
                  <a:srgbClr val="FF5A1F"/>
                </a:solidFill>
                <a:latin typeface="Arimo Bold"/>
                <a:ea typeface="Arimo Bold"/>
                <a:cs typeface="Arimo Bold"/>
                <a:sym typeface="Arimo Bold"/>
              </a:rPr>
              <a:t>FUNCIONALES: 16 de 17 implementados</a:t>
            </a:r>
          </a:p>
        </p:txBody>
      </p:sp>
      <p:grpSp>
        <p:nvGrpSpPr>
          <p:cNvPr name="Group 15" id="15"/>
          <p:cNvGrpSpPr/>
          <p:nvPr/>
        </p:nvGrpSpPr>
        <p:grpSpPr>
          <a:xfrm rot="0">
            <a:off x="952500" y="5381625"/>
            <a:ext cx="16383000" cy="381000"/>
            <a:chOff x="0" y="0"/>
            <a:chExt cx="21844000" cy="508000"/>
          </a:xfrm>
        </p:grpSpPr>
        <p:sp>
          <p:nvSpPr>
            <p:cNvPr name="Freeform 16" id="16"/>
            <p:cNvSpPr/>
            <p:nvPr/>
          </p:nvSpPr>
          <p:spPr>
            <a:xfrm flipH="false" flipV="false" rot="0">
              <a:off x="0" y="0"/>
              <a:ext cx="21844000" cy="508000"/>
            </a:xfrm>
            <a:custGeom>
              <a:avLst/>
              <a:gdLst/>
              <a:ahLst/>
              <a:cxnLst/>
              <a:rect r="r" b="b" t="t" l="l"/>
              <a:pathLst>
                <a:path h="508000" w="21844000">
                  <a:moveTo>
                    <a:pt x="0" y="0"/>
                  </a:moveTo>
                  <a:lnTo>
                    <a:pt x="21844000" y="0"/>
                  </a:lnTo>
                  <a:lnTo>
                    <a:pt x="21844000" y="508000"/>
                  </a:lnTo>
                  <a:lnTo>
                    <a:pt x="0" y="508000"/>
                  </a:lnTo>
                  <a:close/>
                </a:path>
              </a:pathLst>
            </a:custGeom>
            <a:solidFill>
              <a:srgbClr val="3A2D28"/>
            </a:solidFill>
          </p:spPr>
        </p:sp>
        <p:sp>
          <p:nvSpPr>
            <p:cNvPr name="TextBox 17" id="17"/>
            <p:cNvSpPr txBox="true"/>
            <p:nvPr/>
          </p:nvSpPr>
          <p:spPr>
            <a:xfrm>
              <a:off x="0" y="-38100"/>
              <a:ext cx="21844000" cy="546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952500" y="5381625"/>
            <a:ext cx="15420975" cy="381000"/>
            <a:chOff x="0" y="0"/>
            <a:chExt cx="20561300" cy="508000"/>
          </a:xfrm>
        </p:grpSpPr>
        <p:sp>
          <p:nvSpPr>
            <p:cNvPr name="Freeform 19" id="19"/>
            <p:cNvSpPr/>
            <p:nvPr/>
          </p:nvSpPr>
          <p:spPr>
            <a:xfrm flipH="false" flipV="false" rot="0">
              <a:off x="0" y="0"/>
              <a:ext cx="20561300" cy="508000"/>
            </a:xfrm>
            <a:custGeom>
              <a:avLst/>
              <a:gdLst/>
              <a:ahLst/>
              <a:cxnLst/>
              <a:rect r="r" b="b" t="t" l="l"/>
              <a:pathLst>
                <a:path h="508000" w="20561300">
                  <a:moveTo>
                    <a:pt x="0" y="0"/>
                  </a:moveTo>
                  <a:lnTo>
                    <a:pt x="20561300" y="0"/>
                  </a:lnTo>
                  <a:lnTo>
                    <a:pt x="20561300" y="508000"/>
                  </a:lnTo>
                  <a:lnTo>
                    <a:pt x="0" y="508000"/>
                  </a:lnTo>
                  <a:close/>
                </a:path>
              </a:pathLst>
            </a:custGeom>
            <a:solidFill>
              <a:srgbClr val="FF5A1F"/>
            </a:solidFill>
          </p:spPr>
        </p:sp>
        <p:sp>
          <p:nvSpPr>
            <p:cNvPr name="TextBox 20" id="20"/>
            <p:cNvSpPr txBox="true"/>
            <p:nvPr/>
          </p:nvSpPr>
          <p:spPr>
            <a:xfrm>
              <a:off x="0" y="-38100"/>
              <a:ext cx="20561300" cy="546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952500" y="6000750"/>
            <a:ext cx="8572500" cy="365760"/>
          </a:xfrm>
          <a:prstGeom prst="rect">
            <a:avLst/>
          </a:prstGeom>
        </p:spPr>
        <p:txBody>
          <a:bodyPr anchor="t" rtlCol="false" tIns="0" lIns="0" bIns="0" rIns="0">
            <a:spAutoFit/>
          </a:bodyPr>
          <a:lstStyle/>
          <a:p>
            <a:pPr algn="l">
              <a:lnSpc>
                <a:spcPts val="2940"/>
              </a:lnSpc>
            </a:pPr>
            <a:r>
              <a:rPr lang="en-US" sz="2100" b="true">
                <a:solidFill>
                  <a:srgbClr val="FFB000"/>
                </a:solidFill>
                <a:latin typeface="Arimo Bold"/>
                <a:ea typeface="Arimo Bold"/>
                <a:cs typeface="Arimo Bold"/>
                <a:sym typeface="Arimo Bold"/>
              </a:rPr>
              <a:t>NO FUNCIONALES: 8 de 12 cumplidos</a:t>
            </a:r>
          </a:p>
        </p:txBody>
      </p:sp>
      <p:grpSp>
        <p:nvGrpSpPr>
          <p:cNvPr name="Group 22" id="22"/>
          <p:cNvGrpSpPr/>
          <p:nvPr/>
        </p:nvGrpSpPr>
        <p:grpSpPr>
          <a:xfrm rot="0">
            <a:off x="952500" y="6524625"/>
            <a:ext cx="16383000" cy="381000"/>
            <a:chOff x="0" y="0"/>
            <a:chExt cx="21844000" cy="508000"/>
          </a:xfrm>
        </p:grpSpPr>
        <p:sp>
          <p:nvSpPr>
            <p:cNvPr name="Freeform 23" id="23"/>
            <p:cNvSpPr/>
            <p:nvPr/>
          </p:nvSpPr>
          <p:spPr>
            <a:xfrm flipH="false" flipV="false" rot="0">
              <a:off x="0" y="0"/>
              <a:ext cx="21844000" cy="508000"/>
            </a:xfrm>
            <a:custGeom>
              <a:avLst/>
              <a:gdLst/>
              <a:ahLst/>
              <a:cxnLst/>
              <a:rect r="r" b="b" t="t" l="l"/>
              <a:pathLst>
                <a:path h="508000" w="21844000">
                  <a:moveTo>
                    <a:pt x="0" y="0"/>
                  </a:moveTo>
                  <a:lnTo>
                    <a:pt x="21844000" y="0"/>
                  </a:lnTo>
                  <a:lnTo>
                    <a:pt x="21844000" y="508000"/>
                  </a:lnTo>
                  <a:lnTo>
                    <a:pt x="0" y="508000"/>
                  </a:lnTo>
                  <a:close/>
                </a:path>
              </a:pathLst>
            </a:custGeom>
            <a:solidFill>
              <a:srgbClr val="3A2D28"/>
            </a:solidFill>
          </p:spPr>
        </p:sp>
        <p:sp>
          <p:nvSpPr>
            <p:cNvPr name="TextBox 24" id="24"/>
            <p:cNvSpPr txBox="true"/>
            <p:nvPr/>
          </p:nvSpPr>
          <p:spPr>
            <a:xfrm>
              <a:off x="0" y="-38100"/>
              <a:ext cx="21844000" cy="546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952500" y="6524625"/>
            <a:ext cx="10925175" cy="381000"/>
            <a:chOff x="0" y="0"/>
            <a:chExt cx="14566900" cy="508000"/>
          </a:xfrm>
        </p:grpSpPr>
        <p:sp>
          <p:nvSpPr>
            <p:cNvPr name="Freeform 26" id="26"/>
            <p:cNvSpPr/>
            <p:nvPr/>
          </p:nvSpPr>
          <p:spPr>
            <a:xfrm flipH="false" flipV="false" rot="0">
              <a:off x="0" y="0"/>
              <a:ext cx="14566900" cy="508000"/>
            </a:xfrm>
            <a:custGeom>
              <a:avLst/>
              <a:gdLst/>
              <a:ahLst/>
              <a:cxnLst/>
              <a:rect r="r" b="b" t="t" l="l"/>
              <a:pathLst>
                <a:path h="508000" w="14566900">
                  <a:moveTo>
                    <a:pt x="0" y="0"/>
                  </a:moveTo>
                  <a:lnTo>
                    <a:pt x="14566900" y="0"/>
                  </a:lnTo>
                  <a:lnTo>
                    <a:pt x="14566900" y="508000"/>
                  </a:lnTo>
                  <a:lnTo>
                    <a:pt x="0" y="508000"/>
                  </a:lnTo>
                  <a:close/>
                </a:path>
              </a:pathLst>
            </a:custGeom>
            <a:solidFill>
              <a:srgbClr val="FFB000"/>
            </a:solidFill>
          </p:spPr>
        </p:sp>
        <p:sp>
          <p:nvSpPr>
            <p:cNvPr name="TextBox 27" id="27"/>
            <p:cNvSpPr txBox="true"/>
            <p:nvPr/>
          </p:nvSpPr>
          <p:spPr>
            <a:xfrm>
              <a:off x="0" y="-38100"/>
              <a:ext cx="14566900" cy="546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952500" y="8420100"/>
            <a:ext cx="16383000" cy="400050"/>
          </a:xfrm>
          <a:prstGeom prst="rect">
            <a:avLst/>
          </a:prstGeom>
        </p:spPr>
        <p:txBody>
          <a:bodyPr anchor="t" rtlCol="false" tIns="0" lIns="0" bIns="0" rIns="0">
            <a:spAutoFit/>
          </a:bodyPr>
          <a:lstStyle/>
          <a:p>
            <a:pPr algn="l">
              <a:lnSpc>
                <a:spcPts val="3149"/>
              </a:lnSpc>
            </a:pPr>
            <a:r>
              <a:rPr lang="en-US" sz="2250">
                <a:solidFill>
                  <a:srgbClr val="FFB000"/>
                </a:solidFill>
                <a:latin typeface="Arimo"/>
                <a:ea typeface="Arimo"/>
                <a:cs typeface="Arimo"/>
                <a:sym typeface="Arimo"/>
              </a:rPr>
              <a:t>Pendientes: 1 funcional y 4 no funcionales, por cerrar antes de la entrega.</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4287500" cy="629412"/>
          </a:xfrm>
          <a:prstGeom prst="rect">
            <a:avLst/>
          </a:prstGeom>
        </p:spPr>
        <p:txBody>
          <a:bodyPr anchor="t" rtlCol="false" tIns="0" lIns="0" bIns="0" rIns="0">
            <a:spAutoFit/>
          </a:bodyPr>
          <a:lstStyle/>
          <a:p>
            <a:pPr algn="l" marL="0" indent="0" lvl="0">
              <a:lnSpc>
                <a:spcPts val="4704"/>
              </a:lnSpc>
              <a:spcBef>
                <a:spcPct val="0"/>
              </a:spcBef>
            </a:pPr>
            <a:r>
              <a:rPr lang="en-US" b="true" sz="4800" spc="-144" strike="noStrike" u="none">
                <a:solidFill>
                  <a:srgbClr val="FFF3DF"/>
                </a:solidFill>
                <a:latin typeface="Barlow Condensed Bold"/>
                <a:ea typeface="Barlow Condensed Bold"/>
                <a:cs typeface="Barlow Condensed Bold"/>
                <a:sym typeface="Barlow Condensed Bold"/>
              </a:rPr>
              <a:t>SEGURIDAD, PRIVACIDAD Y ÉTICA</a:t>
            </a:r>
          </a:p>
        </p:txBody>
      </p:sp>
      <p:sp>
        <p:nvSpPr>
          <p:cNvPr name="TextBox 3" id="3"/>
          <p:cNvSpPr txBox="true"/>
          <p:nvPr/>
        </p:nvSpPr>
        <p:spPr>
          <a:xfrm rot="0">
            <a:off x="952500" y="1489710"/>
            <a:ext cx="12382500" cy="339090"/>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FFB000"/>
                </a:solidFill>
                <a:latin typeface="IBM Plex Mono"/>
                <a:ea typeface="IBM Plex Mono"/>
                <a:cs typeface="IBM Plex Mono"/>
                <a:sym typeface="IBM Plex Mono"/>
              </a:rPr>
              <a:t>Proteger el sistema, los datos y la decisión humana</a:t>
            </a:r>
          </a:p>
        </p:txBody>
      </p:sp>
      <p:grpSp>
        <p:nvGrpSpPr>
          <p:cNvPr name="Group 4" id="4"/>
          <p:cNvGrpSpPr/>
          <p:nvPr/>
        </p:nvGrpSpPr>
        <p:grpSpPr>
          <a:xfrm rot="0">
            <a:off x="552450" y="666750"/>
            <a:ext cx="133350" cy="1123950"/>
            <a:chOff x="0" y="0"/>
            <a:chExt cx="177800" cy="1498600"/>
          </a:xfrm>
        </p:grpSpPr>
        <p:sp>
          <p:nvSpPr>
            <p:cNvPr name="Freeform 5" id="5"/>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3B3F"/>
            </a:solidFill>
            <a:ln cap="sq">
              <a:noFill/>
              <a:prstDash val="solid"/>
              <a:miter/>
            </a:ln>
          </p:spPr>
        </p:sp>
        <p:sp>
          <p:nvSpPr>
            <p:cNvPr name="TextBox 6" id="6"/>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952500" y="2381250"/>
            <a:ext cx="5200650" cy="3810000"/>
            <a:chOff x="0" y="0"/>
            <a:chExt cx="6934200" cy="5080000"/>
          </a:xfrm>
        </p:grpSpPr>
        <p:sp>
          <p:nvSpPr>
            <p:cNvPr name="Freeform 8" id="8"/>
            <p:cNvSpPr/>
            <p:nvPr/>
          </p:nvSpPr>
          <p:spPr>
            <a:xfrm flipH="false" flipV="false" rot="0">
              <a:off x="0" y="0"/>
              <a:ext cx="6934200" cy="5080000"/>
            </a:xfrm>
            <a:custGeom>
              <a:avLst/>
              <a:gdLst/>
              <a:ahLst/>
              <a:cxnLst/>
              <a:rect r="r" b="b" t="t" l="l"/>
              <a:pathLst>
                <a:path h="5080000" w="6934200">
                  <a:moveTo>
                    <a:pt x="0" y="0"/>
                  </a:moveTo>
                  <a:lnTo>
                    <a:pt x="6934200" y="0"/>
                  </a:lnTo>
                  <a:lnTo>
                    <a:pt x="6934200" y="5080000"/>
                  </a:lnTo>
                  <a:lnTo>
                    <a:pt x="0" y="5080000"/>
                  </a:lnTo>
                  <a:close/>
                </a:path>
              </a:pathLst>
            </a:custGeom>
            <a:solidFill>
              <a:srgbClr val="221B18"/>
            </a:solidFill>
          </p:spPr>
        </p:sp>
        <p:sp>
          <p:nvSpPr>
            <p:cNvPr name="TextBox 9" id="9"/>
            <p:cNvSpPr txBox="true"/>
            <p:nvPr/>
          </p:nvSpPr>
          <p:spPr>
            <a:xfrm>
              <a:off x="0" y="-38100"/>
              <a:ext cx="6934200" cy="511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534150" y="2381250"/>
            <a:ext cx="5200650" cy="3810000"/>
            <a:chOff x="0" y="0"/>
            <a:chExt cx="6934200" cy="5080000"/>
          </a:xfrm>
        </p:grpSpPr>
        <p:sp>
          <p:nvSpPr>
            <p:cNvPr name="Freeform 11" id="11"/>
            <p:cNvSpPr/>
            <p:nvPr/>
          </p:nvSpPr>
          <p:spPr>
            <a:xfrm flipH="false" flipV="false" rot="0">
              <a:off x="0" y="0"/>
              <a:ext cx="6934200" cy="5080000"/>
            </a:xfrm>
            <a:custGeom>
              <a:avLst/>
              <a:gdLst/>
              <a:ahLst/>
              <a:cxnLst/>
              <a:rect r="r" b="b" t="t" l="l"/>
              <a:pathLst>
                <a:path h="5080000" w="6934200">
                  <a:moveTo>
                    <a:pt x="0" y="0"/>
                  </a:moveTo>
                  <a:lnTo>
                    <a:pt x="6934200" y="0"/>
                  </a:lnTo>
                  <a:lnTo>
                    <a:pt x="6934200" y="5080000"/>
                  </a:lnTo>
                  <a:lnTo>
                    <a:pt x="0" y="5080000"/>
                  </a:lnTo>
                  <a:close/>
                </a:path>
              </a:pathLst>
            </a:custGeom>
            <a:solidFill>
              <a:srgbClr val="221B18"/>
            </a:solidFill>
          </p:spPr>
        </p:sp>
        <p:sp>
          <p:nvSpPr>
            <p:cNvPr name="TextBox 12" id="12"/>
            <p:cNvSpPr txBox="true"/>
            <p:nvPr/>
          </p:nvSpPr>
          <p:spPr>
            <a:xfrm>
              <a:off x="0" y="-38100"/>
              <a:ext cx="6934200" cy="5118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2115800" y="2381250"/>
            <a:ext cx="5200650" cy="3810000"/>
            <a:chOff x="0" y="0"/>
            <a:chExt cx="6934200" cy="5080000"/>
          </a:xfrm>
        </p:grpSpPr>
        <p:sp>
          <p:nvSpPr>
            <p:cNvPr name="Freeform 14" id="14"/>
            <p:cNvSpPr/>
            <p:nvPr/>
          </p:nvSpPr>
          <p:spPr>
            <a:xfrm flipH="false" flipV="false" rot="0">
              <a:off x="0" y="0"/>
              <a:ext cx="6934200" cy="5080000"/>
            </a:xfrm>
            <a:custGeom>
              <a:avLst/>
              <a:gdLst/>
              <a:ahLst/>
              <a:cxnLst/>
              <a:rect r="r" b="b" t="t" l="l"/>
              <a:pathLst>
                <a:path h="5080000" w="6934200">
                  <a:moveTo>
                    <a:pt x="0" y="0"/>
                  </a:moveTo>
                  <a:lnTo>
                    <a:pt x="6934200" y="0"/>
                  </a:lnTo>
                  <a:lnTo>
                    <a:pt x="6934200" y="5080000"/>
                  </a:lnTo>
                  <a:lnTo>
                    <a:pt x="0" y="5080000"/>
                  </a:lnTo>
                  <a:close/>
                </a:path>
              </a:pathLst>
            </a:custGeom>
            <a:solidFill>
              <a:srgbClr val="221B18"/>
            </a:solidFill>
          </p:spPr>
        </p:sp>
        <p:sp>
          <p:nvSpPr>
            <p:cNvPr name="TextBox 15" id="15"/>
            <p:cNvSpPr txBox="true"/>
            <p:nvPr/>
          </p:nvSpPr>
          <p:spPr>
            <a:xfrm>
              <a:off x="0" y="-38100"/>
              <a:ext cx="6934200" cy="5118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1219200" y="2524125"/>
            <a:ext cx="4667250" cy="499110"/>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FFB000"/>
                </a:solidFill>
                <a:latin typeface="Arimo Bold"/>
                <a:ea typeface="Arimo Bold"/>
                <a:cs typeface="Arimo Bold"/>
                <a:sym typeface="Arimo Bold"/>
              </a:rPr>
              <a:t>SEGURIDAD</a:t>
            </a:r>
          </a:p>
        </p:txBody>
      </p:sp>
      <p:sp>
        <p:nvSpPr>
          <p:cNvPr name="TextBox 17" id="17"/>
          <p:cNvSpPr txBox="true"/>
          <p:nvPr/>
        </p:nvSpPr>
        <p:spPr>
          <a:xfrm rot="0">
            <a:off x="1219200" y="3200400"/>
            <a:ext cx="4667250" cy="2527935"/>
          </a:xfrm>
          <a:prstGeom prst="rect">
            <a:avLst/>
          </a:prstGeom>
        </p:spPr>
        <p:txBody>
          <a:bodyPr anchor="t" rtlCol="false" tIns="0" lIns="0" bIns="0" rIns="0">
            <a:spAutoFit/>
          </a:bodyPr>
          <a:lstStyle/>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Contraseñas con bcrypt y bloqueo tras 5 intentos</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Clave única por cámara, guardada como hash</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Roles de administrador, operador y bombero</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API accesible solo desde el origen del mapa</a:t>
            </a:r>
          </a:p>
        </p:txBody>
      </p:sp>
      <p:sp>
        <p:nvSpPr>
          <p:cNvPr name="TextBox 18" id="18"/>
          <p:cNvSpPr txBox="true"/>
          <p:nvPr/>
        </p:nvSpPr>
        <p:spPr>
          <a:xfrm rot="0">
            <a:off x="6800850" y="2524125"/>
            <a:ext cx="4667250" cy="499110"/>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FFB000"/>
                </a:solidFill>
                <a:latin typeface="Arimo Bold"/>
                <a:ea typeface="Arimo Bold"/>
                <a:cs typeface="Arimo Bold"/>
                <a:sym typeface="Arimo Bold"/>
              </a:rPr>
              <a:t>PRIVACIDAD</a:t>
            </a:r>
          </a:p>
        </p:txBody>
      </p:sp>
      <p:sp>
        <p:nvSpPr>
          <p:cNvPr name="TextBox 19" id="19"/>
          <p:cNvSpPr txBox="true"/>
          <p:nvPr/>
        </p:nvSpPr>
        <p:spPr>
          <a:xfrm rot="0">
            <a:off x="6800850" y="3200400"/>
            <a:ext cx="4667250" cy="1899285"/>
          </a:xfrm>
          <a:prstGeom prst="rect">
            <a:avLst/>
          </a:prstGeom>
        </p:spPr>
        <p:txBody>
          <a:bodyPr anchor="t" rtlCol="false" tIns="0" lIns="0" bIns="0" rIns="0">
            <a:spAutoFit/>
          </a:bodyPr>
          <a:lstStyle/>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El video no se almacena ni se envía</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Solo una foto por evento confirmado</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Credenciales de cámara enmascaradas y fuera de Git</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Ubicación de cámaras visible solo con sesión iniciada</a:t>
            </a:r>
          </a:p>
        </p:txBody>
      </p:sp>
      <p:sp>
        <p:nvSpPr>
          <p:cNvPr name="TextBox 20" id="20"/>
          <p:cNvSpPr txBox="true"/>
          <p:nvPr/>
        </p:nvSpPr>
        <p:spPr>
          <a:xfrm rot="0">
            <a:off x="12382500" y="2524125"/>
            <a:ext cx="4667250" cy="499110"/>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FFB000"/>
                </a:solidFill>
                <a:latin typeface="Arimo Bold"/>
                <a:ea typeface="Arimo Bold"/>
                <a:cs typeface="Arimo Bold"/>
                <a:sym typeface="Arimo Bold"/>
              </a:rPr>
              <a:t>ÉTICA</a:t>
            </a:r>
          </a:p>
        </p:txBody>
      </p:sp>
      <p:sp>
        <p:nvSpPr>
          <p:cNvPr name="TextBox 21" id="21"/>
          <p:cNvSpPr txBox="true"/>
          <p:nvPr/>
        </p:nvSpPr>
        <p:spPr>
          <a:xfrm rot="0">
            <a:off x="12382500" y="3200400"/>
            <a:ext cx="4667250" cy="2213610"/>
          </a:xfrm>
          <a:prstGeom prst="rect">
            <a:avLst/>
          </a:prstGeom>
        </p:spPr>
        <p:txBody>
          <a:bodyPr anchor="t" rtlCol="false" tIns="0" lIns="0" bIns="0" rIns="0">
            <a:spAutoFit/>
          </a:bodyPr>
          <a:lstStyle/>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Una persona confirma o descarta cada alerta</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Se declaran los límites de los modelos</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FireWatch apoya, no reemplaza a los sistemas oficiales</a:t>
            </a:r>
          </a:p>
          <a:p>
            <a:pPr algn="l" marL="421005" indent="-210502" lvl="1">
              <a:lnSpc>
                <a:spcPts val="2535"/>
              </a:lnSpc>
              <a:spcBef>
                <a:spcPct val="0"/>
              </a:spcBef>
              <a:buFont typeface="Arial"/>
              <a:buChar char="•"/>
            </a:pPr>
            <a:r>
              <a:rPr lang="en-US" sz="1950" strike="noStrike" u="none">
                <a:solidFill>
                  <a:srgbClr val="FFF3DF"/>
                </a:solidFill>
                <a:latin typeface="Arimo"/>
                <a:ea typeface="Arimo"/>
                <a:cs typeface="Arimo"/>
                <a:sym typeface="Arimo"/>
              </a:rPr>
              <a:t>El operador ve el tipo de alerta y la foto</a:t>
            </a:r>
          </a:p>
        </p:txBody>
      </p:sp>
      <p:grpSp>
        <p:nvGrpSpPr>
          <p:cNvPr name="Group 22" id="22"/>
          <p:cNvGrpSpPr/>
          <p:nvPr/>
        </p:nvGrpSpPr>
        <p:grpSpPr>
          <a:xfrm rot="0">
            <a:off x="952500" y="6381750"/>
            <a:ext cx="5200650" cy="2190750"/>
            <a:chOff x="0" y="0"/>
            <a:chExt cx="6934200" cy="2921000"/>
          </a:xfrm>
        </p:grpSpPr>
        <p:sp>
          <p:nvSpPr>
            <p:cNvPr name="Freeform 23" id="23"/>
            <p:cNvSpPr/>
            <p:nvPr/>
          </p:nvSpPr>
          <p:spPr>
            <a:xfrm flipH="false" flipV="false" rot="0">
              <a:off x="0" y="0"/>
              <a:ext cx="6934200" cy="2921000"/>
            </a:xfrm>
            <a:custGeom>
              <a:avLst/>
              <a:gdLst/>
              <a:ahLst/>
              <a:cxnLst/>
              <a:rect r="r" b="b" t="t" l="l"/>
              <a:pathLst>
                <a:path h="2921000" w="6934200">
                  <a:moveTo>
                    <a:pt x="0" y="0"/>
                  </a:moveTo>
                  <a:lnTo>
                    <a:pt x="6934200" y="0"/>
                  </a:lnTo>
                  <a:lnTo>
                    <a:pt x="6934200" y="2921000"/>
                  </a:lnTo>
                  <a:lnTo>
                    <a:pt x="0" y="2921000"/>
                  </a:lnTo>
                  <a:close/>
                </a:path>
              </a:pathLst>
            </a:custGeom>
            <a:solidFill>
              <a:srgbClr val="331F17"/>
            </a:solidFill>
          </p:spPr>
        </p:sp>
        <p:sp>
          <p:nvSpPr>
            <p:cNvPr name="TextBox 24" id="24"/>
            <p:cNvSpPr txBox="true"/>
            <p:nvPr/>
          </p:nvSpPr>
          <p:spPr>
            <a:xfrm>
              <a:off x="0" y="-38100"/>
              <a:ext cx="6934200" cy="2959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6534150" y="6381750"/>
            <a:ext cx="5200650" cy="2190750"/>
            <a:chOff x="0" y="0"/>
            <a:chExt cx="6934200" cy="2921000"/>
          </a:xfrm>
        </p:grpSpPr>
        <p:sp>
          <p:nvSpPr>
            <p:cNvPr name="Freeform 26" id="26"/>
            <p:cNvSpPr/>
            <p:nvPr/>
          </p:nvSpPr>
          <p:spPr>
            <a:xfrm flipH="false" flipV="false" rot="0">
              <a:off x="0" y="0"/>
              <a:ext cx="6934200" cy="2921000"/>
            </a:xfrm>
            <a:custGeom>
              <a:avLst/>
              <a:gdLst/>
              <a:ahLst/>
              <a:cxnLst/>
              <a:rect r="r" b="b" t="t" l="l"/>
              <a:pathLst>
                <a:path h="2921000" w="6934200">
                  <a:moveTo>
                    <a:pt x="0" y="0"/>
                  </a:moveTo>
                  <a:lnTo>
                    <a:pt x="6934200" y="0"/>
                  </a:lnTo>
                  <a:lnTo>
                    <a:pt x="6934200" y="2921000"/>
                  </a:lnTo>
                  <a:lnTo>
                    <a:pt x="0" y="2921000"/>
                  </a:lnTo>
                  <a:close/>
                </a:path>
              </a:pathLst>
            </a:custGeom>
            <a:solidFill>
              <a:srgbClr val="331F17"/>
            </a:solidFill>
          </p:spPr>
        </p:sp>
        <p:sp>
          <p:nvSpPr>
            <p:cNvPr name="TextBox 27" id="27"/>
            <p:cNvSpPr txBox="true"/>
            <p:nvPr/>
          </p:nvSpPr>
          <p:spPr>
            <a:xfrm>
              <a:off x="0" y="-38100"/>
              <a:ext cx="6934200" cy="29591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12115800" y="6381750"/>
            <a:ext cx="5200650" cy="2190750"/>
            <a:chOff x="0" y="0"/>
            <a:chExt cx="6934200" cy="2921000"/>
          </a:xfrm>
        </p:grpSpPr>
        <p:sp>
          <p:nvSpPr>
            <p:cNvPr name="Freeform 29" id="29"/>
            <p:cNvSpPr/>
            <p:nvPr/>
          </p:nvSpPr>
          <p:spPr>
            <a:xfrm flipH="false" flipV="false" rot="0">
              <a:off x="0" y="0"/>
              <a:ext cx="6934200" cy="2921000"/>
            </a:xfrm>
            <a:custGeom>
              <a:avLst/>
              <a:gdLst/>
              <a:ahLst/>
              <a:cxnLst/>
              <a:rect r="r" b="b" t="t" l="l"/>
              <a:pathLst>
                <a:path h="2921000" w="6934200">
                  <a:moveTo>
                    <a:pt x="0" y="0"/>
                  </a:moveTo>
                  <a:lnTo>
                    <a:pt x="6934200" y="0"/>
                  </a:lnTo>
                  <a:lnTo>
                    <a:pt x="6934200" y="2921000"/>
                  </a:lnTo>
                  <a:lnTo>
                    <a:pt x="0" y="2921000"/>
                  </a:lnTo>
                  <a:close/>
                </a:path>
              </a:pathLst>
            </a:custGeom>
            <a:solidFill>
              <a:srgbClr val="331F17"/>
            </a:solidFill>
          </p:spPr>
        </p:sp>
        <p:sp>
          <p:nvSpPr>
            <p:cNvPr name="TextBox 30" id="30"/>
            <p:cNvSpPr txBox="true"/>
            <p:nvPr/>
          </p:nvSpPr>
          <p:spPr>
            <a:xfrm>
              <a:off x="0" y="-38100"/>
              <a:ext cx="6934200" cy="29591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219200" y="6534150"/>
            <a:ext cx="4667250" cy="64008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FFF3DF"/>
                </a:solidFill>
                <a:latin typeface="Arimo"/>
                <a:ea typeface="Arimo"/>
                <a:cs typeface="Arimo"/>
                <a:sym typeface="Arimo"/>
              </a:rPr>
              <a:t>ESTADO · 7 de 14 amenazas con control completo y 3 parciales</a:t>
            </a:r>
          </a:p>
        </p:txBody>
      </p:sp>
      <p:sp>
        <p:nvSpPr>
          <p:cNvPr name="TextBox 32" id="32"/>
          <p:cNvSpPr txBox="true"/>
          <p:nvPr/>
        </p:nvSpPr>
        <p:spPr>
          <a:xfrm rot="0">
            <a:off x="1219200" y="7600950"/>
            <a:ext cx="4667250" cy="32575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FFB000"/>
                </a:solidFill>
                <a:latin typeface="Arimo Bold"/>
                <a:ea typeface="Arimo Bold"/>
                <a:cs typeface="Arimo Bold"/>
                <a:sym typeface="Arimo Bold"/>
              </a:rPr>
              <a:t>PENDIENTE · HTTPS y límite de peticiones</a:t>
            </a:r>
          </a:p>
        </p:txBody>
      </p:sp>
      <p:sp>
        <p:nvSpPr>
          <p:cNvPr name="TextBox 33" id="33"/>
          <p:cNvSpPr txBox="true"/>
          <p:nvPr/>
        </p:nvSpPr>
        <p:spPr>
          <a:xfrm rot="0">
            <a:off x="6800850" y="6534150"/>
            <a:ext cx="4667250" cy="64008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FFF3DF"/>
                </a:solidFill>
                <a:latin typeface="Arimo"/>
                <a:ea typeface="Arimo"/>
                <a:cs typeface="Arimo"/>
                <a:sym typeface="Arimo"/>
              </a:rPr>
              <a:t>ESTADO · Cumplido: sin video guardado y credenciales protegidas</a:t>
            </a:r>
          </a:p>
        </p:txBody>
      </p:sp>
      <p:sp>
        <p:nvSpPr>
          <p:cNvPr name="TextBox 34" id="34"/>
          <p:cNvSpPr txBox="true"/>
          <p:nvPr/>
        </p:nvSpPr>
        <p:spPr>
          <a:xfrm rot="0">
            <a:off x="6800850" y="7600950"/>
            <a:ext cx="4667250" cy="640080"/>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FFB000"/>
                </a:solidFill>
                <a:latin typeface="Arimo Bold"/>
                <a:ea typeface="Arimo Bold"/>
                <a:cs typeface="Arimo Bold"/>
                <a:sym typeface="Arimo Bold"/>
              </a:rPr>
              <a:t>PENDIENTE · Retención de fotos y vigencia de la Ley 21.719</a:t>
            </a:r>
          </a:p>
        </p:txBody>
      </p:sp>
      <p:sp>
        <p:nvSpPr>
          <p:cNvPr name="TextBox 35" id="35"/>
          <p:cNvSpPr txBox="true"/>
          <p:nvPr/>
        </p:nvSpPr>
        <p:spPr>
          <a:xfrm rot="0">
            <a:off x="12382500" y="6534150"/>
            <a:ext cx="4667250" cy="64008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FFF3DF"/>
                </a:solidFill>
                <a:latin typeface="Arimo"/>
                <a:ea typeface="Arimo"/>
                <a:cs typeface="Arimo"/>
                <a:sym typeface="Arimo"/>
              </a:rPr>
              <a:t>ESTADO · Humano en el circuito, con motivo de descarte</a:t>
            </a:r>
          </a:p>
        </p:txBody>
      </p:sp>
      <p:sp>
        <p:nvSpPr>
          <p:cNvPr name="TextBox 36" id="36"/>
          <p:cNvSpPr txBox="true"/>
          <p:nvPr/>
        </p:nvSpPr>
        <p:spPr>
          <a:xfrm rot="0">
            <a:off x="12382500" y="7600950"/>
            <a:ext cx="4667250" cy="640080"/>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FFB000"/>
                </a:solidFill>
                <a:latin typeface="Arimo Bold"/>
                <a:ea typeface="Arimo Bold"/>
                <a:cs typeface="Arimo Bold"/>
                <a:sym typeface="Arimo Bold"/>
              </a:rPr>
              <a:t>PENDIENTE · Origen de los datos de entrenamiento y sesgo del paisaje chileno</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12100F"/>
        </a:solidFill>
      </p:bgPr>
    </p:bg>
    <p:spTree>
      <p:nvGrpSpPr>
        <p:cNvPr id="1" name=""/>
        <p:cNvGrpSpPr/>
        <p:nvPr/>
      </p:nvGrpSpPr>
      <p:grpSpPr>
        <a:xfrm>
          <a:off x="0" y="0"/>
          <a:ext cx="0" cy="0"/>
          <a:chOff x="0" y="0"/>
          <a:chExt cx="0" cy="0"/>
        </a:xfrm>
      </p:grpSpPr>
      <p:sp>
        <p:nvSpPr>
          <p:cNvPr name="TextBox 2" id="2"/>
          <p:cNvSpPr txBox="true"/>
          <p:nvPr/>
        </p:nvSpPr>
        <p:spPr>
          <a:xfrm rot="0">
            <a:off x="952500" y="752475"/>
            <a:ext cx="14287500" cy="645795"/>
          </a:xfrm>
          <a:prstGeom prst="rect">
            <a:avLst/>
          </a:prstGeom>
        </p:spPr>
        <p:txBody>
          <a:bodyPr anchor="t" rtlCol="false" tIns="0" lIns="0" bIns="0" rIns="0">
            <a:spAutoFit/>
          </a:bodyPr>
          <a:lstStyle/>
          <a:p>
            <a:pPr algn="l" marL="0" indent="0" lvl="0">
              <a:lnSpc>
                <a:spcPts val="4800"/>
              </a:lnSpc>
              <a:spcBef>
                <a:spcPct val="0"/>
              </a:spcBef>
            </a:pPr>
            <a:r>
              <a:rPr lang="en-US" b="true" sz="4800" strike="noStrike" u="none">
                <a:solidFill>
                  <a:srgbClr val="FFF4DF"/>
                </a:solidFill>
                <a:latin typeface="Barlow Condensed Bold"/>
                <a:ea typeface="Barlow Condensed Bold"/>
                <a:cs typeface="Barlow Condensed Bold"/>
                <a:sym typeface="Barlow Condensed Bold"/>
              </a:rPr>
              <a:t>MEJORAS FUTURAS</a:t>
            </a:r>
          </a:p>
        </p:txBody>
      </p:sp>
      <p:sp>
        <p:nvSpPr>
          <p:cNvPr name="TextBox 3" id="3"/>
          <p:cNvSpPr txBox="true"/>
          <p:nvPr/>
        </p:nvSpPr>
        <p:spPr>
          <a:xfrm rot="0">
            <a:off x="952500" y="7391400"/>
            <a:ext cx="8572500" cy="331470"/>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FFB000"/>
                </a:solidFill>
                <a:latin typeface="Archivo Black"/>
                <a:ea typeface="Archivo Black"/>
                <a:cs typeface="Archivo Black"/>
                <a:sym typeface="Archivo Black"/>
              </a:rPr>
              <a:t>HOJA DE RUTA</a:t>
            </a:r>
          </a:p>
        </p:txBody>
      </p:sp>
      <p:sp>
        <p:nvSpPr>
          <p:cNvPr name="TextBox 4" id="4"/>
          <p:cNvSpPr txBox="true"/>
          <p:nvPr/>
        </p:nvSpPr>
        <p:spPr>
          <a:xfrm rot="0">
            <a:off x="952500" y="7839075"/>
            <a:ext cx="16383000" cy="523875"/>
          </a:xfrm>
          <a:prstGeom prst="rect">
            <a:avLst/>
          </a:prstGeom>
        </p:spPr>
        <p:txBody>
          <a:bodyPr anchor="t" rtlCol="false" tIns="0" lIns="0" bIns="0" rIns="0">
            <a:spAutoFit/>
          </a:bodyPr>
          <a:lstStyle/>
          <a:p>
            <a:pPr algn="l" marL="0" indent="0" lvl="0">
              <a:lnSpc>
                <a:spcPts val="4200"/>
              </a:lnSpc>
              <a:spcBef>
                <a:spcPct val="0"/>
              </a:spcBef>
            </a:pPr>
            <a:r>
              <a:rPr lang="en-US" sz="3000" strike="noStrike" u="none">
                <a:solidFill>
                  <a:srgbClr val="FFF4DF"/>
                </a:solidFill>
                <a:latin typeface="Archivo Black"/>
                <a:ea typeface="Archivo Black"/>
                <a:cs typeface="Archivo Black"/>
                <a:sym typeface="Archivo Black"/>
              </a:rPr>
              <a:t>Más datos, más validación y un despliegue seguro</a:t>
            </a:r>
          </a:p>
        </p:txBody>
      </p:sp>
      <p:grpSp>
        <p:nvGrpSpPr>
          <p:cNvPr name="Group 5" id="5"/>
          <p:cNvGrpSpPr/>
          <p:nvPr/>
        </p:nvGrpSpPr>
        <p:grpSpPr>
          <a:xfrm rot="0">
            <a:off x="552450" y="666750"/>
            <a:ext cx="133350" cy="1123950"/>
            <a:chOff x="0" y="0"/>
            <a:chExt cx="177800" cy="1498600"/>
          </a:xfrm>
        </p:grpSpPr>
        <p:sp>
          <p:nvSpPr>
            <p:cNvPr name="Freeform 6" id="6"/>
            <p:cNvSpPr/>
            <p:nvPr/>
          </p:nvSpPr>
          <p:spPr>
            <a:xfrm flipH="false" flipV="false" rot="0">
              <a:off x="0" y="0"/>
              <a:ext cx="177800" cy="1498600"/>
            </a:xfrm>
            <a:custGeom>
              <a:avLst/>
              <a:gdLst/>
              <a:ahLst/>
              <a:cxnLst/>
              <a:rect r="r" b="b" t="t" l="l"/>
              <a:pathLst>
                <a:path h="1498600" w="177800">
                  <a:moveTo>
                    <a:pt x="0" y="0"/>
                  </a:moveTo>
                  <a:lnTo>
                    <a:pt x="177800" y="0"/>
                  </a:lnTo>
                  <a:lnTo>
                    <a:pt x="177800" y="1498600"/>
                  </a:lnTo>
                  <a:lnTo>
                    <a:pt x="0" y="1498600"/>
                  </a:lnTo>
                  <a:close/>
                </a:path>
              </a:pathLst>
            </a:custGeom>
            <a:solidFill>
              <a:srgbClr val="FF5A1F"/>
            </a:solidFill>
          </p:spPr>
        </p:sp>
        <p:sp>
          <p:nvSpPr>
            <p:cNvPr name="TextBox 7" id="7"/>
            <p:cNvSpPr txBox="true"/>
            <p:nvPr/>
          </p:nvSpPr>
          <p:spPr>
            <a:xfrm>
              <a:off x="0" y="-38100"/>
              <a:ext cx="177800" cy="15367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952500" y="2381250"/>
            <a:ext cx="3895725" cy="4572000"/>
            <a:chOff x="0" y="0"/>
            <a:chExt cx="5194300" cy="6096000"/>
          </a:xfrm>
        </p:grpSpPr>
        <p:sp>
          <p:nvSpPr>
            <p:cNvPr name="Freeform 9" id="9"/>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10" id="10"/>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5114925" y="2381250"/>
            <a:ext cx="3895725" cy="4572000"/>
            <a:chOff x="0" y="0"/>
            <a:chExt cx="5194300" cy="6096000"/>
          </a:xfrm>
        </p:grpSpPr>
        <p:sp>
          <p:nvSpPr>
            <p:cNvPr name="Freeform 12" id="12"/>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13" id="13"/>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277350" y="2381250"/>
            <a:ext cx="3895725" cy="4572000"/>
            <a:chOff x="0" y="0"/>
            <a:chExt cx="5194300" cy="6096000"/>
          </a:xfrm>
        </p:grpSpPr>
        <p:sp>
          <p:nvSpPr>
            <p:cNvPr name="Freeform 15" id="15"/>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16" id="16"/>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3439775" y="2381250"/>
            <a:ext cx="3895725" cy="4572000"/>
            <a:chOff x="0" y="0"/>
            <a:chExt cx="5194300" cy="6096000"/>
          </a:xfrm>
        </p:grpSpPr>
        <p:sp>
          <p:nvSpPr>
            <p:cNvPr name="Freeform 18" id="18"/>
            <p:cNvSpPr/>
            <p:nvPr/>
          </p:nvSpPr>
          <p:spPr>
            <a:xfrm flipH="false" flipV="false" rot="0">
              <a:off x="0" y="0"/>
              <a:ext cx="5194300" cy="6096000"/>
            </a:xfrm>
            <a:custGeom>
              <a:avLst/>
              <a:gdLst/>
              <a:ahLst/>
              <a:cxnLst/>
              <a:rect r="r" b="b" t="t" l="l"/>
              <a:pathLst>
                <a:path h="6096000" w="5194300">
                  <a:moveTo>
                    <a:pt x="0" y="0"/>
                  </a:moveTo>
                  <a:lnTo>
                    <a:pt x="5194300" y="0"/>
                  </a:lnTo>
                  <a:lnTo>
                    <a:pt x="5194300" y="6096000"/>
                  </a:lnTo>
                  <a:lnTo>
                    <a:pt x="0" y="6096000"/>
                  </a:lnTo>
                  <a:close/>
                </a:path>
              </a:pathLst>
            </a:custGeom>
            <a:solidFill>
              <a:srgbClr val="331F17"/>
            </a:solidFill>
          </p:spPr>
        </p:sp>
        <p:sp>
          <p:nvSpPr>
            <p:cNvPr name="TextBox 19" id="19"/>
            <p:cNvSpPr txBox="true"/>
            <p:nvPr/>
          </p:nvSpPr>
          <p:spPr>
            <a:xfrm>
              <a:off x="0" y="-38100"/>
              <a:ext cx="5194300" cy="61341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952500" y="2381250"/>
            <a:ext cx="3895725" cy="95250"/>
            <a:chOff x="0" y="0"/>
            <a:chExt cx="5194300" cy="127000"/>
          </a:xfrm>
        </p:grpSpPr>
        <p:sp>
          <p:nvSpPr>
            <p:cNvPr name="Freeform 21" id="21"/>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D92D20"/>
            </a:solidFill>
          </p:spPr>
        </p:sp>
        <p:sp>
          <p:nvSpPr>
            <p:cNvPr name="TextBox 22" id="22"/>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5114925" y="2381250"/>
            <a:ext cx="3895725" cy="95250"/>
            <a:chOff x="0" y="0"/>
            <a:chExt cx="5194300" cy="127000"/>
          </a:xfrm>
        </p:grpSpPr>
        <p:sp>
          <p:nvSpPr>
            <p:cNvPr name="Freeform 24" id="24"/>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D92D20"/>
            </a:solidFill>
          </p:spPr>
        </p:sp>
        <p:sp>
          <p:nvSpPr>
            <p:cNvPr name="TextBox 25" id="25"/>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9277350" y="2381250"/>
            <a:ext cx="3895725" cy="95250"/>
            <a:chOff x="0" y="0"/>
            <a:chExt cx="5194300" cy="127000"/>
          </a:xfrm>
        </p:grpSpPr>
        <p:sp>
          <p:nvSpPr>
            <p:cNvPr name="Freeform 27" id="27"/>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FF5A1F"/>
            </a:solidFill>
          </p:spPr>
        </p:sp>
        <p:sp>
          <p:nvSpPr>
            <p:cNvPr name="TextBox 28" id="28"/>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3439775" y="2381250"/>
            <a:ext cx="3895725" cy="95250"/>
            <a:chOff x="0" y="0"/>
            <a:chExt cx="5194300" cy="127000"/>
          </a:xfrm>
        </p:grpSpPr>
        <p:sp>
          <p:nvSpPr>
            <p:cNvPr name="Freeform 30" id="30"/>
            <p:cNvSpPr/>
            <p:nvPr/>
          </p:nvSpPr>
          <p:spPr>
            <a:xfrm flipH="false" flipV="false" rot="0">
              <a:off x="0" y="0"/>
              <a:ext cx="5194300" cy="127000"/>
            </a:xfrm>
            <a:custGeom>
              <a:avLst/>
              <a:gdLst/>
              <a:ahLst/>
              <a:cxnLst/>
              <a:rect r="r" b="b" t="t" l="l"/>
              <a:pathLst>
                <a:path h="127000" w="5194300">
                  <a:moveTo>
                    <a:pt x="0" y="0"/>
                  </a:moveTo>
                  <a:lnTo>
                    <a:pt x="5194300" y="0"/>
                  </a:lnTo>
                  <a:lnTo>
                    <a:pt x="5194300" y="127000"/>
                  </a:lnTo>
                  <a:lnTo>
                    <a:pt x="0" y="127000"/>
                  </a:lnTo>
                  <a:close/>
                </a:path>
              </a:pathLst>
            </a:custGeom>
            <a:solidFill>
              <a:srgbClr val="FF5A1F"/>
            </a:solidFill>
          </p:spPr>
        </p:sp>
        <p:sp>
          <p:nvSpPr>
            <p:cNvPr name="TextBox 31" id="31"/>
            <p:cNvSpPr txBox="true"/>
            <p:nvPr/>
          </p:nvSpPr>
          <p:spPr>
            <a:xfrm>
              <a:off x="0" y="-38100"/>
              <a:ext cx="5194300" cy="165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1181100" y="2667000"/>
            <a:ext cx="3438525" cy="36576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FFB000"/>
                </a:solidFill>
                <a:latin typeface="Arimo Bold"/>
                <a:ea typeface="Arimo Bold"/>
                <a:cs typeface="Arimo Bold"/>
                <a:sym typeface="Arimo Bold"/>
              </a:rPr>
              <a:t>01</a:t>
            </a:r>
          </a:p>
        </p:txBody>
      </p:sp>
      <p:sp>
        <p:nvSpPr>
          <p:cNvPr name="TextBox 33" id="33"/>
          <p:cNvSpPr txBox="true"/>
          <p:nvPr/>
        </p:nvSpPr>
        <p:spPr>
          <a:xfrm rot="0">
            <a:off x="5343525" y="2667000"/>
            <a:ext cx="3438525" cy="36576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FFB000"/>
                </a:solidFill>
                <a:latin typeface="Arimo Bold"/>
                <a:ea typeface="Arimo Bold"/>
                <a:cs typeface="Arimo Bold"/>
                <a:sym typeface="Arimo Bold"/>
              </a:rPr>
              <a:t>02</a:t>
            </a:r>
          </a:p>
        </p:txBody>
      </p:sp>
      <p:sp>
        <p:nvSpPr>
          <p:cNvPr name="TextBox 34" id="34"/>
          <p:cNvSpPr txBox="true"/>
          <p:nvPr/>
        </p:nvSpPr>
        <p:spPr>
          <a:xfrm rot="0">
            <a:off x="9505950" y="2667000"/>
            <a:ext cx="3438525" cy="36576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FFB000"/>
                </a:solidFill>
                <a:latin typeface="Arimo Bold"/>
                <a:ea typeface="Arimo Bold"/>
                <a:cs typeface="Arimo Bold"/>
                <a:sym typeface="Arimo Bold"/>
              </a:rPr>
              <a:t>03</a:t>
            </a:r>
          </a:p>
        </p:txBody>
      </p:sp>
      <p:sp>
        <p:nvSpPr>
          <p:cNvPr name="TextBox 35" id="35"/>
          <p:cNvSpPr txBox="true"/>
          <p:nvPr/>
        </p:nvSpPr>
        <p:spPr>
          <a:xfrm rot="0">
            <a:off x="13668375" y="2667000"/>
            <a:ext cx="3438525" cy="36576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FFB000"/>
                </a:solidFill>
                <a:latin typeface="Arimo Bold"/>
                <a:ea typeface="Arimo Bold"/>
                <a:cs typeface="Arimo Bold"/>
                <a:sym typeface="Arimo Bold"/>
              </a:rPr>
              <a:t>04</a:t>
            </a:r>
          </a:p>
        </p:txBody>
      </p:sp>
      <p:sp>
        <p:nvSpPr>
          <p:cNvPr name="TextBox 36" id="36"/>
          <p:cNvSpPr txBox="true"/>
          <p:nvPr/>
        </p:nvSpPr>
        <p:spPr>
          <a:xfrm rot="0">
            <a:off x="1181100" y="3200400"/>
            <a:ext cx="3438525" cy="807720"/>
          </a:xfrm>
          <a:prstGeom prst="rect">
            <a:avLst/>
          </a:prstGeom>
        </p:spPr>
        <p:txBody>
          <a:bodyPr anchor="t" rtlCol="false" tIns="0" lIns="0" bIns="0" rIns="0">
            <a:spAutoFit/>
          </a:bodyPr>
          <a:lstStyle/>
          <a:p>
            <a:pPr algn="l" marL="0" indent="0" lvl="0">
              <a:lnSpc>
                <a:spcPts val="3135"/>
              </a:lnSpc>
              <a:spcBef>
                <a:spcPct val="0"/>
              </a:spcBef>
            </a:pPr>
            <a:r>
              <a:rPr lang="en-US" b="true" sz="2850" strike="noStrike" u="none">
                <a:solidFill>
                  <a:srgbClr val="FFF4DF"/>
                </a:solidFill>
                <a:latin typeface="Arimo Bold"/>
                <a:ea typeface="Arimo Bold"/>
                <a:cs typeface="Arimo Bold"/>
                <a:sym typeface="Arimo Bold"/>
              </a:rPr>
              <a:t>Modelos de fuego y humo</a:t>
            </a:r>
          </a:p>
        </p:txBody>
      </p:sp>
      <p:sp>
        <p:nvSpPr>
          <p:cNvPr name="TextBox 37" id="37"/>
          <p:cNvSpPr txBox="true"/>
          <p:nvPr/>
        </p:nvSpPr>
        <p:spPr>
          <a:xfrm rot="0">
            <a:off x="5343525" y="3200400"/>
            <a:ext cx="3438525" cy="807720"/>
          </a:xfrm>
          <a:prstGeom prst="rect">
            <a:avLst/>
          </a:prstGeom>
        </p:spPr>
        <p:txBody>
          <a:bodyPr anchor="t" rtlCol="false" tIns="0" lIns="0" bIns="0" rIns="0">
            <a:spAutoFit/>
          </a:bodyPr>
          <a:lstStyle/>
          <a:p>
            <a:pPr algn="l" marL="0" indent="0" lvl="0">
              <a:lnSpc>
                <a:spcPts val="3135"/>
              </a:lnSpc>
              <a:spcBef>
                <a:spcPct val="0"/>
              </a:spcBef>
            </a:pPr>
            <a:r>
              <a:rPr lang="en-US" b="true" sz="2850" strike="noStrike" u="none">
                <a:solidFill>
                  <a:srgbClr val="FFF4DF"/>
                </a:solidFill>
                <a:latin typeface="Arimo Bold"/>
                <a:ea typeface="Arimo Bold"/>
                <a:cs typeface="Arimo Bold"/>
                <a:sym typeface="Arimo Bold"/>
              </a:rPr>
              <a:t>Mapa y propagación</a:t>
            </a:r>
          </a:p>
        </p:txBody>
      </p:sp>
      <p:sp>
        <p:nvSpPr>
          <p:cNvPr name="TextBox 38" id="38"/>
          <p:cNvSpPr txBox="true"/>
          <p:nvPr/>
        </p:nvSpPr>
        <p:spPr>
          <a:xfrm rot="0">
            <a:off x="9505950" y="3200400"/>
            <a:ext cx="3438525" cy="417195"/>
          </a:xfrm>
          <a:prstGeom prst="rect">
            <a:avLst/>
          </a:prstGeom>
        </p:spPr>
        <p:txBody>
          <a:bodyPr anchor="t" rtlCol="false" tIns="0" lIns="0" bIns="0" rIns="0">
            <a:spAutoFit/>
          </a:bodyPr>
          <a:lstStyle/>
          <a:p>
            <a:pPr algn="l" marL="0" indent="0" lvl="0">
              <a:lnSpc>
                <a:spcPts val="3135"/>
              </a:lnSpc>
              <a:spcBef>
                <a:spcPct val="0"/>
              </a:spcBef>
            </a:pPr>
            <a:r>
              <a:rPr lang="en-US" b="true" sz="2850" strike="noStrike" u="none">
                <a:solidFill>
                  <a:srgbClr val="FFF4DF"/>
                </a:solidFill>
                <a:latin typeface="Arimo Bold"/>
                <a:ea typeface="Arimo Bold"/>
                <a:cs typeface="Arimo Bold"/>
                <a:sym typeface="Arimo Bold"/>
              </a:rPr>
              <a:t>Cámara y escritorio</a:t>
            </a:r>
          </a:p>
        </p:txBody>
      </p:sp>
      <p:sp>
        <p:nvSpPr>
          <p:cNvPr name="TextBox 39" id="39"/>
          <p:cNvSpPr txBox="true"/>
          <p:nvPr/>
        </p:nvSpPr>
        <p:spPr>
          <a:xfrm rot="0">
            <a:off x="13668375" y="3200400"/>
            <a:ext cx="3438525" cy="807720"/>
          </a:xfrm>
          <a:prstGeom prst="rect">
            <a:avLst/>
          </a:prstGeom>
        </p:spPr>
        <p:txBody>
          <a:bodyPr anchor="t" rtlCol="false" tIns="0" lIns="0" bIns="0" rIns="0">
            <a:spAutoFit/>
          </a:bodyPr>
          <a:lstStyle/>
          <a:p>
            <a:pPr algn="l" marL="0" indent="0" lvl="0">
              <a:lnSpc>
                <a:spcPts val="3135"/>
              </a:lnSpc>
              <a:spcBef>
                <a:spcPct val="0"/>
              </a:spcBef>
            </a:pPr>
            <a:r>
              <a:rPr lang="en-US" b="true" sz="2850" strike="noStrike" u="none">
                <a:solidFill>
                  <a:srgbClr val="FFF4DF"/>
                </a:solidFill>
                <a:latin typeface="Arimo Bold"/>
                <a:ea typeface="Arimo Bold"/>
                <a:cs typeface="Arimo Bold"/>
                <a:sym typeface="Arimo Bold"/>
              </a:rPr>
              <a:t>Despliegue y negocio</a:t>
            </a:r>
          </a:p>
        </p:txBody>
      </p:sp>
      <p:sp>
        <p:nvSpPr>
          <p:cNvPr name="TextBox 40" id="40"/>
          <p:cNvSpPr txBox="true"/>
          <p:nvPr/>
        </p:nvSpPr>
        <p:spPr>
          <a:xfrm rot="0">
            <a:off x="1181100" y="4705350"/>
            <a:ext cx="3438525" cy="32575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FFB000"/>
                </a:solidFill>
                <a:latin typeface="Arimo Bold"/>
                <a:ea typeface="Arimo Bold"/>
                <a:cs typeface="Arimo Bold"/>
                <a:sym typeface="Arimo Bold"/>
              </a:rPr>
              <a:t>PRÓXIMO PASO</a:t>
            </a:r>
          </a:p>
        </p:txBody>
      </p:sp>
      <p:sp>
        <p:nvSpPr>
          <p:cNvPr name="TextBox 41" id="41"/>
          <p:cNvSpPr txBox="true"/>
          <p:nvPr/>
        </p:nvSpPr>
        <p:spPr>
          <a:xfrm rot="0">
            <a:off x="5343525" y="4705350"/>
            <a:ext cx="3438525" cy="32575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FFB000"/>
                </a:solidFill>
                <a:latin typeface="Arimo Bold"/>
                <a:ea typeface="Arimo Bold"/>
                <a:cs typeface="Arimo Bold"/>
                <a:sym typeface="Arimo Bold"/>
              </a:rPr>
              <a:t>PRÓXIMO PASO</a:t>
            </a:r>
          </a:p>
        </p:txBody>
      </p:sp>
      <p:sp>
        <p:nvSpPr>
          <p:cNvPr name="TextBox 42" id="42"/>
          <p:cNvSpPr txBox="true"/>
          <p:nvPr/>
        </p:nvSpPr>
        <p:spPr>
          <a:xfrm rot="0">
            <a:off x="9505950" y="4705350"/>
            <a:ext cx="3438525" cy="32575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FFB000"/>
                </a:solidFill>
                <a:latin typeface="Arimo Bold"/>
                <a:ea typeface="Arimo Bold"/>
                <a:cs typeface="Arimo Bold"/>
                <a:sym typeface="Arimo Bold"/>
              </a:rPr>
              <a:t>PRÓXIMO PASO</a:t>
            </a:r>
          </a:p>
        </p:txBody>
      </p:sp>
      <p:sp>
        <p:nvSpPr>
          <p:cNvPr name="TextBox 43" id="43"/>
          <p:cNvSpPr txBox="true"/>
          <p:nvPr/>
        </p:nvSpPr>
        <p:spPr>
          <a:xfrm rot="0">
            <a:off x="13668375" y="4705350"/>
            <a:ext cx="3438525" cy="32575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FFB000"/>
                </a:solidFill>
                <a:latin typeface="Arimo Bold"/>
                <a:ea typeface="Arimo Bold"/>
                <a:cs typeface="Arimo Bold"/>
                <a:sym typeface="Arimo Bold"/>
              </a:rPr>
              <a:t>PRÓXIMO PASO</a:t>
            </a:r>
          </a:p>
        </p:txBody>
      </p:sp>
      <p:sp>
        <p:nvSpPr>
          <p:cNvPr name="TextBox 44" id="44"/>
          <p:cNvSpPr txBox="true"/>
          <p:nvPr/>
        </p:nvSpPr>
        <p:spPr>
          <a:xfrm rot="0">
            <a:off x="1181100" y="5114925"/>
            <a:ext cx="3438525" cy="1071563"/>
          </a:xfrm>
          <a:prstGeom prst="rect">
            <a:avLst/>
          </a:prstGeom>
        </p:spPr>
        <p:txBody>
          <a:bodyPr anchor="t" rtlCol="false" tIns="0" lIns="0" bIns="0" rIns="0">
            <a:spAutoFit/>
          </a:bodyPr>
          <a:lstStyle/>
          <a:p>
            <a:pPr algn="l" marL="0" indent="0" lvl="0">
              <a:lnSpc>
                <a:spcPts val="2812"/>
              </a:lnSpc>
              <a:spcBef>
                <a:spcPct val="0"/>
              </a:spcBef>
            </a:pPr>
            <a:r>
              <a:rPr lang="en-US" sz="2250" strike="noStrike" u="none">
                <a:solidFill>
                  <a:srgbClr val="FFF4DF"/>
                </a:solidFill>
                <a:latin typeface="Arimo"/>
                <a:ea typeface="Arimo"/>
                <a:cs typeface="Arimo"/>
                <a:sym typeface="Arimo"/>
              </a:rPr>
              <a:t>Reentrenar con más datos y medir las falsas alarmas en video real.</a:t>
            </a:r>
          </a:p>
        </p:txBody>
      </p:sp>
      <p:sp>
        <p:nvSpPr>
          <p:cNvPr name="TextBox 45" id="45"/>
          <p:cNvSpPr txBox="true"/>
          <p:nvPr/>
        </p:nvSpPr>
        <p:spPr>
          <a:xfrm rot="0">
            <a:off x="5343525" y="5114925"/>
            <a:ext cx="3438525" cy="1071563"/>
          </a:xfrm>
          <a:prstGeom prst="rect">
            <a:avLst/>
          </a:prstGeom>
        </p:spPr>
        <p:txBody>
          <a:bodyPr anchor="t" rtlCol="false" tIns="0" lIns="0" bIns="0" rIns="0">
            <a:spAutoFit/>
          </a:bodyPr>
          <a:lstStyle/>
          <a:p>
            <a:pPr algn="l" marL="0" indent="0" lvl="0">
              <a:lnSpc>
                <a:spcPts val="2812"/>
              </a:lnSpc>
              <a:spcBef>
                <a:spcPct val="0"/>
              </a:spcBef>
            </a:pPr>
            <a:r>
              <a:rPr lang="en-US" sz="2250" strike="noStrike" u="none">
                <a:solidFill>
                  <a:srgbClr val="FFF4DF"/>
                </a:solidFill>
                <a:latin typeface="Arimo"/>
                <a:ea typeface="Arimo"/>
                <a:cs typeface="Arimo"/>
                <a:sym typeface="Arimo"/>
              </a:rPr>
              <a:t>Hacer una segunda calibración del mapa y validar el M2 por fechas.</a:t>
            </a:r>
          </a:p>
        </p:txBody>
      </p:sp>
      <p:sp>
        <p:nvSpPr>
          <p:cNvPr name="TextBox 46" id="46"/>
          <p:cNvSpPr txBox="true"/>
          <p:nvPr/>
        </p:nvSpPr>
        <p:spPr>
          <a:xfrm rot="0">
            <a:off x="9505950" y="5114925"/>
            <a:ext cx="3438525" cy="1423987"/>
          </a:xfrm>
          <a:prstGeom prst="rect">
            <a:avLst/>
          </a:prstGeom>
        </p:spPr>
        <p:txBody>
          <a:bodyPr anchor="t" rtlCol="false" tIns="0" lIns="0" bIns="0" rIns="0">
            <a:spAutoFit/>
          </a:bodyPr>
          <a:lstStyle/>
          <a:p>
            <a:pPr algn="l" marL="0" indent="0" lvl="0">
              <a:lnSpc>
                <a:spcPts val="2812"/>
              </a:lnSpc>
              <a:spcBef>
                <a:spcPct val="0"/>
              </a:spcBef>
            </a:pPr>
            <a:r>
              <a:rPr lang="en-US" sz="2250" strike="noStrike" u="none">
                <a:solidFill>
                  <a:srgbClr val="FFF4DF"/>
                </a:solidFill>
                <a:latin typeface="Arimo"/>
                <a:ea typeface="Arimo"/>
                <a:cs typeface="Arimo"/>
                <a:sym typeface="Arimo"/>
              </a:rPr>
              <a:t>Probar la guía de instalación con un propietario real y sumar la vista de reportes.</a:t>
            </a:r>
          </a:p>
        </p:txBody>
      </p:sp>
      <p:sp>
        <p:nvSpPr>
          <p:cNvPr name="TextBox 47" id="47"/>
          <p:cNvSpPr txBox="true"/>
          <p:nvPr/>
        </p:nvSpPr>
        <p:spPr>
          <a:xfrm rot="0">
            <a:off x="13668375" y="5114925"/>
            <a:ext cx="3438525" cy="1423987"/>
          </a:xfrm>
          <a:prstGeom prst="rect">
            <a:avLst/>
          </a:prstGeom>
        </p:spPr>
        <p:txBody>
          <a:bodyPr anchor="t" rtlCol="false" tIns="0" lIns="0" bIns="0" rIns="0">
            <a:spAutoFit/>
          </a:bodyPr>
          <a:lstStyle/>
          <a:p>
            <a:pPr algn="l" marL="0" indent="0" lvl="0">
              <a:lnSpc>
                <a:spcPts val="2812"/>
              </a:lnSpc>
              <a:spcBef>
                <a:spcPct val="0"/>
              </a:spcBef>
            </a:pPr>
            <a:r>
              <a:rPr lang="en-US" sz="2250" strike="noStrike" u="none">
                <a:solidFill>
                  <a:srgbClr val="FFF4DF"/>
                </a:solidFill>
                <a:latin typeface="Arimo"/>
                <a:ea typeface="Arimo"/>
                <a:cs typeface="Arimo"/>
                <a:sym typeface="Arimo"/>
              </a:rPr>
              <a:t>Desplegar con HTTPS y respaldos, y validar el modelo con entrevistas y pilotos.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2100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10F">
                <a:alpha val="47843"/>
              </a:srgbClr>
            </a:solidFill>
            <a:ln cap="sq">
              <a:noFill/>
              <a:prstDash val="solid"/>
              <a:miter/>
            </a:ln>
          </p:spPr>
        </p:sp>
        <p:sp>
          <p:nvSpPr>
            <p:cNvPr name="TextBox 4" id="4"/>
            <p:cNvSpPr txBox="true"/>
            <p:nvPr/>
          </p:nvSpPr>
          <p:spPr>
            <a:xfrm>
              <a:off x="0" y="-38100"/>
              <a:ext cx="24384000" cy="137541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152400" y="15240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a:ln cap="sq">
            <a:noFill/>
            <a:prstDash val="solid"/>
            <a:miter/>
          </a:ln>
        </p:spPr>
      </p:sp>
      <p:grpSp>
        <p:nvGrpSpPr>
          <p:cNvPr name="Group 6" id="6"/>
          <p:cNvGrpSpPr/>
          <p:nvPr/>
        </p:nvGrpSpPr>
        <p:grpSpPr>
          <a:xfrm rot="0">
            <a:off x="0" y="15240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100F">
                <a:alpha val="54902"/>
              </a:srgbClr>
            </a:solidFill>
            <a:ln cap="sq">
              <a:noFill/>
              <a:prstDash val="solid"/>
              <a:miter/>
            </a:ln>
          </p:spPr>
        </p:sp>
        <p:sp>
          <p:nvSpPr>
            <p:cNvPr name="TextBox 8" id="8"/>
            <p:cNvSpPr txBox="true"/>
            <p:nvPr/>
          </p:nvSpPr>
          <p:spPr>
            <a:xfrm>
              <a:off x="0" y="-38100"/>
              <a:ext cx="24384000" cy="13754100"/>
            </a:xfrm>
            <a:prstGeom prst="rect">
              <a:avLst/>
            </a:prstGeom>
          </p:spPr>
          <p:txBody>
            <a:bodyPr anchor="ctr" rtlCol="false" tIns="50800" lIns="50800" bIns="50800" rIns="50800"/>
            <a:lstStyle/>
            <a:p>
              <a:pPr algn="l">
                <a:lnSpc>
                  <a:spcPts val="1679"/>
                </a:lnSpc>
              </a:pPr>
              <a:r>
                <a:rPr lang="en-US" sz="1200">
                  <a:solidFill>
                    <a:srgbClr val="000000">
                      <a:alpha val="54902"/>
                    </a:srgbClr>
                  </a:solidFill>
                  <a:latin typeface="Arimo"/>
                  <a:ea typeface="Arimo"/>
                  <a:cs typeface="Arimo"/>
                  <a:sym typeface="Arimo"/>
                </a:rPr>
                <a:t>GRACIAS</a:t>
              </a:r>
            </a:p>
            <a:p>
              <a:pPr algn="l">
                <a:lnSpc>
                  <a:spcPts val="1679"/>
                </a:lnSpc>
              </a:pPr>
              <a:r>
                <a:rPr lang="en-US" sz="1200">
                  <a:solidFill>
                    <a:srgbClr val="000000">
                      <a:alpha val="54902"/>
                    </a:srgbClr>
                  </a:solidFill>
                  <a:latin typeface="Arimo"/>
                  <a:ea typeface="Arimo"/>
                  <a:cs typeface="Arimo"/>
                  <a:sym typeface="Arimo"/>
                </a:rPr>
                <a:t>GRACIAS</a:t>
              </a:r>
            </a:p>
            <a:p>
              <a:pPr algn="l">
                <a:lnSpc>
                  <a:spcPts val="1679"/>
                </a:lnSpc>
              </a:pPr>
              <a:r>
                <a:rPr lang="en-US" sz="1200">
                  <a:solidFill>
                    <a:srgbClr val="000000">
                      <a:alpha val="54902"/>
                    </a:srgbClr>
                  </a:solidFill>
                  <a:latin typeface="Arimo"/>
                  <a:ea typeface="Arimo"/>
                  <a:cs typeface="Arimo"/>
                  <a:sym typeface="Arimo"/>
                </a:rPr>
                <a:t>PREGUNTAS</a:t>
              </a:r>
            </a:p>
            <a:p>
              <a:pPr algn="l">
                <a:lnSpc>
                  <a:spcPts val="1679"/>
                </a:lnSpc>
              </a:pPr>
            </a:p>
          </p:txBody>
        </p:sp>
      </p:grpSp>
      <p:sp>
        <p:nvSpPr>
          <p:cNvPr name="TextBox 9" id="9"/>
          <p:cNvSpPr txBox="true"/>
          <p:nvPr/>
        </p:nvSpPr>
        <p:spPr>
          <a:xfrm rot="0">
            <a:off x="1524000" y="2095500"/>
            <a:ext cx="15240000" cy="2457450"/>
          </a:xfrm>
          <a:prstGeom prst="rect">
            <a:avLst/>
          </a:prstGeom>
        </p:spPr>
        <p:txBody>
          <a:bodyPr anchor="t" rtlCol="false" tIns="0" lIns="0" bIns="0" rIns="0">
            <a:spAutoFit/>
          </a:bodyPr>
          <a:lstStyle/>
          <a:p>
            <a:pPr algn="ctr">
              <a:lnSpc>
                <a:spcPts val="19950"/>
              </a:lnSpc>
            </a:pPr>
            <a:r>
              <a:rPr lang="en-US" sz="14250">
                <a:solidFill>
                  <a:srgbClr val="FFF3DF"/>
                </a:solidFill>
                <a:latin typeface="Archivo Black"/>
                <a:ea typeface="Archivo Black"/>
                <a:cs typeface="Archivo Black"/>
                <a:sym typeface="Archivo Black"/>
              </a:rPr>
              <a:t>GRACIAS</a:t>
            </a:r>
          </a:p>
        </p:txBody>
      </p:sp>
      <p:sp>
        <p:nvSpPr>
          <p:cNvPr name="TextBox 10" id="10"/>
          <p:cNvSpPr txBox="true"/>
          <p:nvPr/>
        </p:nvSpPr>
        <p:spPr>
          <a:xfrm rot="0">
            <a:off x="4381500" y="4648200"/>
            <a:ext cx="9525000" cy="889635"/>
          </a:xfrm>
          <a:prstGeom prst="rect">
            <a:avLst/>
          </a:prstGeom>
        </p:spPr>
        <p:txBody>
          <a:bodyPr anchor="t" rtlCol="false" tIns="0" lIns="0" bIns="0" rIns="0">
            <a:spAutoFit/>
          </a:bodyPr>
          <a:lstStyle/>
          <a:p>
            <a:pPr algn="ctr">
              <a:lnSpc>
                <a:spcPts val="7139"/>
              </a:lnSpc>
            </a:pPr>
            <a:r>
              <a:rPr lang="en-US" sz="5100">
                <a:solidFill>
                  <a:srgbClr val="FF5A1F"/>
                </a:solidFill>
                <a:latin typeface="Archivo Black"/>
                <a:ea typeface="Archivo Black"/>
                <a:cs typeface="Archivo Black"/>
                <a:sym typeface="Archivo Black"/>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DAHYNLIR-qc</dc:identifier>
  <dcterms:modified xsi:type="dcterms:W3CDTF">2011-08-01T06:04:30Z</dcterms:modified>
  <cp:revision>1</cp:revision>
  <dc:title>FIRE WATCH</dc:title>
</cp:coreProperties>
</file>